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f0774423db4d3f" /><Relationship Type="http://schemas.openxmlformats.org/officeDocument/2006/relationships/extended-properties" Target="/docProps/app.xml" Id="R6c70d601edb74f59" /><Relationship Type="http://schemas.openxmlformats.org/officeDocument/2006/relationships/officeDocument" Target="/ppt/presentation.xml" Id="R6cd1f4c31b614f10" /></Relationships>
</file>

<file path=ppt/presentation.xml><?xml version="1.0" encoding="utf-8"?>
<p:presentation xmlns:p="http://schemas.openxmlformats.org/presentationml/2006/main">
  <p:sldMasterIdLst>
    <p:sldMasterId xmlns:r="http://schemas.openxmlformats.org/officeDocument/2006/relationships" id="2147483648" r:id="Re9d4769bc3db42ab"/>
  </p:sldMasterIdLst>
  <p:notesMasterIdLst>
    <p:notesMasterId xmlns:r="http://schemas.openxmlformats.org/officeDocument/2006/relationships" r:id="R23c711928cfb4fc9"/>
  </p:notesMasterIdLst>
  <p:sldIdLst>
    <p:sldId xmlns:r="http://schemas.openxmlformats.org/officeDocument/2006/relationships" id="256" r:id="R9d7d2e9b230e438b"/>
    <p:sldId xmlns:r="http://schemas.openxmlformats.org/officeDocument/2006/relationships" id="257" r:id="R30ee6f09401045fb"/>
    <p:sldId xmlns:r="http://schemas.openxmlformats.org/officeDocument/2006/relationships" id="258" r:id="R4a59f228936449a3"/>
    <p:sldId xmlns:r="http://schemas.openxmlformats.org/officeDocument/2006/relationships" id="259" r:id="R1c4bcbdf573a44f8"/>
    <p:sldId xmlns:r="http://schemas.openxmlformats.org/officeDocument/2006/relationships" id="260" r:id="Rbf9b3ef4558f4989"/>
    <p:sldId xmlns:r="http://schemas.openxmlformats.org/officeDocument/2006/relationships" id="261" r:id="R89b14fd163c14243"/>
    <p:sldId xmlns:r="http://schemas.openxmlformats.org/officeDocument/2006/relationships" id="262" r:id="R6dc28d32cc98463c"/>
    <p:sldId xmlns:r="http://schemas.openxmlformats.org/officeDocument/2006/relationships" id="263" r:id="R9b35b6da71404786"/>
    <p:sldId xmlns:r="http://schemas.openxmlformats.org/officeDocument/2006/relationships" id="264" r:id="R2e1ff8044afa4c0d"/>
    <p:sldId xmlns:r="http://schemas.openxmlformats.org/officeDocument/2006/relationships" id="265" r:id="R7c53d8319da440b5"/>
    <p:sldId xmlns:r="http://schemas.openxmlformats.org/officeDocument/2006/relationships" id="266" r:id="R520ce75141944c6e"/>
    <p:sldId xmlns:r="http://schemas.openxmlformats.org/officeDocument/2006/relationships" id="267" r:id="R4cac2f213153409c"/>
    <p:sldId xmlns:r="http://schemas.openxmlformats.org/officeDocument/2006/relationships" id="268" r:id="R629d8d4bbbd34ace"/>
    <p:sldId xmlns:r="http://schemas.openxmlformats.org/officeDocument/2006/relationships" id="269" r:id="Rdae5a08bac584ec9"/>
    <p:sldId xmlns:r="http://schemas.openxmlformats.org/officeDocument/2006/relationships" id="270" r:id="R1b18643d83e64c91"/>
    <p:sldId xmlns:r="http://schemas.openxmlformats.org/officeDocument/2006/relationships" id="271" r:id="R7a292d25ec864ae3"/>
    <p:sldId xmlns:r="http://schemas.openxmlformats.org/officeDocument/2006/relationships" id="272" r:id="R5637807090f14f33"/>
    <p:sldId xmlns:r="http://schemas.openxmlformats.org/officeDocument/2006/relationships" id="273" r:id="R4d1cdc42bc2849ea"/>
    <p:sldId xmlns:r="http://schemas.openxmlformats.org/officeDocument/2006/relationships" id="274" r:id="R056cdc1c1bc54bdb"/>
    <p:sldId xmlns:r="http://schemas.openxmlformats.org/officeDocument/2006/relationships" id="275" r:id="Re8ed292e359c467d"/>
    <p:sldId xmlns:r="http://schemas.openxmlformats.org/officeDocument/2006/relationships" id="276" r:id="R06e80cbe83c742e5"/>
    <p:sldId xmlns:r="http://schemas.openxmlformats.org/officeDocument/2006/relationships" id="277" r:id="R1323fdeac1ea4c59"/>
    <p:sldId xmlns:r="http://schemas.openxmlformats.org/officeDocument/2006/relationships" id="278" r:id="Ra5a15843b6cf4d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82a131ab6e4233" /><Relationship Type="http://schemas.openxmlformats.org/officeDocument/2006/relationships/slideMaster" Target="/ppt/slideMasters/slideMaster1.xml" Id="Re9d4769bc3db42ab" /><Relationship Type="http://schemas.openxmlformats.org/officeDocument/2006/relationships/notesMaster" Target="/ppt/notesMasters/notesMaster1.xml" Id="R23c711928cfb4fc9" /><Relationship Type="http://schemas.openxmlformats.org/officeDocument/2006/relationships/presProps" Target="/ppt/presProps.xml" Id="R06b856b566f54f2a" /><Relationship Type="http://schemas.openxmlformats.org/officeDocument/2006/relationships/tableStyles" Target="/ppt/tableStyles.xml" Id="R3c6bb2ee27974480" /><Relationship Type="http://schemas.openxmlformats.org/officeDocument/2006/relationships/slide" Target="/ppt/slides/slide1.xml" Id="R9d7d2e9b230e438b" /><Relationship Type="http://schemas.openxmlformats.org/officeDocument/2006/relationships/slide" Target="/ppt/slides/slide2.xml" Id="R30ee6f09401045fb" /><Relationship Type="http://schemas.openxmlformats.org/officeDocument/2006/relationships/slide" Target="/ppt/slides/slide3.xml" Id="R4a59f228936449a3" /><Relationship Type="http://schemas.openxmlformats.org/officeDocument/2006/relationships/slide" Target="/ppt/slides/slide4.xml" Id="R1c4bcbdf573a44f8" /><Relationship Type="http://schemas.openxmlformats.org/officeDocument/2006/relationships/slide" Target="/ppt/slides/slide5.xml" Id="Rbf9b3ef4558f4989" /><Relationship Type="http://schemas.openxmlformats.org/officeDocument/2006/relationships/slide" Target="/ppt/slides/slide6.xml" Id="R89b14fd163c14243" /><Relationship Type="http://schemas.openxmlformats.org/officeDocument/2006/relationships/slide" Target="/ppt/slides/slide7.xml" Id="R6dc28d32cc98463c" /><Relationship Type="http://schemas.openxmlformats.org/officeDocument/2006/relationships/slide" Target="/ppt/slides/slide8.xml" Id="R9b35b6da71404786" /><Relationship Type="http://schemas.openxmlformats.org/officeDocument/2006/relationships/slide" Target="/ppt/slides/slide9.xml" Id="R2e1ff8044afa4c0d" /><Relationship Type="http://schemas.openxmlformats.org/officeDocument/2006/relationships/slide" Target="/ppt/slides/slide10.xml" Id="R7c53d8319da440b5" /><Relationship Type="http://schemas.openxmlformats.org/officeDocument/2006/relationships/slide" Target="/ppt/slides/slide11.xml" Id="R520ce75141944c6e" /><Relationship Type="http://schemas.openxmlformats.org/officeDocument/2006/relationships/slide" Target="/ppt/slides/slide12.xml" Id="R4cac2f213153409c" /><Relationship Type="http://schemas.openxmlformats.org/officeDocument/2006/relationships/slide" Target="/ppt/slides/slide13.xml" Id="R629d8d4bbbd34ace" /><Relationship Type="http://schemas.openxmlformats.org/officeDocument/2006/relationships/slide" Target="/ppt/slides/slide14.xml" Id="Rdae5a08bac584ec9" /><Relationship Type="http://schemas.openxmlformats.org/officeDocument/2006/relationships/slide" Target="/ppt/slides/slide15.xml" Id="R1b18643d83e64c91" /><Relationship Type="http://schemas.openxmlformats.org/officeDocument/2006/relationships/slide" Target="/ppt/slides/slide16.xml" Id="R7a292d25ec864ae3" /><Relationship Type="http://schemas.openxmlformats.org/officeDocument/2006/relationships/slide" Target="/ppt/slides/slide17.xml" Id="R5637807090f14f33" /><Relationship Type="http://schemas.openxmlformats.org/officeDocument/2006/relationships/slide" Target="/ppt/slides/slide18.xml" Id="R4d1cdc42bc2849ea" /><Relationship Type="http://schemas.openxmlformats.org/officeDocument/2006/relationships/slide" Target="/ppt/slides/slide19.xml" Id="R056cdc1c1bc54bdb" /><Relationship Type="http://schemas.openxmlformats.org/officeDocument/2006/relationships/slide" Target="/ppt/slides/slide20.xml" Id="Re8ed292e359c467d" /><Relationship Type="http://schemas.openxmlformats.org/officeDocument/2006/relationships/slide" Target="/ppt/slides/slide21.xml" Id="R06e80cbe83c742e5" /><Relationship Type="http://schemas.openxmlformats.org/officeDocument/2006/relationships/slide" Target="/ppt/slides/slide22.xml" Id="R1323fdeac1ea4c59" /><Relationship Type="http://schemas.openxmlformats.org/officeDocument/2006/relationships/slide" Target="/ppt/slides/slide23.xml" Id="Ra5a15843b6cf4d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96c946ef554d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e6f1aa4c784926" /><Relationship Type="http://schemas.openxmlformats.org/officeDocument/2006/relationships/notesMaster" Target="/ppt/notesMasters/notesMaster1.xml" Id="Re0f9eb9b91a74c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334fa8a4c64331" /><Relationship Type="http://schemas.openxmlformats.org/officeDocument/2006/relationships/notesMaster" Target="/ppt/notesMasters/notesMaster1.xml" Id="R0e6983b0d05648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1df1475b844e17" /><Relationship Type="http://schemas.openxmlformats.org/officeDocument/2006/relationships/notesMaster" Target="/ppt/notesMasters/notesMaster1.xml" Id="R3dfd82a85c4a43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c78c2a56ed4ff5" /><Relationship Type="http://schemas.openxmlformats.org/officeDocument/2006/relationships/notesMaster" Target="/ppt/notesMasters/notesMaster1.xml" Id="Rda6facd7b41042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b5c73679ce43d8" /><Relationship Type="http://schemas.openxmlformats.org/officeDocument/2006/relationships/notesMaster" Target="/ppt/notesMasters/notesMaster1.xml" Id="R32bf205d711f4a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7fe345451e494e" /><Relationship Type="http://schemas.openxmlformats.org/officeDocument/2006/relationships/notesMaster" Target="/ppt/notesMasters/notesMaster1.xml" Id="Rafac27fff1664f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07a57b56844dcd" /><Relationship Type="http://schemas.openxmlformats.org/officeDocument/2006/relationships/notesMaster" Target="/ppt/notesMasters/notesMaster1.xml" Id="Rc43705f517e44d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0069cbc73648b5" /><Relationship Type="http://schemas.openxmlformats.org/officeDocument/2006/relationships/notesMaster" Target="/ppt/notesMasters/notesMaster1.xml" Id="R26f92cf28c734e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b6c0fd0f654f2f" /><Relationship Type="http://schemas.openxmlformats.org/officeDocument/2006/relationships/notesMaster" Target="/ppt/notesMasters/notesMaster1.xml" Id="R632fd5aa449544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c90053840c4f18" /><Relationship Type="http://schemas.openxmlformats.org/officeDocument/2006/relationships/notesMaster" Target="/ppt/notesMasters/notesMaster1.xml" Id="Re9ee5a7cd71441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8d1b4530d34f1c" /><Relationship Type="http://schemas.openxmlformats.org/officeDocument/2006/relationships/notesMaster" Target="/ppt/notesMasters/notesMaster1.xml" Id="R53d83e762af14c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8ac96170094d95" /><Relationship Type="http://schemas.openxmlformats.org/officeDocument/2006/relationships/notesMaster" Target="/ppt/notesMasters/notesMaster1.xml" Id="Rb20d80685e914a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6ee8be100042c1" /><Relationship Type="http://schemas.openxmlformats.org/officeDocument/2006/relationships/notesMaster" Target="/ppt/notesMasters/notesMaster1.xml" Id="R75e8325c4fbc44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8efee6452d4158" /><Relationship Type="http://schemas.openxmlformats.org/officeDocument/2006/relationships/notesMaster" Target="/ppt/notesMasters/notesMaster1.xml" Id="Rc060b96e08fb49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4e6c3ccf384838" /><Relationship Type="http://schemas.openxmlformats.org/officeDocument/2006/relationships/notesMaster" Target="/ppt/notesMasters/notesMaster1.xml" Id="R146b36bf160a43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95ef106f304440" /><Relationship Type="http://schemas.openxmlformats.org/officeDocument/2006/relationships/notesMaster" Target="/ppt/notesMasters/notesMaster1.xml" Id="Rf1d5090acd7c46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ee6f0b9e0f4231" /><Relationship Type="http://schemas.openxmlformats.org/officeDocument/2006/relationships/notesMaster" Target="/ppt/notesMasters/notesMaster1.xml" Id="Ra54fa115a3af4a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dadf1db93a4691" /><Relationship Type="http://schemas.openxmlformats.org/officeDocument/2006/relationships/notesMaster" Target="/ppt/notesMasters/notesMaster1.xml" Id="R3427d6498c9444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eae9ed12834053" /><Relationship Type="http://schemas.openxmlformats.org/officeDocument/2006/relationships/notesMaster" Target="/ppt/notesMasters/notesMaster1.xml" Id="R8c3556d995874c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bf94efcca24bd7" /><Relationship Type="http://schemas.openxmlformats.org/officeDocument/2006/relationships/notesMaster" Target="/ppt/notesMasters/notesMaster1.xml" Id="R53a210e860aa40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7403889be34f4a" /><Relationship Type="http://schemas.openxmlformats.org/officeDocument/2006/relationships/notesMaster" Target="/ppt/notesMasters/notesMaster1.xml" Id="R9f7aba980145452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434f8b88f534659" /><Relationship Type="http://schemas.openxmlformats.org/officeDocument/2006/relationships/notesMaster" Target="/ppt/notesMasters/notesMaster1.xml" Id="Rcc906da77fe64d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716e422d4244c14" /><Relationship Type="http://schemas.openxmlformats.org/officeDocument/2006/relationships/notesMaster" Target="/ppt/notesMasters/notesMaster1.xml" Id="R78b9fa06e2f44d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FlowNova AI is a visual workflow workbench. The Vercel-native demo supports protected sessions, private Blob-backed workspace data, immutable versions, and durable workflow execution. A separate Java/Spring Boot relational runtime supports local development and an enterprise deployment direction. This presentation explains what is implemented and separates proposed capabilities from verified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 describe a process through nodes and connections, configure data, publish a version, and inspect persisted results. It serves developers, operators, and teams evaluating auditable automation. External integrations and unsupervised agents are not assumed to exist.</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workspace overview uses actual records. Screenshots come from a real authenticated session created for documentation. It does not fabricate usage trends or provider connectivity.</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XYFlow canvas supports configuration, copy/paste, undo/redo, grid snapping, layout, minimap, import/export, and server validation. Drafts use revisions. Real-time collaborative editing and autosave merging are not implemented.</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execution screenshot shows real deterministic node outputs. Inputs use field-name redaction. An optional AI adapter can be configured, but no fake model reply is presented.</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Saving a draft increments its revision. Publishing locks or conditionally updates the stored definition and copies its graph into a new immutable version. Runs refer to that snapshot. Restoring a version creates a new draft revision; it does not rewrite history.</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requested a complete hosted core on Vercel without requiring visitor backend setup. The TypeScript hosted adapter preserves the UI API contracts while the Java relational runtime remains available. This is a deliberate architecture tradeoff and needs parity tests, not hidden duplication.</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Workspace ownership scopes definitions, versions, executions, events, and audits. PostgreSQL uses foreign keys and indexes. The hosted demo stores a bounded workspace document with immutable versions and run checkpoints; it is not an unlimited relational database replacement.</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Java mode uses Spring Security sessions and CSRF. Production Java mode uses an external OIDC JWT issuer and audience. Hosted mode uses iron-session sealed cookies, public demo credentials, and browser-scoped private workspaces. Public credentials are not verified organizational identity. Clearing cookies loses access to that demo workspace.</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Vercel Workflows persists orchestration; each I/O operation is a step. Durable sleep handles delay nodes. Blob records hold node checkpoints and events, while conditional writes prevent silently lost concurrent mutations. Provider side effects remain at-least-once if a request repeats after a crash.</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Java worker uses the database as its durable queue. Compare-and-set claims assign a lease token, checkpoints persist progress, and stale leases recover with bounded attempts. Current processing is sequential per Java process; multi-worker throughput is not benchmarked.</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node contract uses kind, schemaVersion, configuration, and graph edges. Unsupported types are rejected. Graphs have one manual trigger, at most 50 nodes/100 edges, no cycles, and no ambiguous joins.</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Mapping strings beginning with $. read a path from prior node output. Other values are literals; missing paths become null. Conditions return matched and data, and downstream nodes access the original input under data. Collections inspect at most 1000 elements and return at most 100.</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OpenAI adapter uses a server key, fixed provider URL, server-configured model, JSON object mode, and input redaction by field name. JSON mode guarantees format rather than semantic correctness. No tool calls or autonomous permission discovery occur. No live provider success is assumed. Source: https://developers.openai.com/api/docs/guides/structured-outputs</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History contains actual stored runs. The current client polls persisted state; SSE and cursor-based reconnect are roadmap items.</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fabricated analytics time series is shown. The success percentage uses all retained execution records as its denominator. Hosted demo retention is bounded by explicit workspace limits.</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hosted demo is an evaluation environment on Vercel Hobby. It uses a bounded private workspace document rather than claiming enterprise throughput. Provider usage limits can stop availability. Local/relational deployment is a separate path.</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Node 22+ and JDK 21+ are prerequisites. The included Maven wrapper starts Spring Boot. H2 is the file-backed development alternative; Docker Compose targets PostgreSQL but was not locally verified while the original Docker daemon was stopped. Ports 3210/8181 avoid existing services on the inspected machine.</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controls include role checks, workspace scoping, CSRF, protected cookies, request/input/output bounds, immutable versions, revision conflicts, secret field redaction, and no arbitrary scripts or generic HTTP node. Redaction is not DLP. Production identity, shared infrastructure, retention, and security review remain work.</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hosted document store is deliberately bounded. Relational scaling requires tested PostgreSQL claims, tenant fairness, worker pools, backpressure, and shared rate/session infrastructure. Proposed load targets are test objectives, not guarantees.</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proposals include signed webhooks, schedules, encrypted credentials, approved MCP tools, A2A delegation, schema-constrained generation, human approvals, retrieval with citations, usage budgets and evaluations. MCP and A2A are not integrated in this release. Sources: https://modelcontextprotocol.io/specification/2026-07-28/architecture ; https://a2a-protocol.org/latest/specification/</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hosted site, sign in with public credentials, create a workflow, save/validate/publish, run an object input, and inspect the persisted result. Do not claim external provider connectivity unless it is actually configured and tested.</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repository is the authority for implemented behavior. architecture.md provides the system explanation; docs/PROGRESS.md records actual verification; docs/ROADMAP_2027.md separates proposals from shipped behavior. This file is editable. It was rendered and package-validated, not claimed to have been checked in PowerPoint.</a:t>
            </a:r>
          </a:p>
          <a:p xmlns:a="http://schemas.openxmlformats.org/drawingml/2006/main">
            <a:r>
              <a:t>Source: FlowNovaAI repository source, architecture.md, docs/*.md; edition 26 October 2026. Implemented behavior is distinct from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74282da60d41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4f59db40874a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6b78406e8c47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84ac2c5f784c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b198b3042246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fb128ed76648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AFB2F9-A197-4D42-A695-8AB31BA260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35F836-929C-45B4-9536-0FD1774EE9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F7B47C-D5D2-48CF-A9FB-01BA041309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8B7B7D-DBC7-4F7B-A0DC-4E4FCD9FCE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72B1E0-DF26-47AF-9583-23D21EFD98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33F710-9621-478D-966F-0A15F27D0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46D532-1B60-42CA-B254-3946CE04EE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76FA4F-75C3-4366-AFF5-4543BB3010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0839F8-283D-4954-A5CE-B1017794A6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2489DB-9F88-4EFB-94A1-E2C94D8DAB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f7fe5866c94682" /><Relationship Type="http://schemas.openxmlformats.org/officeDocument/2006/relationships/slideLayout" Target="/ppt/slideLayouts/slideLayout1.xml" Id="R1f68fe729e9242b1" /><Relationship Type="http://schemas.openxmlformats.org/officeDocument/2006/relationships/slideLayout" Target="/ppt/slideLayouts/slideLayout2.xml" Id="Rb7f95e2d98b74d13" /><Relationship Type="http://schemas.openxmlformats.org/officeDocument/2006/relationships/slideLayout" Target="/ppt/slideLayouts/slideLayout3.xml" Id="R75c9ab54edc24500" /><Relationship Type="http://schemas.openxmlformats.org/officeDocument/2006/relationships/slideLayout" Target="/ppt/slideLayouts/slideLayout4.xml" Id="R5ef76e8a17b34881" /><Relationship Type="http://schemas.openxmlformats.org/officeDocument/2006/relationships/slideLayout" Target="/ppt/slideLayouts/slideLayout5.xml" Id="Rb428d956096c476b" /><Relationship Type="http://schemas.openxmlformats.org/officeDocument/2006/relationships/slideLayout" Target="/ppt/slideLayouts/slideLayout6.xml" Id="Rd4b8ff516e2c48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68fe729e9242b1"/>
    <p:sldLayoutId xmlns:r="http://schemas.openxmlformats.org/officeDocument/2006/relationships" id="2147483650" r:id="Rb7f95e2d98b74d13"/>
    <p:sldLayoutId xmlns:r="http://schemas.openxmlformats.org/officeDocument/2006/relationships" id="2147483651" r:id="R75c9ab54edc24500"/>
    <p:sldLayoutId xmlns:r="http://schemas.openxmlformats.org/officeDocument/2006/relationships" id="2147483652" r:id="R5ef76e8a17b34881"/>
    <p:sldLayoutId xmlns:r="http://schemas.openxmlformats.org/officeDocument/2006/relationships" id="2147483653" r:id="Rb428d956096c476b"/>
    <p:sldLayoutId xmlns:r="http://schemas.openxmlformats.org/officeDocument/2006/relationships" id="2147483654" r:id="Rd4b8ff516e2c48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8fa2dcdb5f4337" /><Relationship Type="http://schemas.openxmlformats.org/officeDocument/2006/relationships/notesSlide" Target="/ppt/notesSlides/notesSlide1.xml" Id="R00ae3768ba7e47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ba6f9158854a34" /><Relationship Type="http://schemas.openxmlformats.org/officeDocument/2006/relationships/notesSlide" Target="/ppt/notesSlides/notesSlide2.xml" Id="R36575c1ef07b44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518fb2c0fa4829" /><Relationship Type="http://schemas.openxmlformats.org/officeDocument/2006/relationships/image" Target="/ppt/media/image.png" Id="Rf2555f5585cd4699" /><Relationship Type="http://schemas.openxmlformats.org/officeDocument/2006/relationships/notesSlide" Target="/ppt/notesSlides/notesSlide3.xml" Id="R2e0c2d730b1245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bdf10cef294b6e" /><Relationship Type="http://schemas.openxmlformats.org/officeDocument/2006/relationships/image" Target="/ppt/media/image2.png" Id="Rd344674a056f461d" /><Relationship Type="http://schemas.openxmlformats.org/officeDocument/2006/relationships/notesSlide" Target="/ppt/notesSlides/notesSlide4.xml" Id="Rd73cb715412847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dc6616e35a4dd1" /><Relationship Type="http://schemas.openxmlformats.org/officeDocument/2006/relationships/image" Target="/ppt/media/image3.png" Id="R80b15dca1481497d" /><Relationship Type="http://schemas.openxmlformats.org/officeDocument/2006/relationships/notesSlide" Target="/ppt/notesSlides/notesSlide5.xml" Id="R8d8df775d7524f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8a8f9d3f36442e" /><Relationship Type="http://schemas.openxmlformats.org/officeDocument/2006/relationships/notesSlide" Target="/ppt/notesSlides/notesSlide6.xml" Id="R2f1681c927984e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2478ef23184255" /><Relationship Type="http://schemas.openxmlformats.org/officeDocument/2006/relationships/notesSlide" Target="/ppt/notesSlides/notesSlide7.xml" Id="Rd5ef4271c92c4b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041517084d4397" /><Relationship Type="http://schemas.openxmlformats.org/officeDocument/2006/relationships/notesSlide" Target="/ppt/notesSlides/notesSlide8.xml" Id="Ra43bd1524b714e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3712ecaaf04e82" /><Relationship Type="http://schemas.openxmlformats.org/officeDocument/2006/relationships/notesSlide" Target="/ppt/notesSlides/notesSlide9.xml" Id="Rd433c6f790ba41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d6630036cf4a9b" /><Relationship Type="http://schemas.openxmlformats.org/officeDocument/2006/relationships/notesSlide" Target="/ppt/notesSlides/notesSlide10.xml" Id="Re5bec5650f7f47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c52338f6764621" /><Relationship Type="http://schemas.openxmlformats.org/officeDocument/2006/relationships/notesSlide" Target="/ppt/notesSlides/notesSlide11.xml" Id="R6964315198134b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d0330877bf4a82" /><Relationship Type="http://schemas.openxmlformats.org/officeDocument/2006/relationships/notesSlide" Target="/ppt/notesSlides/notesSlide12.xml" Id="Re31ab917a33a48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89aac7e6ce491e" /><Relationship Type="http://schemas.openxmlformats.org/officeDocument/2006/relationships/notesSlide" Target="/ppt/notesSlides/notesSlide13.xml" Id="R1c13b7a19b0a4d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c8f3bb3311246ab" /><Relationship Type="http://schemas.openxmlformats.org/officeDocument/2006/relationships/notesSlide" Target="/ppt/notesSlides/notesSlide14.xml" Id="Rbe5df84497814d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f74eda99024139" /><Relationship Type="http://schemas.openxmlformats.org/officeDocument/2006/relationships/image" Target="/ppt/media/image4.png" Id="Re49415b810f04ea0" /><Relationship Type="http://schemas.openxmlformats.org/officeDocument/2006/relationships/notesSlide" Target="/ppt/notesSlides/notesSlide15.xml" Id="R123e4cbeebc94c6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1d0a4d788d423a" /><Relationship Type="http://schemas.openxmlformats.org/officeDocument/2006/relationships/image" Target="/ppt/media/image5.png" Id="Rfa774f061d31415e" /><Relationship Type="http://schemas.openxmlformats.org/officeDocument/2006/relationships/notesSlide" Target="/ppt/notesSlides/notesSlide16.xml" Id="R86005870a6ca4b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ee51a263ef7461b" /><Relationship Type="http://schemas.openxmlformats.org/officeDocument/2006/relationships/notesSlide" Target="/ppt/notesSlides/notesSlide17.xml" Id="R7db5c907572249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d36c664f2d24918" /><Relationship Type="http://schemas.openxmlformats.org/officeDocument/2006/relationships/notesSlide" Target="/ppt/notesSlides/notesSlide18.xml" Id="R0c737e547600418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016558d5ebb4504" /><Relationship Type="http://schemas.openxmlformats.org/officeDocument/2006/relationships/notesSlide" Target="/ppt/notesSlides/notesSlide19.xml" Id="R2ff8bd8bd0f94b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ecfa9c59e2e434e" /><Relationship Type="http://schemas.openxmlformats.org/officeDocument/2006/relationships/notesSlide" Target="/ppt/notesSlides/notesSlide20.xml" Id="Rfabbfd9ffcd241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6c168035dfa4d34" /><Relationship Type="http://schemas.openxmlformats.org/officeDocument/2006/relationships/notesSlide" Target="/ppt/notesSlides/notesSlide21.xml" Id="R87fe42c8cb0f448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3a565644ecf42fd" /><Relationship Type="http://schemas.openxmlformats.org/officeDocument/2006/relationships/notesSlide" Target="/ppt/notesSlides/notesSlide22.xml" Id="Rd9c376908bcb4e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9934f49c74946ca" /><Relationship Type="http://schemas.openxmlformats.org/officeDocument/2006/relationships/notesSlide" Target="/ppt/notesSlides/notesSlide23.xml" Id="R6b2fe9f0919f4e95" /></Relationships>
</file>

<file path=ppt/slides/slide1.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A3A3A3-D29A-4FD9-8396-F99C76A32FEC}"/>
              </a:ext>
            </a:extLst>
          </p:cNvPr>
          <p:cNvSpPr>
            <a:spLocks xmlns:a="http://schemas.openxmlformats.org/drawingml/2006/main" noGrp="1"/>
          </p:cNvSpPr>
          <p:nvPr/>
        </p:nvSpPr>
        <p:spPr>
          <a:xfrm xmlns:a="http://schemas.openxmlformats.org/drawingml/2006/main">
            <a:off x="666750" y="1000125"/>
            <a:ext cx="523875" cy="5715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E9282F49-1398-4BD9-8D4E-07C432E00D0B}"/>
              </a:ext>
            </a:extLst>
          </p:cNvPr>
          <p:cNvSpPr>
            <a:spLocks xmlns:a="http://schemas.openxmlformats.org/drawingml/2006/main" noGrp="1"/>
          </p:cNvSpPr>
          <p:nvPr/>
        </p:nvSpPr>
        <p:spPr>
          <a:xfrm xmlns:a="http://schemas.openxmlformats.org/drawingml/2006/main">
            <a:off x="666750" y="15906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8FAFC"/>
                </a:solidFill>
                <a:latin typeface="Arial"/>
                <a:ea typeface="Arial"/>
                <a:cs typeface="Arial"/>
              </a:defRPr>
            </a:defPPr>
            <a:lvl1pPr>
              <a:defRPr sz="5700" b="1">
                <a:solidFill>
                  <a:srgbClr val="F8FAFC"/>
                </a:solidFill>
                <a:latin typeface="Arial"/>
                <a:ea typeface="Arial"/>
                <a:cs typeface="Arial"/>
              </a:defRPr>
            </a:lvl1pPr>
            <a:lvl2pPr>
              <a:defRPr sz="5700" b="1">
                <a:solidFill>
                  <a:srgbClr val="F8FAFC"/>
                </a:solidFill>
                <a:latin typeface="Arial"/>
                <a:ea typeface="Arial"/>
                <a:cs typeface="Arial"/>
              </a:defRPr>
            </a:lvl2pPr>
            <a:lvl3pPr>
              <a:defRPr sz="5700" b="1">
                <a:solidFill>
                  <a:srgbClr val="F8FAFC"/>
                </a:solidFill>
                <a:latin typeface="Arial"/>
                <a:ea typeface="Arial"/>
                <a:cs typeface="Arial"/>
              </a:defRPr>
            </a:lvl3pPr>
            <a:lvl4pPr>
              <a:defRPr sz="5700" b="1">
                <a:solidFill>
                  <a:srgbClr val="F8FAFC"/>
                </a:solidFill>
                <a:latin typeface="Arial"/>
                <a:ea typeface="Arial"/>
                <a:cs typeface="Arial"/>
              </a:defRPr>
            </a:lvl4pPr>
            <a:lvl5pPr>
              <a:defRPr sz="5700" b="1">
                <a:solidFill>
                  <a:srgbClr val="F8FAFC"/>
                </a:solidFill>
                <a:latin typeface="Arial"/>
                <a:ea typeface="Arial"/>
                <a:cs typeface="Arial"/>
              </a:defRPr>
            </a:lvl5pPr>
            <a:lvl6pPr>
              <a:defRPr sz="5700" b="1">
                <a:solidFill>
                  <a:srgbClr val="F8FAFC"/>
                </a:solidFill>
                <a:latin typeface="Arial"/>
                <a:ea typeface="Arial"/>
                <a:cs typeface="Arial"/>
              </a:defRPr>
            </a:lvl6pPr>
            <a:lvl7pPr>
              <a:defRPr sz="5700" b="1">
                <a:solidFill>
                  <a:srgbClr val="F8FAFC"/>
                </a:solidFill>
                <a:latin typeface="Arial"/>
                <a:ea typeface="Arial"/>
                <a:cs typeface="Arial"/>
              </a:defRPr>
            </a:lvl7pPr>
            <a:lvl8pPr>
              <a:defRPr sz="5700" b="1">
                <a:solidFill>
                  <a:srgbClr val="F8FAFC"/>
                </a:solidFill>
                <a:latin typeface="Arial"/>
                <a:ea typeface="Arial"/>
                <a:cs typeface="Arial"/>
              </a:defRPr>
            </a:lvl8pPr>
            <a:lvl9pPr>
              <a:defRPr sz="5700" b="1">
                <a:solidFill>
                  <a:srgbClr val="F8FAFC"/>
                </a:solidFill>
                <a:latin typeface="Arial"/>
                <a:ea typeface="Arial"/>
                <a:cs typeface="Arial"/>
              </a:defRPr>
            </a:lvl9pPr>
          </a:lstStyle>
          <a:p xmlns:a="http://schemas.openxmlformats.org/drawingml/2006/main">
            <a:pPr>
              <a:defRPr sz="5700" b="1">
                <a:solidFill>
                  <a:srgbClr val="F8FAFC"/>
                </a:solidFill>
                <a:latin typeface="Arial"/>
                <a:ea typeface="Arial"/>
                <a:cs typeface="Arial"/>
              </a:defRPr>
            </a:pPr>
            <a:r>
              <a:rPr sz="5700" b="1">
                <a:solidFill>
                  <a:srgbClr val="F8FAFC"/>
                </a:solidFill>
                <a:latin typeface="Arial"/>
                <a:ea typeface="Arial"/>
                <a:cs typeface="Arial"/>
              </a:rPr>
              <a:t>FlowNova AI</a:t>
            </a:r>
          </a:p>
        </p:txBody>
      </p:sp>
      <p:sp>
        <p:nvSpPr>
          <p:cNvPr id="3" name="">
            <a:extLst xmlns:a="http://schemas.openxmlformats.org/drawingml/2006/main">
              <a:ext uri="{FF2B5EF4-FFF2-40B4-BE49-F238E27FC236}">
                <a16:creationId xmlns:a16="http://schemas.microsoft.com/office/drawing/2014/main" id="{6A412C54-FB86-4723-BD5D-A414AB08E384}"/>
              </a:ext>
            </a:extLst>
          </p:cNvPr>
          <p:cNvSpPr>
            <a:spLocks xmlns:a="http://schemas.openxmlformats.org/drawingml/2006/main" noGrp="1"/>
          </p:cNvSpPr>
          <p:nvPr/>
        </p:nvSpPr>
        <p:spPr>
          <a:xfrm xmlns:a="http://schemas.openxmlformats.org/drawingml/2006/main">
            <a:off x="704850" y="28003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78BFA"/>
                </a:solidFill>
                <a:latin typeface="Arial"/>
                <a:ea typeface="Arial"/>
                <a:cs typeface="Arial"/>
              </a:defRPr>
            </a:defPPr>
            <a:lvl1pPr>
              <a:defRPr sz="2625" b="0">
                <a:solidFill>
                  <a:srgbClr val="A78BFA"/>
                </a:solidFill>
                <a:latin typeface="Arial"/>
                <a:ea typeface="Arial"/>
                <a:cs typeface="Arial"/>
              </a:defRPr>
            </a:lvl1pPr>
            <a:lvl2pPr>
              <a:defRPr sz="2625" b="0">
                <a:solidFill>
                  <a:srgbClr val="A78BFA"/>
                </a:solidFill>
                <a:latin typeface="Arial"/>
                <a:ea typeface="Arial"/>
                <a:cs typeface="Arial"/>
              </a:defRPr>
            </a:lvl2pPr>
            <a:lvl3pPr>
              <a:defRPr sz="2625" b="0">
                <a:solidFill>
                  <a:srgbClr val="A78BFA"/>
                </a:solidFill>
                <a:latin typeface="Arial"/>
                <a:ea typeface="Arial"/>
                <a:cs typeface="Arial"/>
              </a:defRPr>
            </a:lvl3pPr>
            <a:lvl4pPr>
              <a:defRPr sz="2625" b="0">
                <a:solidFill>
                  <a:srgbClr val="A78BFA"/>
                </a:solidFill>
                <a:latin typeface="Arial"/>
                <a:ea typeface="Arial"/>
                <a:cs typeface="Arial"/>
              </a:defRPr>
            </a:lvl4pPr>
            <a:lvl5pPr>
              <a:defRPr sz="2625" b="0">
                <a:solidFill>
                  <a:srgbClr val="A78BFA"/>
                </a:solidFill>
                <a:latin typeface="Arial"/>
                <a:ea typeface="Arial"/>
                <a:cs typeface="Arial"/>
              </a:defRPr>
            </a:lvl5pPr>
            <a:lvl6pPr>
              <a:defRPr sz="2625" b="0">
                <a:solidFill>
                  <a:srgbClr val="A78BFA"/>
                </a:solidFill>
                <a:latin typeface="Arial"/>
                <a:ea typeface="Arial"/>
                <a:cs typeface="Arial"/>
              </a:defRPr>
            </a:lvl6pPr>
            <a:lvl7pPr>
              <a:defRPr sz="2625" b="0">
                <a:solidFill>
                  <a:srgbClr val="A78BFA"/>
                </a:solidFill>
                <a:latin typeface="Arial"/>
                <a:ea typeface="Arial"/>
                <a:cs typeface="Arial"/>
              </a:defRPr>
            </a:lvl7pPr>
            <a:lvl8pPr>
              <a:defRPr sz="2625" b="0">
                <a:solidFill>
                  <a:srgbClr val="A78BFA"/>
                </a:solidFill>
                <a:latin typeface="Arial"/>
                <a:ea typeface="Arial"/>
                <a:cs typeface="Arial"/>
              </a:defRPr>
            </a:lvl8pPr>
            <a:lvl9pPr>
              <a:defRPr sz="2625" b="0">
                <a:solidFill>
                  <a:srgbClr val="A78BFA"/>
                </a:solidFill>
                <a:latin typeface="Arial"/>
                <a:ea typeface="Arial"/>
                <a:cs typeface="Arial"/>
              </a:defRPr>
            </a:lvl9pPr>
          </a:lstStyle>
          <a:p xmlns:a="http://schemas.openxmlformats.org/drawingml/2006/main">
            <a:pPr>
              <a:defRPr sz="2625" b="0">
                <a:solidFill>
                  <a:srgbClr val="A78BFA"/>
                </a:solidFill>
                <a:latin typeface="Arial"/>
                <a:ea typeface="Arial"/>
                <a:cs typeface="Arial"/>
              </a:defRPr>
            </a:pPr>
            <a:r>
              <a:rPr sz="2625" b="0">
                <a:solidFill>
                  <a:srgbClr val="A78BFA"/>
                </a:solidFill>
                <a:latin typeface="Arial"/>
                <a:ea typeface="Arial"/>
                <a:cs typeface="Arial"/>
              </a:rPr>
              <a:t>Visual workflows. Real execution.</a:t>
            </a:r>
          </a:p>
        </p:txBody>
      </p:sp>
      <p:sp>
        <p:nvSpPr>
          <p:cNvPr id="4" name="">
            <a:extLst xmlns:a="http://schemas.openxmlformats.org/drawingml/2006/main">
              <a:ext uri="{FF2B5EF4-FFF2-40B4-BE49-F238E27FC236}">
                <a16:creationId xmlns:a16="http://schemas.microsoft.com/office/drawing/2014/main" id="{29A15B9E-C2F1-4FBE-A7EE-FFDE506D1B05}"/>
              </a:ext>
            </a:extLst>
          </p:cNvPr>
          <p:cNvSpPr>
            <a:spLocks xmlns:a="http://schemas.openxmlformats.org/drawingml/2006/main" noGrp="1"/>
          </p:cNvSpPr>
          <p:nvPr/>
        </p:nvSpPr>
        <p:spPr>
          <a:xfrm xmlns:a="http://schemas.openxmlformats.org/drawingml/2006/main">
            <a:off x="714375" y="3848100"/>
            <a:ext cx="885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5AFC6"/>
                </a:solidFill>
                <a:latin typeface="Arial"/>
                <a:ea typeface="Arial"/>
                <a:cs typeface="Arial"/>
              </a:defRPr>
            </a:defPPr>
            <a:lvl1pPr>
              <a:defRPr sz="1950" b="0">
                <a:solidFill>
                  <a:srgbClr val="A5AFC6"/>
                </a:solidFill>
                <a:latin typeface="Arial"/>
                <a:ea typeface="Arial"/>
                <a:cs typeface="Arial"/>
              </a:defRPr>
            </a:lvl1pPr>
            <a:lvl2pPr>
              <a:defRPr sz="1950" b="0">
                <a:solidFill>
                  <a:srgbClr val="A5AFC6"/>
                </a:solidFill>
                <a:latin typeface="Arial"/>
                <a:ea typeface="Arial"/>
                <a:cs typeface="Arial"/>
              </a:defRPr>
            </a:lvl2pPr>
            <a:lvl3pPr>
              <a:defRPr sz="1950" b="0">
                <a:solidFill>
                  <a:srgbClr val="A5AFC6"/>
                </a:solidFill>
                <a:latin typeface="Arial"/>
                <a:ea typeface="Arial"/>
                <a:cs typeface="Arial"/>
              </a:defRPr>
            </a:lvl3pPr>
            <a:lvl4pPr>
              <a:defRPr sz="1950" b="0">
                <a:solidFill>
                  <a:srgbClr val="A5AFC6"/>
                </a:solidFill>
                <a:latin typeface="Arial"/>
                <a:ea typeface="Arial"/>
                <a:cs typeface="Arial"/>
              </a:defRPr>
            </a:lvl4pPr>
            <a:lvl5pPr>
              <a:defRPr sz="1950" b="0">
                <a:solidFill>
                  <a:srgbClr val="A5AFC6"/>
                </a:solidFill>
                <a:latin typeface="Arial"/>
                <a:ea typeface="Arial"/>
                <a:cs typeface="Arial"/>
              </a:defRPr>
            </a:lvl5pPr>
            <a:lvl6pPr>
              <a:defRPr sz="1950" b="0">
                <a:solidFill>
                  <a:srgbClr val="A5AFC6"/>
                </a:solidFill>
                <a:latin typeface="Arial"/>
                <a:ea typeface="Arial"/>
                <a:cs typeface="Arial"/>
              </a:defRPr>
            </a:lvl6pPr>
            <a:lvl7pPr>
              <a:defRPr sz="1950" b="0">
                <a:solidFill>
                  <a:srgbClr val="A5AFC6"/>
                </a:solidFill>
                <a:latin typeface="Arial"/>
                <a:ea typeface="Arial"/>
                <a:cs typeface="Arial"/>
              </a:defRPr>
            </a:lvl7pPr>
            <a:lvl8pPr>
              <a:defRPr sz="1950" b="0">
                <a:solidFill>
                  <a:srgbClr val="A5AFC6"/>
                </a:solidFill>
                <a:latin typeface="Arial"/>
                <a:ea typeface="Arial"/>
                <a:cs typeface="Arial"/>
              </a:defRPr>
            </a:lvl8pPr>
            <a:lvl9pPr>
              <a:defRPr sz="1950" b="0">
                <a:solidFill>
                  <a:srgbClr val="A5AFC6"/>
                </a:solidFill>
                <a:latin typeface="Arial"/>
                <a:ea typeface="Arial"/>
                <a:cs typeface="Arial"/>
              </a:defRPr>
            </a:lvl9pPr>
          </a:lstStyle>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Product, architecture, operation, and the path toward a scalable platform</a:t>
            </a:r>
          </a:p>
        </p:txBody>
      </p:sp>
      <p:sp>
        <p:nvSpPr>
          <p:cNvPr id="5" name="">
            <a:extLst xmlns:a="http://schemas.openxmlformats.org/drawingml/2006/main">
              <a:ext uri="{FF2B5EF4-FFF2-40B4-BE49-F238E27FC236}">
                <a16:creationId xmlns:a16="http://schemas.microsoft.com/office/drawing/2014/main" id="{18F6BB0B-994C-4779-B22E-8B75468D2718}"/>
              </a:ext>
            </a:extLst>
          </p:cNvPr>
          <p:cNvSpPr>
            <a:spLocks xmlns:a="http://schemas.openxmlformats.org/drawingml/2006/main" noGrp="1"/>
          </p:cNvSpPr>
          <p:nvPr/>
        </p:nvSpPr>
        <p:spPr>
          <a:xfrm xmlns:a="http://schemas.openxmlformats.org/drawingml/2006/main">
            <a:off x="714375" y="59531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A5AFC6"/>
                </a:solidFill>
                <a:latin typeface="Arial"/>
                <a:ea typeface="Arial"/>
                <a:cs typeface="Arial"/>
              </a:defRPr>
            </a:defPPr>
            <a:lvl1pPr>
              <a:defRPr sz="1200" b="0">
                <a:solidFill>
                  <a:srgbClr val="A5AFC6"/>
                </a:solidFill>
                <a:latin typeface="Arial"/>
                <a:ea typeface="Arial"/>
                <a:cs typeface="Arial"/>
              </a:defRPr>
            </a:lvl1pPr>
            <a:lvl2pPr>
              <a:defRPr sz="1200" b="0">
                <a:solidFill>
                  <a:srgbClr val="A5AFC6"/>
                </a:solidFill>
                <a:latin typeface="Arial"/>
                <a:ea typeface="Arial"/>
                <a:cs typeface="Arial"/>
              </a:defRPr>
            </a:lvl2pPr>
            <a:lvl3pPr>
              <a:defRPr sz="1200" b="0">
                <a:solidFill>
                  <a:srgbClr val="A5AFC6"/>
                </a:solidFill>
                <a:latin typeface="Arial"/>
                <a:ea typeface="Arial"/>
                <a:cs typeface="Arial"/>
              </a:defRPr>
            </a:lvl3pPr>
            <a:lvl4pPr>
              <a:defRPr sz="1200" b="0">
                <a:solidFill>
                  <a:srgbClr val="A5AFC6"/>
                </a:solidFill>
                <a:latin typeface="Arial"/>
                <a:ea typeface="Arial"/>
                <a:cs typeface="Arial"/>
              </a:defRPr>
            </a:lvl4pPr>
            <a:lvl5pPr>
              <a:defRPr sz="1200" b="0">
                <a:solidFill>
                  <a:srgbClr val="A5AFC6"/>
                </a:solidFill>
                <a:latin typeface="Arial"/>
                <a:ea typeface="Arial"/>
                <a:cs typeface="Arial"/>
              </a:defRPr>
            </a:lvl5pPr>
            <a:lvl6pPr>
              <a:defRPr sz="1200" b="0">
                <a:solidFill>
                  <a:srgbClr val="A5AFC6"/>
                </a:solidFill>
                <a:latin typeface="Arial"/>
                <a:ea typeface="Arial"/>
                <a:cs typeface="Arial"/>
              </a:defRPr>
            </a:lvl6pPr>
            <a:lvl7pPr>
              <a:defRPr sz="1200" b="0">
                <a:solidFill>
                  <a:srgbClr val="A5AFC6"/>
                </a:solidFill>
                <a:latin typeface="Arial"/>
                <a:ea typeface="Arial"/>
                <a:cs typeface="Arial"/>
              </a:defRPr>
            </a:lvl7pPr>
            <a:lvl8pPr>
              <a:defRPr sz="1200" b="0">
                <a:solidFill>
                  <a:srgbClr val="A5AFC6"/>
                </a:solidFill>
                <a:latin typeface="Arial"/>
                <a:ea typeface="Arial"/>
                <a:cs typeface="Arial"/>
              </a:defRPr>
            </a:lvl8pPr>
            <a:lvl9pPr>
              <a:defRPr sz="1200" b="0">
                <a:solidFill>
                  <a:srgbClr val="A5AFC6"/>
                </a:solidFill>
                <a:latin typeface="Arial"/>
                <a:ea typeface="Arial"/>
                <a:cs typeface="Arial"/>
              </a:defRPr>
            </a:lvl9pPr>
          </a:lstStyle>
          <a:p xmlns:a="http://schemas.openxmlformats.org/drawingml/2006/main">
            <a:pPr>
              <a:defRPr sz="1200" b="0">
                <a:solidFill>
                  <a:srgbClr val="A5AFC6"/>
                </a:solidFill>
                <a:latin typeface="Arial"/>
                <a:ea typeface="Arial"/>
                <a:cs typeface="Arial"/>
              </a:defRPr>
            </a:pPr>
            <a:r>
              <a:rPr sz="1200" b="0">
                <a:solidFill>
                  <a:srgbClr val="A5AFC6"/>
                </a:solidFill>
                <a:latin typeface="Arial"/>
                <a:ea typeface="Arial"/>
                <a:cs typeface="Arial"/>
              </a:rPr>
              <a:t>26 October 2026  ·  github.com/manikantbindass/FlowNovaAI</a:t>
            </a:r>
          </a:p>
        </p:txBody>
      </p:sp>
    </p:spTree>
    <p:extLst>
      <p:ext uri="{BB962C8B-B14F-4D97-AF65-F5344CB8AC3E}">
        <p14:creationId xmlns:p14="http://schemas.microsoft.com/office/powerpoint/2010/main" val="220766340"/>
      </p:ext>
    </p:extLst>
  </p:cSld>
</p:sld>
</file>

<file path=ppt/slides/slide2.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10404E-EF71-4229-BC44-2154303306D5}"/>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4B534483-CA35-4F2A-8E6B-0950C23EF902}"/>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What FlowNova does</a:t>
            </a:r>
          </a:p>
        </p:txBody>
      </p:sp>
      <p:sp>
        <p:nvSpPr>
          <p:cNvPr id="3" name="">
            <a:extLst xmlns:a="http://schemas.openxmlformats.org/drawingml/2006/main">
              <a:ext uri="{FF2B5EF4-FFF2-40B4-BE49-F238E27FC236}">
                <a16:creationId xmlns:a16="http://schemas.microsoft.com/office/drawing/2014/main" id="{EC7ED596-D289-4381-A85B-AC6CF1F6E674}"/>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89D2DB1-4B38-42A7-B7B2-8974380EC5E4}"/>
              </a:ext>
            </a:extLst>
          </p:cNvPr>
          <p:cNvSpPr>
            <a:spLocks xmlns:a="http://schemas.openxmlformats.org/drawingml/2006/main" noGrp="1"/>
          </p:cNvSpPr>
          <p:nvPr/>
        </p:nvSpPr>
        <p:spPr>
          <a:xfrm xmlns:a="http://schemas.openxmlformats.org/drawingml/2006/main">
            <a:off x="66675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5" name="">
            <a:extLst xmlns:a="http://schemas.openxmlformats.org/drawingml/2006/main">
              <a:ext uri="{FF2B5EF4-FFF2-40B4-BE49-F238E27FC236}">
                <a16:creationId xmlns:a16="http://schemas.microsoft.com/office/drawing/2014/main" id="{FC8A6C1D-82B3-474F-A795-E2D8FE61DB66}"/>
              </a:ext>
            </a:extLst>
          </p:cNvPr>
          <p:cNvSpPr>
            <a:spLocks xmlns:a="http://schemas.openxmlformats.org/drawingml/2006/main" noGrp="1"/>
          </p:cNvSpPr>
          <p:nvPr/>
        </p:nvSpPr>
        <p:spPr>
          <a:xfrm xmlns:a="http://schemas.openxmlformats.org/drawingml/2006/main">
            <a:off x="80962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Draw</a:t>
            </a:r>
          </a:p>
        </p:txBody>
      </p:sp>
      <p:sp>
        <p:nvSpPr>
          <p:cNvPr id="6" name="">
            <a:extLst xmlns:a="http://schemas.openxmlformats.org/drawingml/2006/main">
              <a:ext uri="{FF2B5EF4-FFF2-40B4-BE49-F238E27FC236}">
                <a16:creationId xmlns:a16="http://schemas.microsoft.com/office/drawing/2014/main" id="{ABAC4BAB-8B4D-485F-8D23-A83735777216}"/>
              </a:ext>
            </a:extLst>
          </p:cNvPr>
          <p:cNvSpPr>
            <a:spLocks xmlns:a="http://schemas.openxmlformats.org/drawingml/2006/main" noGrp="1"/>
          </p:cNvSpPr>
          <p:nvPr/>
        </p:nvSpPr>
        <p:spPr>
          <a:xfrm xmlns:a="http://schemas.openxmlformats.org/drawingml/2006/main">
            <a:off x="80962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Connect nodes</a:t>
            </a:r>
          </a:p>
        </p:txBody>
      </p:sp>
      <p:sp>
        <p:nvSpPr>
          <p:cNvPr id="7" name="">
            <a:extLst xmlns:a="http://schemas.openxmlformats.org/drawingml/2006/main">
              <a:ext uri="{FF2B5EF4-FFF2-40B4-BE49-F238E27FC236}">
                <a16:creationId xmlns:a16="http://schemas.microsoft.com/office/drawing/2014/main" id="{2BEFB265-EA15-4D87-BE0B-4A60140395D5}"/>
              </a:ext>
            </a:extLst>
          </p:cNvPr>
          <p:cNvSpPr>
            <a:spLocks xmlns:a="http://schemas.openxmlformats.org/drawingml/2006/main" noGrp="1"/>
          </p:cNvSpPr>
          <p:nvPr/>
        </p:nvSpPr>
        <p:spPr>
          <a:xfrm xmlns:a="http://schemas.openxmlformats.org/drawingml/2006/main">
            <a:off x="3143250" y="26003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8" name="">
            <a:extLst xmlns:a="http://schemas.openxmlformats.org/drawingml/2006/main">
              <a:ext uri="{FF2B5EF4-FFF2-40B4-BE49-F238E27FC236}">
                <a16:creationId xmlns:a16="http://schemas.microsoft.com/office/drawing/2014/main" id="{2876F279-9F04-4107-8B65-DF1FC993B803}"/>
              </a:ext>
            </a:extLst>
          </p:cNvPr>
          <p:cNvSpPr>
            <a:spLocks xmlns:a="http://schemas.openxmlformats.org/drawingml/2006/main" noGrp="1"/>
          </p:cNvSpPr>
          <p:nvPr/>
        </p:nvSpPr>
        <p:spPr>
          <a:xfrm xmlns:a="http://schemas.openxmlformats.org/drawingml/2006/main">
            <a:off x="342900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9" name="">
            <a:extLst xmlns:a="http://schemas.openxmlformats.org/drawingml/2006/main">
              <a:ext uri="{FF2B5EF4-FFF2-40B4-BE49-F238E27FC236}">
                <a16:creationId xmlns:a16="http://schemas.microsoft.com/office/drawing/2014/main" id="{B66499B9-77E8-4C84-B929-D7887CE5780E}"/>
              </a:ext>
            </a:extLst>
          </p:cNvPr>
          <p:cNvSpPr>
            <a:spLocks xmlns:a="http://schemas.openxmlformats.org/drawingml/2006/main" noGrp="1"/>
          </p:cNvSpPr>
          <p:nvPr/>
        </p:nvSpPr>
        <p:spPr>
          <a:xfrm xmlns:a="http://schemas.openxmlformats.org/drawingml/2006/main">
            <a:off x="357187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Configure</a:t>
            </a:r>
          </a:p>
        </p:txBody>
      </p:sp>
      <p:sp>
        <p:nvSpPr>
          <p:cNvPr id="10" name="">
            <a:extLst xmlns:a="http://schemas.openxmlformats.org/drawingml/2006/main">
              <a:ext uri="{FF2B5EF4-FFF2-40B4-BE49-F238E27FC236}">
                <a16:creationId xmlns:a16="http://schemas.microsoft.com/office/drawing/2014/main" id="{77151C49-32A6-4381-9FD3-C21433545981}"/>
              </a:ext>
            </a:extLst>
          </p:cNvPr>
          <p:cNvSpPr>
            <a:spLocks xmlns:a="http://schemas.openxmlformats.org/drawingml/2006/main" noGrp="1"/>
          </p:cNvSpPr>
          <p:nvPr/>
        </p:nvSpPr>
        <p:spPr>
          <a:xfrm xmlns:a="http://schemas.openxmlformats.org/drawingml/2006/main">
            <a:off x="357187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Map JSON data</a:t>
            </a:r>
          </a:p>
        </p:txBody>
      </p:sp>
      <p:sp>
        <p:nvSpPr>
          <p:cNvPr id="11" name="">
            <a:extLst xmlns:a="http://schemas.openxmlformats.org/drawingml/2006/main">
              <a:ext uri="{FF2B5EF4-FFF2-40B4-BE49-F238E27FC236}">
                <a16:creationId xmlns:a16="http://schemas.microsoft.com/office/drawing/2014/main" id="{7405899E-9D56-4AC9-BA11-22170DD5EC1B}"/>
              </a:ext>
            </a:extLst>
          </p:cNvPr>
          <p:cNvSpPr>
            <a:spLocks xmlns:a="http://schemas.openxmlformats.org/drawingml/2006/main" noGrp="1"/>
          </p:cNvSpPr>
          <p:nvPr/>
        </p:nvSpPr>
        <p:spPr>
          <a:xfrm xmlns:a="http://schemas.openxmlformats.org/drawingml/2006/main">
            <a:off x="5905500" y="26003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2" name="">
            <a:extLst xmlns:a="http://schemas.openxmlformats.org/drawingml/2006/main">
              <a:ext uri="{FF2B5EF4-FFF2-40B4-BE49-F238E27FC236}">
                <a16:creationId xmlns:a16="http://schemas.microsoft.com/office/drawing/2014/main" id="{8F2A47DF-240E-4716-AC66-69A5456C5C2F}"/>
              </a:ext>
            </a:extLst>
          </p:cNvPr>
          <p:cNvSpPr>
            <a:spLocks xmlns:a="http://schemas.openxmlformats.org/drawingml/2006/main" noGrp="1"/>
          </p:cNvSpPr>
          <p:nvPr/>
        </p:nvSpPr>
        <p:spPr>
          <a:xfrm xmlns:a="http://schemas.openxmlformats.org/drawingml/2006/main">
            <a:off x="619125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3" name="">
            <a:extLst xmlns:a="http://schemas.openxmlformats.org/drawingml/2006/main">
              <a:ext uri="{FF2B5EF4-FFF2-40B4-BE49-F238E27FC236}">
                <a16:creationId xmlns:a16="http://schemas.microsoft.com/office/drawing/2014/main" id="{BE309322-99DB-49ED-B16B-4293883443BF}"/>
              </a:ext>
            </a:extLst>
          </p:cNvPr>
          <p:cNvSpPr>
            <a:spLocks xmlns:a="http://schemas.openxmlformats.org/drawingml/2006/main" noGrp="1"/>
          </p:cNvSpPr>
          <p:nvPr/>
        </p:nvSpPr>
        <p:spPr>
          <a:xfrm xmlns:a="http://schemas.openxmlformats.org/drawingml/2006/main">
            <a:off x="633412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Publish</a:t>
            </a:r>
          </a:p>
        </p:txBody>
      </p:sp>
      <p:sp>
        <p:nvSpPr>
          <p:cNvPr id="14" name="">
            <a:extLst xmlns:a="http://schemas.openxmlformats.org/drawingml/2006/main">
              <a:ext uri="{FF2B5EF4-FFF2-40B4-BE49-F238E27FC236}">
                <a16:creationId xmlns:a16="http://schemas.microsoft.com/office/drawing/2014/main" id="{04023900-D7D4-4703-A579-08E8C9A52188}"/>
              </a:ext>
            </a:extLst>
          </p:cNvPr>
          <p:cNvSpPr>
            <a:spLocks xmlns:a="http://schemas.openxmlformats.org/drawingml/2006/main" noGrp="1"/>
          </p:cNvSpPr>
          <p:nvPr/>
        </p:nvSpPr>
        <p:spPr>
          <a:xfrm xmlns:a="http://schemas.openxmlformats.org/drawingml/2006/main">
            <a:off x="633412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Freeze a version</a:t>
            </a:r>
          </a:p>
        </p:txBody>
      </p:sp>
      <p:sp>
        <p:nvSpPr>
          <p:cNvPr id="15" name="">
            <a:extLst xmlns:a="http://schemas.openxmlformats.org/drawingml/2006/main">
              <a:ext uri="{FF2B5EF4-FFF2-40B4-BE49-F238E27FC236}">
                <a16:creationId xmlns:a16="http://schemas.microsoft.com/office/drawing/2014/main" id="{107A4D8B-72F7-4072-BD11-ECA519CE2A71}"/>
              </a:ext>
            </a:extLst>
          </p:cNvPr>
          <p:cNvSpPr>
            <a:spLocks xmlns:a="http://schemas.openxmlformats.org/drawingml/2006/main" noGrp="1"/>
          </p:cNvSpPr>
          <p:nvPr/>
        </p:nvSpPr>
        <p:spPr>
          <a:xfrm xmlns:a="http://schemas.openxmlformats.org/drawingml/2006/main">
            <a:off x="8667750" y="26003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6" name="">
            <a:extLst xmlns:a="http://schemas.openxmlformats.org/drawingml/2006/main">
              <a:ext uri="{FF2B5EF4-FFF2-40B4-BE49-F238E27FC236}">
                <a16:creationId xmlns:a16="http://schemas.microsoft.com/office/drawing/2014/main" id="{E063ACEE-A5ED-48EA-9677-8207DC0D969C}"/>
              </a:ext>
            </a:extLst>
          </p:cNvPr>
          <p:cNvSpPr>
            <a:spLocks xmlns:a="http://schemas.openxmlformats.org/drawingml/2006/main" noGrp="1"/>
          </p:cNvSpPr>
          <p:nvPr/>
        </p:nvSpPr>
        <p:spPr>
          <a:xfrm xmlns:a="http://schemas.openxmlformats.org/drawingml/2006/main">
            <a:off x="895350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7" name="">
            <a:extLst xmlns:a="http://schemas.openxmlformats.org/drawingml/2006/main">
              <a:ext uri="{FF2B5EF4-FFF2-40B4-BE49-F238E27FC236}">
                <a16:creationId xmlns:a16="http://schemas.microsoft.com/office/drawing/2014/main" id="{5E84A95D-42F0-4773-905B-F70F3280EDC8}"/>
              </a:ext>
            </a:extLst>
          </p:cNvPr>
          <p:cNvSpPr>
            <a:spLocks xmlns:a="http://schemas.openxmlformats.org/drawingml/2006/main" noGrp="1"/>
          </p:cNvSpPr>
          <p:nvPr/>
        </p:nvSpPr>
        <p:spPr>
          <a:xfrm xmlns:a="http://schemas.openxmlformats.org/drawingml/2006/main">
            <a:off x="909637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Run</a:t>
            </a:r>
          </a:p>
        </p:txBody>
      </p:sp>
      <p:sp>
        <p:nvSpPr>
          <p:cNvPr id="18" name="">
            <a:extLst xmlns:a="http://schemas.openxmlformats.org/drawingml/2006/main">
              <a:ext uri="{FF2B5EF4-FFF2-40B4-BE49-F238E27FC236}">
                <a16:creationId xmlns:a16="http://schemas.microsoft.com/office/drawing/2014/main" id="{1D99F4F7-12BF-43B4-A5CA-0BEDE3F6AA17}"/>
              </a:ext>
            </a:extLst>
          </p:cNvPr>
          <p:cNvSpPr>
            <a:spLocks xmlns:a="http://schemas.openxmlformats.org/drawingml/2006/main" noGrp="1"/>
          </p:cNvSpPr>
          <p:nvPr/>
        </p:nvSpPr>
        <p:spPr>
          <a:xfrm xmlns:a="http://schemas.openxmlformats.org/drawingml/2006/main">
            <a:off x="909637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Inspect results</a:t>
            </a:r>
          </a:p>
        </p:txBody>
      </p:sp>
      <p:sp>
        <p:nvSpPr>
          <p:cNvPr id="19" name="">
            <a:extLst xmlns:a="http://schemas.openxmlformats.org/drawingml/2006/main">
              <a:ext uri="{FF2B5EF4-FFF2-40B4-BE49-F238E27FC236}">
                <a16:creationId xmlns:a16="http://schemas.microsoft.com/office/drawing/2014/main" id="{B56590B8-87F0-433A-8C7C-C7918A149D58}"/>
              </a:ext>
            </a:extLst>
          </p:cNvPr>
          <p:cNvSpPr>
            <a:spLocks xmlns:a="http://schemas.openxmlformats.org/drawingml/2006/main" noGrp="1"/>
          </p:cNvSpPr>
          <p:nvPr/>
        </p:nvSpPr>
        <p:spPr>
          <a:xfrm xmlns:a="http://schemas.openxmlformats.org/drawingml/2006/main">
            <a:off x="685800" y="4095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A5AFC6"/>
                </a:solidFill>
                <a:latin typeface="Arial"/>
                <a:ea typeface="Arial"/>
                <a:cs typeface="Arial"/>
              </a:defRPr>
            </a:defPPr>
            <a:lvl1pPr>
              <a:defRPr sz="2325" b="0">
                <a:solidFill>
                  <a:srgbClr val="A5AFC6"/>
                </a:solidFill>
                <a:latin typeface="Arial"/>
                <a:ea typeface="Arial"/>
                <a:cs typeface="Arial"/>
              </a:defRPr>
            </a:lvl1pPr>
            <a:lvl2pPr>
              <a:defRPr sz="2325" b="0">
                <a:solidFill>
                  <a:srgbClr val="A5AFC6"/>
                </a:solidFill>
                <a:latin typeface="Arial"/>
                <a:ea typeface="Arial"/>
                <a:cs typeface="Arial"/>
              </a:defRPr>
            </a:lvl2pPr>
            <a:lvl3pPr>
              <a:defRPr sz="2325" b="0">
                <a:solidFill>
                  <a:srgbClr val="A5AFC6"/>
                </a:solidFill>
                <a:latin typeface="Arial"/>
                <a:ea typeface="Arial"/>
                <a:cs typeface="Arial"/>
              </a:defRPr>
            </a:lvl3pPr>
            <a:lvl4pPr>
              <a:defRPr sz="2325" b="0">
                <a:solidFill>
                  <a:srgbClr val="A5AFC6"/>
                </a:solidFill>
                <a:latin typeface="Arial"/>
                <a:ea typeface="Arial"/>
                <a:cs typeface="Arial"/>
              </a:defRPr>
            </a:lvl4pPr>
            <a:lvl5pPr>
              <a:defRPr sz="2325" b="0">
                <a:solidFill>
                  <a:srgbClr val="A5AFC6"/>
                </a:solidFill>
                <a:latin typeface="Arial"/>
                <a:ea typeface="Arial"/>
                <a:cs typeface="Arial"/>
              </a:defRPr>
            </a:lvl5pPr>
            <a:lvl6pPr>
              <a:defRPr sz="2325" b="0">
                <a:solidFill>
                  <a:srgbClr val="A5AFC6"/>
                </a:solidFill>
                <a:latin typeface="Arial"/>
                <a:ea typeface="Arial"/>
                <a:cs typeface="Arial"/>
              </a:defRPr>
            </a:lvl6pPr>
            <a:lvl7pPr>
              <a:defRPr sz="2325" b="0">
                <a:solidFill>
                  <a:srgbClr val="A5AFC6"/>
                </a:solidFill>
                <a:latin typeface="Arial"/>
                <a:ea typeface="Arial"/>
                <a:cs typeface="Arial"/>
              </a:defRPr>
            </a:lvl7pPr>
            <a:lvl8pPr>
              <a:defRPr sz="2325" b="0">
                <a:solidFill>
                  <a:srgbClr val="A5AFC6"/>
                </a:solidFill>
                <a:latin typeface="Arial"/>
                <a:ea typeface="Arial"/>
                <a:cs typeface="Arial"/>
              </a:defRPr>
            </a:lvl8pPr>
            <a:lvl9pPr>
              <a:defRPr sz="2325" b="0">
                <a:solidFill>
                  <a:srgbClr val="A5AFC6"/>
                </a:solidFill>
                <a:latin typeface="Arial"/>
                <a:ea typeface="Arial"/>
                <a:cs typeface="Arial"/>
              </a:defRPr>
            </a:lvl9pPr>
          </a:lstStyle>
          <a:p xmlns:a="http://schemas.openxmlformats.org/drawingml/2006/main">
            <a:pPr>
              <a:defRPr sz="2325" b="0">
                <a:solidFill>
                  <a:srgbClr val="A5AFC6"/>
                </a:solidFill>
                <a:latin typeface="Arial"/>
                <a:ea typeface="Arial"/>
                <a:cs typeface="Arial"/>
              </a:defRPr>
            </a:pPr>
            <a:r>
              <a:rPr sz="2325" b="0">
                <a:solidFill>
                  <a:srgbClr val="A5AFC6"/>
                </a:solidFill>
                <a:latin typeface="Arial"/>
                <a:ea typeface="Arial"/>
                <a:cs typeface="Arial"/>
              </a:rPr>
              <a:t>A workflow is a reviewable definition. An execution is a recorded instance of one version.</a:t>
            </a:r>
          </a:p>
        </p:txBody>
      </p:sp>
    </p:spTree>
    <p:extLst>
      <p:ext uri="{BB962C8B-B14F-4D97-AF65-F5344CB8AC3E}">
        <p14:creationId xmlns:p14="http://schemas.microsoft.com/office/powerpoint/2010/main" val="1795105099"/>
      </p:ext>
    </p:extLst>
  </p:cSld>
</p:sld>
</file>

<file path=ppt/slides/slide3.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94422E-93A3-4346-8C2E-34FCBD13FE2D}"/>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DBBE21AA-B67A-4E93-B4E8-1BB65FA0CF7A}"/>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The automation workspace</a:t>
            </a:r>
          </a:p>
        </p:txBody>
      </p:sp>
      <p:sp>
        <p:nvSpPr>
          <p:cNvPr id="3" name="">
            <a:extLst xmlns:a="http://schemas.openxmlformats.org/drawingml/2006/main">
              <a:ext uri="{FF2B5EF4-FFF2-40B4-BE49-F238E27FC236}">
                <a16:creationId xmlns:a16="http://schemas.microsoft.com/office/drawing/2014/main" id="{EECBE81E-ABAC-475E-ACC9-607C884028E5}"/>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A14D4D2-C88F-46DF-A23E-BC750C72FBFB}"/>
              </a:ext>
            </a:extLst>
          </p:cNvPr>
          <p:cNvSpPr>
            <a:spLocks xmlns:a="http://schemas.openxmlformats.org/drawingml/2006/main" noGrp="1"/>
          </p:cNvSpPr>
          <p:nvPr/>
        </p:nvSpPr>
        <p:spPr>
          <a:xfrm xmlns:a="http://schemas.openxmlformats.org/drawingml/2006/main">
            <a:off x="666750" y="1743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Workflows</a:t>
            </a:r>
          </a:p>
        </p:txBody>
      </p:sp>
      <p:sp>
        <p:nvSpPr>
          <p:cNvPr id="5" name="">
            <a:extLst xmlns:a="http://schemas.openxmlformats.org/drawingml/2006/main">
              <a:ext uri="{FF2B5EF4-FFF2-40B4-BE49-F238E27FC236}">
                <a16:creationId xmlns:a16="http://schemas.microsoft.com/office/drawing/2014/main" id="{C79B1E86-C6B4-47CD-A193-DCB0ACA3ADF6}"/>
              </a:ext>
            </a:extLst>
          </p:cNvPr>
          <p:cNvSpPr>
            <a:spLocks xmlns:a="http://schemas.openxmlformats.org/drawingml/2006/main" noGrp="1"/>
          </p:cNvSpPr>
          <p:nvPr/>
        </p:nvSpPr>
        <p:spPr>
          <a:xfrm xmlns:a="http://schemas.openxmlformats.org/drawingml/2006/main">
            <a:off x="666750" y="21526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Create a draft or start with a supported template.</a:t>
            </a:r>
          </a:p>
        </p:txBody>
      </p:sp>
      <p:sp>
        <p:nvSpPr>
          <p:cNvPr id="6" name="">
            <a:extLst xmlns:a="http://schemas.openxmlformats.org/drawingml/2006/main">
              <a:ext uri="{FF2B5EF4-FFF2-40B4-BE49-F238E27FC236}">
                <a16:creationId xmlns:a16="http://schemas.microsoft.com/office/drawing/2014/main" id="{B5FF31B4-0AAD-4C17-97BC-8F4310C6A082}"/>
              </a:ext>
            </a:extLst>
          </p:cNvPr>
          <p:cNvSpPr>
            <a:spLocks xmlns:a="http://schemas.openxmlformats.org/drawingml/2006/main" noGrp="1"/>
          </p:cNvSpPr>
          <p:nvPr/>
        </p:nvSpPr>
        <p:spPr>
          <a:xfrm xmlns:a="http://schemas.openxmlformats.org/drawingml/2006/main">
            <a:off x="666750" y="32480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Activity</a:t>
            </a:r>
          </a:p>
        </p:txBody>
      </p:sp>
      <p:sp>
        <p:nvSpPr>
          <p:cNvPr id="7" name="">
            <a:extLst xmlns:a="http://schemas.openxmlformats.org/drawingml/2006/main">
              <a:ext uri="{FF2B5EF4-FFF2-40B4-BE49-F238E27FC236}">
                <a16:creationId xmlns:a16="http://schemas.microsoft.com/office/drawing/2014/main" id="{2924BDC5-5CFF-4521-B42D-B0D0454ED5CD}"/>
              </a:ext>
            </a:extLst>
          </p:cNvPr>
          <p:cNvSpPr>
            <a:spLocks xmlns:a="http://schemas.openxmlformats.org/drawingml/2006/main" noGrp="1"/>
          </p:cNvSpPr>
          <p:nvPr/>
        </p:nvSpPr>
        <p:spPr>
          <a:xfrm xmlns:a="http://schemas.openxmlformats.org/drawingml/2006/main">
            <a:off x="666750" y="365760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Inspect recorded executions and real metrics.</a:t>
            </a:r>
          </a:p>
        </p:txBody>
      </p:sp>
      <p:sp>
        <p:nvSpPr>
          <p:cNvPr id="8" name="">
            <a:extLst xmlns:a="http://schemas.openxmlformats.org/drawingml/2006/main">
              <a:ext uri="{FF2B5EF4-FFF2-40B4-BE49-F238E27FC236}">
                <a16:creationId xmlns:a16="http://schemas.microsoft.com/office/drawing/2014/main" id="{FD7000AD-93C4-4E85-A2CF-D0639ACB3B41}"/>
              </a:ext>
            </a:extLst>
          </p:cNvPr>
          <p:cNvSpPr>
            <a:spLocks xmlns:a="http://schemas.openxmlformats.org/drawingml/2006/main" noGrp="1"/>
          </p:cNvSpPr>
          <p:nvPr/>
        </p:nvSpPr>
        <p:spPr>
          <a:xfrm xmlns:a="http://schemas.openxmlformats.org/drawingml/2006/main">
            <a:off x="666750" y="47529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Status</a:t>
            </a:r>
          </a:p>
        </p:txBody>
      </p:sp>
      <p:sp>
        <p:nvSpPr>
          <p:cNvPr id="9" name="">
            <a:extLst xmlns:a="http://schemas.openxmlformats.org/drawingml/2006/main">
              <a:ext uri="{FF2B5EF4-FFF2-40B4-BE49-F238E27FC236}">
                <a16:creationId xmlns:a16="http://schemas.microsoft.com/office/drawing/2014/main" id="{D05C9252-16A6-41E7-B043-6359755AC33C}"/>
              </a:ext>
            </a:extLst>
          </p:cNvPr>
          <p:cNvSpPr>
            <a:spLocks xmlns:a="http://schemas.openxmlformats.org/drawingml/2006/main" noGrp="1"/>
          </p:cNvSpPr>
          <p:nvPr/>
        </p:nvSpPr>
        <p:spPr>
          <a:xfrm xmlns:a="http://schemas.openxmlformats.org/drawingml/2006/main">
            <a:off x="666750" y="51625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Planned capabilities are labeled explicitly.</a:t>
            </a:r>
          </a:p>
        </p:txBody>
      </p:sp>
      <p:pic>
        <p:nvPicPr>
          <p:cNvPr id="10" name="">
            <a:extLst xmlns:a="http://schemas.openxmlformats.org/drawingml/2006/main">
              <a:ext uri="{FF2B5EF4-FFF2-40B4-BE49-F238E27FC236}">
                <a16:creationId xmlns:a16="http://schemas.microsoft.com/office/drawing/2014/main" id="{6325B027-6133-4ABD-9F56-D8D7F2E6F687}"/>
              </a:ext>
            </a:extLst>
          </p:cNvPr>
          <p:cNvPicPr>
            <a:picLocks xmlns:a="http://schemas.openxmlformats.org/drawingml/2006/main" noChangeAspect="1"/>
          </p:cNvPicPr>
          <p:nvPr/>
        </p:nvPicPr>
        <p:blipFill>
          <a:blip xmlns:r="http://schemas.openxmlformats.org/officeDocument/2006/relationships" xmlns:a="http://schemas.openxmlformats.org/drawingml/2006/main" r:embed="Rf2555f5585cd4699"/>
          <a:stretch xmlns:a="http://schemas.openxmlformats.org/drawingml/2006/main"/>
        </p:blipFill>
        <p:spPr>
          <a:xfrm xmlns:a="http://schemas.openxmlformats.org/drawingml/2006/main">
            <a:off x="4973003" y="1666875"/>
            <a:ext cx="6103620"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03990F6-9AB6-4D86-A005-6FF835DB6892}"/>
              </a:ext>
            </a:extLst>
          </p:cNvPr>
          <p:cNvSpPr>
            <a:spLocks xmlns:a="http://schemas.openxmlformats.org/drawingml/2006/main" noGrp="1"/>
          </p:cNvSpPr>
          <p:nvPr/>
        </p:nvSpPr>
        <p:spPr>
          <a:xfrm xmlns:a="http://schemas.openxmlformats.org/drawingml/2006/main">
            <a:off x="4552950" y="609600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5AFC6"/>
                </a:solidFill>
                <a:latin typeface="Arial"/>
                <a:ea typeface="Arial"/>
                <a:cs typeface="Arial"/>
              </a:defRPr>
            </a:defPPr>
            <a:lvl1pPr>
              <a:defRPr sz="975" b="0">
                <a:solidFill>
                  <a:srgbClr val="A5AFC6"/>
                </a:solidFill>
                <a:latin typeface="Arial"/>
                <a:ea typeface="Arial"/>
                <a:cs typeface="Arial"/>
              </a:defRPr>
            </a:lvl1pPr>
            <a:lvl2pPr>
              <a:defRPr sz="975" b="0">
                <a:solidFill>
                  <a:srgbClr val="A5AFC6"/>
                </a:solidFill>
                <a:latin typeface="Arial"/>
                <a:ea typeface="Arial"/>
                <a:cs typeface="Arial"/>
              </a:defRPr>
            </a:lvl2pPr>
            <a:lvl3pPr>
              <a:defRPr sz="975" b="0">
                <a:solidFill>
                  <a:srgbClr val="A5AFC6"/>
                </a:solidFill>
                <a:latin typeface="Arial"/>
                <a:ea typeface="Arial"/>
                <a:cs typeface="Arial"/>
              </a:defRPr>
            </a:lvl3pPr>
            <a:lvl4pPr>
              <a:defRPr sz="975" b="0">
                <a:solidFill>
                  <a:srgbClr val="A5AFC6"/>
                </a:solidFill>
                <a:latin typeface="Arial"/>
                <a:ea typeface="Arial"/>
                <a:cs typeface="Arial"/>
              </a:defRPr>
            </a:lvl4pPr>
            <a:lvl5pPr>
              <a:defRPr sz="975" b="0">
                <a:solidFill>
                  <a:srgbClr val="A5AFC6"/>
                </a:solidFill>
                <a:latin typeface="Arial"/>
                <a:ea typeface="Arial"/>
                <a:cs typeface="Arial"/>
              </a:defRPr>
            </a:lvl5pPr>
            <a:lvl6pPr>
              <a:defRPr sz="975" b="0">
                <a:solidFill>
                  <a:srgbClr val="A5AFC6"/>
                </a:solidFill>
                <a:latin typeface="Arial"/>
                <a:ea typeface="Arial"/>
                <a:cs typeface="Arial"/>
              </a:defRPr>
            </a:lvl6pPr>
            <a:lvl7pPr>
              <a:defRPr sz="975" b="0">
                <a:solidFill>
                  <a:srgbClr val="A5AFC6"/>
                </a:solidFill>
                <a:latin typeface="Arial"/>
                <a:ea typeface="Arial"/>
                <a:cs typeface="Arial"/>
              </a:defRPr>
            </a:lvl7pPr>
            <a:lvl8pPr>
              <a:defRPr sz="975" b="0">
                <a:solidFill>
                  <a:srgbClr val="A5AFC6"/>
                </a:solidFill>
                <a:latin typeface="Arial"/>
                <a:ea typeface="Arial"/>
                <a:cs typeface="Arial"/>
              </a:defRPr>
            </a:lvl8pPr>
            <a:lvl9pPr>
              <a:defRPr sz="975" b="0">
                <a:solidFill>
                  <a:srgbClr val="A5AFC6"/>
                </a:solidFill>
                <a:latin typeface="Arial"/>
                <a:ea typeface="Arial"/>
                <a:cs typeface="Arial"/>
              </a:defRPr>
            </a:lvl9pPr>
          </a:lstStyle>
          <a:p xmlns:a="http://schemas.openxmlformats.org/drawingml/2006/main">
            <a:pPr>
              <a:defRPr sz="975" b="0">
                <a:solidFill>
                  <a:srgbClr val="A5AFC6"/>
                </a:solidFill>
                <a:latin typeface="Arial"/>
                <a:ea typeface="Arial"/>
                <a:cs typeface="Arial"/>
              </a:defRPr>
            </a:pPr>
            <a:r>
              <a:rPr sz="975" b="0">
                <a:solidFill>
                  <a:srgbClr val="A5AFC6"/>
                </a:solidFill>
                <a:latin typeface="Arial"/>
                <a:ea typeface="Arial"/>
                <a:cs typeface="Arial"/>
              </a:rPr>
              <a:t>Actual application capture · real records and execution</a:t>
            </a:r>
          </a:p>
        </p:txBody>
      </p:sp>
    </p:spTree>
    <p:extLst>
      <p:ext uri="{BB962C8B-B14F-4D97-AF65-F5344CB8AC3E}">
        <p14:creationId xmlns:p14="http://schemas.microsoft.com/office/powerpoint/2010/main" val="525527280"/>
      </p:ext>
    </p:extLst>
  </p:cSld>
</p:sld>
</file>

<file path=ppt/slides/slide4.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308D99-6D42-4ED6-A912-A2B2ACF4974B}"/>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EAB7DAD4-EF0F-40A6-8BE5-E7BC33F2B629}"/>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A canvas you can execute</a:t>
            </a:r>
          </a:p>
        </p:txBody>
      </p:sp>
      <p:sp>
        <p:nvSpPr>
          <p:cNvPr id="3" name="">
            <a:extLst xmlns:a="http://schemas.openxmlformats.org/drawingml/2006/main">
              <a:ext uri="{FF2B5EF4-FFF2-40B4-BE49-F238E27FC236}">
                <a16:creationId xmlns:a16="http://schemas.microsoft.com/office/drawing/2014/main" id="{6F391EC5-87B0-4CDF-8627-348ECCE279E4}"/>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21D5389-E311-420F-A905-FAF164FC6B97}"/>
              </a:ext>
            </a:extLst>
          </p:cNvPr>
          <p:cNvSpPr>
            <a:spLocks xmlns:a="http://schemas.openxmlformats.org/drawingml/2006/main" noGrp="1"/>
          </p:cNvSpPr>
          <p:nvPr/>
        </p:nvSpPr>
        <p:spPr>
          <a:xfrm xmlns:a="http://schemas.openxmlformats.org/drawingml/2006/main">
            <a:off x="666750" y="1743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Build visually</a:t>
            </a:r>
          </a:p>
        </p:txBody>
      </p:sp>
      <p:sp>
        <p:nvSpPr>
          <p:cNvPr id="5" name="">
            <a:extLst xmlns:a="http://schemas.openxmlformats.org/drawingml/2006/main">
              <a:ext uri="{FF2B5EF4-FFF2-40B4-BE49-F238E27FC236}">
                <a16:creationId xmlns:a16="http://schemas.microsoft.com/office/drawing/2014/main" id="{A43C5637-6769-448C-87AE-5FAB378A6B81}"/>
              </a:ext>
            </a:extLst>
          </p:cNvPr>
          <p:cNvSpPr>
            <a:spLocks xmlns:a="http://schemas.openxmlformats.org/drawingml/2006/main" noGrp="1"/>
          </p:cNvSpPr>
          <p:nvPr/>
        </p:nvSpPr>
        <p:spPr>
          <a:xfrm xmlns:a="http://schemas.openxmlformats.org/drawingml/2006/main">
            <a:off x="666750" y="21526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Add, move, connect, and configure nodes.</a:t>
            </a:r>
          </a:p>
        </p:txBody>
      </p:sp>
      <p:sp>
        <p:nvSpPr>
          <p:cNvPr id="6" name="">
            <a:extLst xmlns:a="http://schemas.openxmlformats.org/drawingml/2006/main">
              <a:ext uri="{FF2B5EF4-FFF2-40B4-BE49-F238E27FC236}">
                <a16:creationId xmlns:a16="http://schemas.microsoft.com/office/drawing/2014/main" id="{FAF6E64E-C867-4F6B-BF62-B8921F52454D}"/>
              </a:ext>
            </a:extLst>
          </p:cNvPr>
          <p:cNvSpPr>
            <a:spLocks xmlns:a="http://schemas.openxmlformats.org/drawingml/2006/main" noGrp="1"/>
          </p:cNvSpPr>
          <p:nvPr/>
        </p:nvSpPr>
        <p:spPr>
          <a:xfrm xmlns:a="http://schemas.openxmlformats.org/drawingml/2006/main">
            <a:off x="666750" y="32480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Keep control</a:t>
            </a:r>
          </a:p>
        </p:txBody>
      </p:sp>
      <p:sp>
        <p:nvSpPr>
          <p:cNvPr id="7" name="">
            <a:extLst xmlns:a="http://schemas.openxmlformats.org/drawingml/2006/main">
              <a:ext uri="{FF2B5EF4-FFF2-40B4-BE49-F238E27FC236}">
                <a16:creationId xmlns:a16="http://schemas.microsoft.com/office/drawing/2014/main" id="{B8093315-05CC-470F-93D3-A52210FC11F3}"/>
              </a:ext>
            </a:extLst>
          </p:cNvPr>
          <p:cNvSpPr>
            <a:spLocks xmlns:a="http://schemas.openxmlformats.org/drawingml/2006/main" noGrp="1"/>
          </p:cNvSpPr>
          <p:nvPr/>
        </p:nvSpPr>
        <p:spPr>
          <a:xfrm xmlns:a="http://schemas.openxmlformats.org/drawingml/2006/main">
            <a:off x="666750" y="365760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Save explicitly, validate, undo, and export.</a:t>
            </a:r>
          </a:p>
        </p:txBody>
      </p:sp>
      <p:sp>
        <p:nvSpPr>
          <p:cNvPr id="8" name="">
            <a:extLst xmlns:a="http://schemas.openxmlformats.org/drawingml/2006/main">
              <a:ext uri="{FF2B5EF4-FFF2-40B4-BE49-F238E27FC236}">
                <a16:creationId xmlns:a16="http://schemas.microsoft.com/office/drawing/2014/main" id="{A33DF20C-3877-4F38-8965-38B640115DB2}"/>
              </a:ext>
            </a:extLst>
          </p:cNvPr>
          <p:cNvSpPr>
            <a:spLocks xmlns:a="http://schemas.openxmlformats.org/drawingml/2006/main" noGrp="1"/>
          </p:cNvSpPr>
          <p:nvPr/>
        </p:nvSpPr>
        <p:spPr>
          <a:xfrm xmlns:a="http://schemas.openxmlformats.org/drawingml/2006/main">
            <a:off x="666750" y="47529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Publish safely</a:t>
            </a:r>
          </a:p>
        </p:txBody>
      </p:sp>
      <p:sp>
        <p:nvSpPr>
          <p:cNvPr id="9" name="">
            <a:extLst xmlns:a="http://schemas.openxmlformats.org/drawingml/2006/main">
              <a:ext uri="{FF2B5EF4-FFF2-40B4-BE49-F238E27FC236}">
                <a16:creationId xmlns:a16="http://schemas.microsoft.com/office/drawing/2014/main" id="{96C3C04B-6B9E-4512-A59B-AC4E44C0BA03}"/>
              </a:ext>
            </a:extLst>
          </p:cNvPr>
          <p:cNvSpPr>
            <a:spLocks xmlns:a="http://schemas.openxmlformats.org/drawingml/2006/main" noGrp="1"/>
          </p:cNvSpPr>
          <p:nvPr/>
        </p:nvSpPr>
        <p:spPr>
          <a:xfrm xmlns:a="http://schemas.openxmlformats.org/drawingml/2006/main">
            <a:off x="666750" y="51625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Confirm a version before running it.</a:t>
            </a:r>
          </a:p>
        </p:txBody>
      </p:sp>
      <p:pic>
        <p:nvPicPr>
          <p:cNvPr id="10" name="">
            <a:extLst xmlns:a="http://schemas.openxmlformats.org/drawingml/2006/main">
              <a:ext uri="{FF2B5EF4-FFF2-40B4-BE49-F238E27FC236}">
                <a16:creationId xmlns:a16="http://schemas.microsoft.com/office/drawing/2014/main" id="{CFAE8C65-5AC2-4958-9223-12A179458F79}"/>
              </a:ext>
            </a:extLst>
          </p:cNvPr>
          <p:cNvPicPr>
            <a:picLocks xmlns:a="http://schemas.openxmlformats.org/drawingml/2006/main" noChangeAspect="1"/>
          </p:cNvPicPr>
          <p:nvPr/>
        </p:nvPicPr>
        <p:blipFill>
          <a:blip xmlns:r="http://schemas.openxmlformats.org/officeDocument/2006/relationships" xmlns:a="http://schemas.openxmlformats.org/drawingml/2006/main" r:embed="Rd344674a056f461d"/>
          <a:stretch xmlns:a="http://schemas.openxmlformats.org/drawingml/2006/main"/>
        </p:blipFill>
        <p:spPr>
          <a:xfrm xmlns:a="http://schemas.openxmlformats.org/drawingml/2006/main">
            <a:off x="4973003" y="1666875"/>
            <a:ext cx="6103620"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910D0B3-658E-4EEB-A531-85BD6F6BC521}"/>
              </a:ext>
            </a:extLst>
          </p:cNvPr>
          <p:cNvSpPr>
            <a:spLocks xmlns:a="http://schemas.openxmlformats.org/drawingml/2006/main" noGrp="1"/>
          </p:cNvSpPr>
          <p:nvPr/>
        </p:nvSpPr>
        <p:spPr>
          <a:xfrm xmlns:a="http://schemas.openxmlformats.org/drawingml/2006/main">
            <a:off x="4552950" y="609600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5AFC6"/>
                </a:solidFill>
                <a:latin typeface="Arial"/>
                <a:ea typeface="Arial"/>
                <a:cs typeface="Arial"/>
              </a:defRPr>
            </a:defPPr>
            <a:lvl1pPr>
              <a:defRPr sz="975" b="0">
                <a:solidFill>
                  <a:srgbClr val="A5AFC6"/>
                </a:solidFill>
                <a:latin typeface="Arial"/>
                <a:ea typeface="Arial"/>
                <a:cs typeface="Arial"/>
              </a:defRPr>
            </a:lvl1pPr>
            <a:lvl2pPr>
              <a:defRPr sz="975" b="0">
                <a:solidFill>
                  <a:srgbClr val="A5AFC6"/>
                </a:solidFill>
                <a:latin typeface="Arial"/>
                <a:ea typeface="Arial"/>
                <a:cs typeface="Arial"/>
              </a:defRPr>
            </a:lvl2pPr>
            <a:lvl3pPr>
              <a:defRPr sz="975" b="0">
                <a:solidFill>
                  <a:srgbClr val="A5AFC6"/>
                </a:solidFill>
                <a:latin typeface="Arial"/>
                <a:ea typeface="Arial"/>
                <a:cs typeface="Arial"/>
              </a:defRPr>
            </a:lvl3pPr>
            <a:lvl4pPr>
              <a:defRPr sz="975" b="0">
                <a:solidFill>
                  <a:srgbClr val="A5AFC6"/>
                </a:solidFill>
                <a:latin typeface="Arial"/>
                <a:ea typeface="Arial"/>
                <a:cs typeface="Arial"/>
              </a:defRPr>
            </a:lvl4pPr>
            <a:lvl5pPr>
              <a:defRPr sz="975" b="0">
                <a:solidFill>
                  <a:srgbClr val="A5AFC6"/>
                </a:solidFill>
                <a:latin typeface="Arial"/>
                <a:ea typeface="Arial"/>
                <a:cs typeface="Arial"/>
              </a:defRPr>
            </a:lvl5pPr>
            <a:lvl6pPr>
              <a:defRPr sz="975" b="0">
                <a:solidFill>
                  <a:srgbClr val="A5AFC6"/>
                </a:solidFill>
                <a:latin typeface="Arial"/>
                <a:ea typeface="Arial"/>
                <a:cs typeface="Arial"/>
              </a:defRPr>
            </a:lvl6pPr>
            <a:lvl7pPr>
              <a:defRPr sz="975" b="0">
                <a:solidFill>
                  <a:srgbClr val="A5AFC6"/>
                </a:solidFill>
                <a:latin typeface="Arial"/>
                <a:ea typeface="Arial"/>
                <a:cs typeface="Arial"/>
              </a:defRPr>
            </a:lvl7pPr>
            <a:lvl8pPr>
              <a:defRPr sz="975" b="0">
                <a:solidFill>
                  <a:srgbClr val="A5AFC6"/>
                </a:solidFill>
                <a:latin typeface="Arial"/>
                <a:ea typeface="Arial"/>
                <a:cs typeface="Arial"/>
              </a:defRPr>
            </a:lvl8pPr>
            <a:lvl9pPr>
              <a:defRPr sz="975" b="0">
                <a:solidFill>
                  <a:srgbClr val="A5AFC6"/>
                </a:solidFill>
                <a:latin typeface="Arial"/>
                <a:ea typeface="Arial"/>
                <a:cs typeface="Arial"/>
              </a:defRPr>
            </a:lvl9pPr>
          </a:lstStyle>
          <a:p xmlns:a="http://schemas.openxmlformats.org/drawingml/2006/main">
            <a:pPr>
              <a:defRPr sz="975" b="0">
                <a:solidFill>
                  <a:srgbClr val="A5AFC6"/>
                </a:solidFill>
                <a:latin typeface="Arial"/>
                <a:ea typeface="Arial"/>
                <a:cs typeface="Arial"/>
              </a:defRPr>
            </a:pPr>
            <a:r>
              <a:rPr sz="975" b="0">
                <a:solidFill>
                  <a:srgbClr val="A5AFC6"/>
                </a:solidFill>
                <a:latin typeface="Arial"/>
                <a:ea typeface="Arial"/>
                <a:cs typeface="Arial"/>
              </a:rPr>
              <a:t>Actual application capture · real records and execution</a:t>
            </a:r>
          </a:p>
        </p:txBody>
      </p:sp>
    </p:spTree>
    <p:extLst>
      <p:ext uri="{BB962C8B-B14F-4D97-AF65-F5344CB8AC3E}">
        <p14:creationId xmlns:p14="http://schemas.microsoft.com/office/powerpoint/2010/main" val="1363889481"/>
      </p:ext>
    </p:extLst>
  </p:cSld>
</p:sld>
</file>

<file path=ppt/slides/slide5.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26D68C-2EA6-4DA9-B234-7ED5660039E5}"/>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21668FB4-6386-4CAE-9D54-8135AE757138}"/>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Inspect a real completed run</a:t>
            </a:r>
          </a:p>
        </p:txBody>
      </p:sp>
      <p:sp>
        <p:nvSpPr>
          <p:cNvPr id="3" name="">
            <a:extLst xmlns:a="http://schemas.openxmlformats.org/drawingml/2006/main">
              <a:ext uri="{FF2B5EF4-FFF2-40B4-BE49-F238E27FC236}">
                <a16:creationId xmlns:a16="http://schemas.microsoft.com/office/drawing/2014/main" id="{9A84B3E5-4606-4968-A2FC-1AF3800CFEF1}"/>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048A577-82C8-4641-B0BF-973BDD1854E7}"/>
              </a:ext>
            </a:extLst>
          </p:cNvPr>
          <p:cNvSpPr>
            <a:spLocks xmlns:a="http://schemas.openxmlformats.org/drawingml/2006/main" noGrp="1"/>
          </p:cNvSpPr>
          <p:nvPr/>
        </p:nvSpPr>
        <p:spPr>
          <a:xfrm xmlns:a="http://schemas.openxmlformats.org/drawingml/2006/main">
            <a:off x="666750" y="1743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Exact version</a:t>
            </a:r>
          </a:p>
        </p:txBody>
      </p:sp>
      <p:sp>
        <p:nvSpPr>
          <p:cNvPr id="5" name="">
            <a:extLst xmlns:a="http://schemas.openxmlformats.org/drawingml/2006/main">
              <a:ext uri="{FF2B5EF4-FFF2-40B4-BE49-F238E27FC236}">
                <a16:creationId xmlns:a16="http://schemas.microsoft.com/office/drawing/2014/main" id="{7A8B0B13-FBA2-4DDB-9567-3305BD5DE520}"/>
              </a:ext>
            </a:extLst>
          </p:cNvPr>
          <p:cNvSpPr>
            <a:spLocks xmlns:a="http://schemas.openxmlformats.org/drawingml/2006/main" noGrp="1"/>
          </p:cNvSpPr>
          <p:nvPr/>
        </p:nvSpPr>
        <p:spPr>
          <a:xfrm xmlns:a="http://schemas.openxmlformats.org/drawingml/2006/main">
            <a:off x="666750" y="21526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Each run references a published snapshot.</a:t>
            </a:r>
          </a:p>
        </p:txBody>
      </p:sp>
      <p:sp>
        <p:nvSpPr>
          <p:cNvPr id="6" name="">
            <a:extLst xmlns:a="http://schemas.openxmlformats.org/drawingml/2006/main">
              <a:ext uri="{FF2B5EF4-FFF2-40B4-BE49-F238E27FC236}">
                <a16:creationId xmlns:a16="http://schemas.microsoft.com/office/drawing/2014/main" id="{809BF782-5764-4538-B902-AF2E559E828D}"/>
              </a:ext>
            </a:extLst>
          </p:cNvPr>
          <p:cNvSpPr>
            <a:spLocks xmlns:a="http://schemas.openxmlformats.org/drawingml/2006/main" noGrp="1"/>
          </p:cNvSpPr>
          <p:nvPr/>
        </p:nvSpPr>
        <p:spPr>
          <a:xfrm xmlns:a="http://schemas.openxmlformats.org/drawingml/2006/main">
            <a:off x="666750" y="32480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Node results</a:t>
            </a:r>
          </a:p>
        </p:txBody>
      </p:sp>
      <p:sp>
        <p:nvSpPr>
          <p:cNvPr id="7" name="">
            <a:extLst xmlns:a="http://schemas.openxmlformats.org/drawingml/2006/main">
              <a:ext uri="{FF2B5EF4-FFF2-40B4-BE49-F238E27FC236}">
                <a16:creationId xmlns:a16="http://schemas.microsoft.com/office/drawing/2014/main" id="{A40CCC6B-5687-4664-80EF-951131FD0761}"/>
              </a:ext>
            </a:extLst>
          </p:cNvPr>
          <p:cNvSpPr>
            <a:spLocks xmlns:a="http://schemas.openxmlformats.org/drawingml/2006/main" noGrp="1"/>
          </p:cNvSpPr>
          <p:nvPr/>
        </p:nvSpPr>
        <p:spPr>
          <a:xfrm xmlns:a="http://schemas.openxmlformats.org/drawingml/2006/main">
            <a:off x="666750" y="365760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Outputs and skipped branches are persisted.</a:t>
            </a:r>
          </a:p>
        </p:txBody>
      </p:sp>
      <p:sp>
        <p:nvSpPr>
          <p:cNvPr id="8" name="">
            <a:extLst xmlns:a="http://schemas.openxmlformats.org/drawingml/2006/main">
              <a:ext uri="{FF2B5EF4-FFF2-40B4-BE49-F238E27FC236}">
                <a16:creationId xmlns:a16="http://schemas.microsoft.com/office/drawing/2014/main" id="{423033EF-8999-477A-9C0D-51FF961ABEEF}"/>
              </a:ext>
            </a:extLst>
          </p:cNvPr>
          <p:cNvSpPr>
            <a:spLocks xmlns:a="http://schemas.openxmlformats.org/drawingml/2006/main" noGrp="1"/>
          </p:cNvSpPr>
          <p:nvPr/>
        </p:nvSpPr>
        <p:spPr>
          <a:xfrm xmlns:a="http://schemas.openxmlformats.org/drawingml/2006/main">
            <a:off x="666750" y="47529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Trace</a:t>
            </a:r>
          </a:p>
        </p:txBody>
      </p:sp>
      <p:sp>
        <p:nvSpPr>
          <p:cNvPr id="9" name="">
            <a:extLst xmlns:a="http://schemas.openxmlformats.org/drawingml/2006/main">
              <a:ext uri="{FF2B5EF4-FFF2-40B4-BE49-F238E27FC236}">
                <a16:creationId xmlns:a16="http://schemas.microsoft.com/office/drawing/2014/main" id="{C9362460-C495-42C8-8310-A3F3198389DF}"/>
              </a:ext>
            </a:extLst>
          </p:cNvPr>
          <p:cNvSpPr>
            <a:spLocks xmlns:a="http://schemas.openxmlformats.org/drawingml/2006/main" noGrp="1"/>
          </p:cNvSpPr>
          <p:nvPr/>
        </p:nvSpPr>
        <p:spPr>
          <a:xfrm xmlns:a="http://schemas.openxmlformats.org/drawingml/2006/main">
            <a:off x="666750" y="51625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Events show what happened and when.</a:t>
            </a:r>
          </a:p>
        </p:txBody>
      </p:sp>
      <p:pic>
        <p:nvPicPr>
          <p:cNvPr id="10" name="">
            <a:extLst xmlns:a="http://schemas.openxmlformats.org/drawingml/2006/main">
              <a:ext uri="{FF2B5EF4-FFF2-40B4-BE49-F238E27FC236}">
                <a16:creationId xmlns:a16="http://schemas.microsoft.com/office/drawing/2014/main" id="{0EF9AE1A-B66A-4F33-9A76-37DDED922027}"/>
              </a:ext>
            </a:extLst>
          </p:cNvPr>
          <p:cNvPicPr>
            <a:picLocks xmlns:a="http://schemas.openxmlformats.org/drawingml/2006/main" noChangeAspect="1"/>
          </p:cNvPicPr>
          <p:nvPr/>
        </p:nvPicPr>
        <p:blipFill>
          <a:blip xmlns:r="http://schemas.openxmlformats.org/officeDocument/2006/relationships" xmlns:a="http://schemas.openxmlformats.org/drawingml/2006/main" r:embed="R80b15dca1481497d"/>
          <a:stretch xmlns:a="http://schemas.openxmlformats.org/drawingml/2006/main"/>
        </p:blipFill>
        <p:spPr>
          <a:xfrm xmlns:a="http://schemas.openxmlformats.org/drawingml/2006/main">
            <a:off x="4973003" y="1666875"/>
            <a:ext cx="6103620"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CB93118-6E9E-4195-BCF6-E425031A960A}"/>
              </a:ext>
            </a:extLst>
          </p:cNvPr>
          <p:cNvSpPr>
            <a:spLocks xmlns:a="http://schemas.openxmlformats.org/drawingml/2006/main" noGrp="1"/>
          </p:cNvSpPr>
          <p:nvPr/>
        </p:nvSpPr>
        <p:spPr>
          <a:xfrm xmlns:a="http://schemas.openxmlformats.org/drawingml/2006/main">
            <a:off x="4552950" y="609600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5AFC6"/>
                </a:solidFill>
                <a:latin typeface="Arial"/>
                <a:ea typeface="Arial"/>
                <a:cs typeface="Arial"/>
              </a:defRPr>
            </a:defPPr>
            <a:lvl1pPr>
              <a:defRPr sz="975" b="0">
                <a:solidFill>
                  <a:srgbClr val="A5AFC6"/>
                </a:solidFill>
                <a:latin typeface="Arial"/>
                <a:ea typeface="Arial"/>
                <a:cs typeface="Arial"/>
              </a:defRPr>
            </a:lvl1pPr>
            <a:lvl2pPr>
              <a:defRPr sz="975" b="0">
                <a:solidFill>
                  <a:srgbClr val="A5AFC6"/>
                </a:solidFill>
                <a:latin typeface="Arial"/>
                <a:ea typeface="Arial"/>
                <a:cs typeface="Arial"/>
              </a:defRPr>
            </a:lvl2pPr>
            <a:lvl3pPr>
              <a:defRPr sz="975" b="0">
                <a:solidFill>
                  <a:srgbClr val="A5AFC6"/>
                </a:solidFill>
                <a:latin typeface="Arial"/>
                <a:ea typeface="Arial"/>
                <a:cs typeface="Arial"/>
              </a:defRPr>
            </a:lvl3pPr>
            <a:lvl4pPr>
              <a:defRPr sz="975" b="0">
                <a:solidFill>
                  <a:srgbClr val="A5AFC6"/>
                </a:solidFill>
                <a:latin typeface="Arial"/>
                <a:ea typeface="Arial"/>
                <a:cs typeface="Arial"/>
              </a:defRPr>
            </a:lvl4pPr>
            <a:lvl5pPr>
              <a:defRPr sz="975" b="0">
                <a:solidFill>
                  <a:srgbClr val="A5AFC6"/>
                </a:solidFill>
                <a:latin typeface="Arial"/>
                <a:ea typeface="Arial"/>
                <a:cs typeface="Arial"/>
              </a:defRPr>
            </a:lvl5pPr>
            <a:lvl6pPr>
              <a:defRPr sz="975" b="0">
                <a:solidFill>
                  <a:srgbClr val="A5AFC6"/>
                </a:solidFill>
                <a:latin typeface="Arial"/>
                <a:ea typeface="Arial"/>
                <a:cs typeface="Arial"/>
              </a:defRPr>
            </a:lvl6pPr>
            <a:lvl7pPr>
              <a:defRPr sz="975" b="0">
                <a:solidFill>
                  <a:srgbClr val="A5AFC6"/>
                </a:solidFill>
                <a:latin typeface="Arial"/>
                <a:ea typeface="Arial"/>
                <a:cs typeface="Arial"/>
              </a:defRPr>
            </a:lvl7pPr>
            <a:lvl8pPr>
              <a:defRPr sz="975" b="0">
                <a:solidFill>
                  <a:srgbClr val="A5AFC6"/>
                </a:solidFill>
                <a:latin typeface="Arial"/>
                <a:ea typeface="Arial"/>
                <a:cs typeface="Arial"/>
              </a:defRPr>
            </a:lvl8pPr>
            <a:lvl9pPr>
              <a:defRPr sz="975" b="0">
                <a:solidFill>
                  <a:srgbClr val="A5AFC6"/>
                </a:solidFill>
                <a:latin typeface="Arial"/>
                <a:ea typeface="Arial"/>
                <a:cs typeface="Arial"/>
              </a:defRPr>
            </a:lvl9pPr>
          </a:lstStyle>
          <a:p xmlns:a="http://schemas.openxmlformats.org/drawingml/2006/main">
            <a:pPr>
              <a:defRPr sz="975" b="0">
                <a:solidFill>
                  <a:srgbClr val="A5AFC6"/>
                </a:solidFill>
                <a:latin typeface="Arial"/>
                <a:ea typeface="Arial"/>
                <a:cs typeface="Arial"/>
              </a:defRPr>
            </a:pPr>
            <a:r>
              <a:rPr sz="975" b="0">
                <a:solidFill>
                  <a:srgbClr val="A5AFC6"/>
                </a:solidFill>
                <a:latin typeface="Arial"/>
                <a:ea typeface="Arial"/>
                <a:cs typeface="Arial"/>
              </a:rPr>
              <a:t>Actual application capture · real records and execution</a:t>
            </a:r>
          </a:p>
        </p:txBody>
      </p:sp>
    </p:spTree>
    <p:extLst>
      <p:ext uri="{BB962C8B-B14F-4D97-AF65-F5344CB8AC3E}">
        <p14:creationId xmlns:p14="http://schemas.microsoft.com/office/powerpoint/2010/main" val="913270768"/>
      </p:ext>
    </p:extLst>
  </p:cSld>
</p:sld>
</file>

<file path=ppt/slides/slide6.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700C46F-C452-4884-898A-16DECEFDA4AC}"/>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1B824E4E-881C-4F6E-B3E2-9F534A27B247}"/>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Definitions and executions stay separate</a:t>
            </a:r>
          </a:p>
        </p:txBody>
      </p:sp>
      <p:sp>
        <p:nvSpPr>
          <p:cNvPr id="3" name="">
            <a:extLst xmlns:a="http://schemas.openxmlformats.org/drawingml/2006/main">
              <a:ext uri="{FF2B5EF4-FFF2-40B4-BE49-F238E27FC236}">
                <a16:creationId xmlns:a16="http://schemas.microsoft.com/office/drawing/2014/main" id="{0F2C52DE-B308-4562-82F6-43FB33A2757E}"/>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A4EE371-B65B-4DAA-BCE0-2D3CC5E11134}"/>
              </a:ext>
            </a:extLst>
          </p:cNvPr>
          <p:cNvSpPr>
            <a:spLocks xmlns:a="http://schemas.openxmlformats.org/drawingml/2006/main" noGrp="1"/>
          </p:cNvSpPr>
          <p:nvPr/>
        </p:nvSpPr>
        <p:spPr>
          <a:xfrm xmlns:a="http://schemas.openxmlformats.org/drawingml/2006/main">
            <a:off x="666750" y="2143125"/>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5" name="">
            <a:extLst xmlns:a="http://schemas.openxmlformats.org/drawingml/2006/main">
              <a:ext uri="{FF2B5EF4-FFF2-40B4-BE49-F238E27FC236}">
                <a16:creationId xmlns:a16="http://schemas.microsoft.com/office/drawing/2014/main" id="{A8B4CA75-0D56-4DBD-87B2-20B90B2BDEBE}"/>
              </a:ext>
            </a:extLst>
          </p:cNvPr>
          <p:cNvSpPr>
            <a:spLocks xmlns:a="http://schemas.openxmlformats.org/drawingml/2006/main" noGrp="1"/>
          </p:cNvSpPr>
          <p:nvPr/>
        </p:nvSpPr>
        <p:spPr>
          <a:xfrm xmlns:a="http://schemas.openxmlformats.org/drawingml/2006/main">
            <a:off x="809625" y="2333625"/>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Draft r1</a:t>
            </a:r>
          </a:p>
        </p:txBody>
      </p:sp>
      <p:sp>
        <p:nvSpPr>
          <p:cNvPr id="6" name="">
            <a:extLst xmlns:a="http://schemas.openxmlformats.org/drawingml/2006/main">
              <a:ext uri="{FF2B5EF4-FFF2-40B4-BE49-F238E27FC236}">
                <a16:creationId xmlns:a16="http://schemas.microsoft.com/office/drawing/2014/main" id="{24681A50-86AE-42F6-8EEA-8060582790E8}"/>
              </a:ext>
            </a:extLst>
          </p:cNvPr>
          <p:cNvSpPr>
            <a:spLocks xmlns:a="http://schemas.openxmlformats.org/drawingml/2006/main" noGrp="1"/>
          </p:cNvSpPr>
          <p:nvPr/>
        </p:nvSpPr>
        <p:spPr>
          <a:xfrm xmlns:a="http://schemas.openxmlformats.org/drawingml/2006/main">
            <a:off x="809625" y="2743200"/>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Editable graph</a:t>
            </a:r>
          </a:p>
        </p:txBody>
      </p:sp>
      <p:sp>
        <p:nvSpPr>
          <p:cNvPr id="7" name="">
            <a:extLst xmlns:a="http://schemas.openxmlformats.org/drawingml/2006/main">
              <a:ext uri="{FF2B5EF4-FFF2-40B4-BE49-F238E27FC236}">
                <a16:creationId xmlns:a16="http://schemas.microsoft.com/office/drawing/2014/main" id="{64ECC00B-2035-470B-B29E-228FC1B23BF6}"/>
              </a:ext>
            </a:extLst>
          </p:cNvPr>
          <p:cNvSpPr>
            <a:spLocks xmlns:a="http://schemas.openxmlformats.org/drawingml/2006/main" noGrp="1"/>
          </p:cNvSpPr>
          <p:nvPr/>
        </p:nvSpPr>
        <p:spPr>
          <a:xfrm xmlns:a="http://schemas.openxmlformats.org/drawingml/2006/main">
            <a:off x="4064000" y="2552700"/>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8" name="">
            <a:extLst xmlns:a="http://schemas.openxmlformats.org/drawingml/2006/main">
              <a:ext uri="{FF2B5EF4-FFF2-40B4-BE49-F238E27FC236}">
                <a16:creationId xmlns:a16="http://schemas.microsoft.com/office/drawing/2014/main" id="{3EC74C5A-1970-4DFE-94CB-FA511C9691CB}"/>
              </a:ext>
            </a:extLst>
          </p:cNvPr>
          <p:cNvSpPr>
            <a:spLocks xmlns:a="http://schemas.openxmlformats.org/drawingml/2006/main" noGrp="1"/>
          </p:cNvSpPr>
          <p:nvPr/>
        </p:nvSpPr>
        <p:spPr>
          <a:xfrm xmlns:a="http://schemas.openxmlformats.org/drawingml/2006/main">
            <a:off x="4349750" y="2143125"/>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9" name="">
            <a:extLst xmlns:a="http://schemas.openxmlformats.org/drawingml/2006/main">
              <a:ext uri="{FF2B5EF4-FFF2-40B4-BE49-F238E27FC236}">
                <a16:creationId xmlns:a16="http://schemas.microsoft.com/office/drawing/2014/main" id="{B3939163-0C06-431C-B268-1E3E6AA5F230}"/>
              </a:ext>
            </a:extLst>
          </p:cNvPr>
          <p:cNvSpPr>
            <a:spLocks xmlns:a="http://schemas.openxmlformats.org/drawingml/2006/main" noGrp="1"/>
          </p:cNvSpPr>
          <p:nvPr/>
        </p:nvSpPr>
        <p:spPr>
          <a:xfrm xmlns:a="http://schemas.openxmlformats.org/drawingml/2006/main">
            <a:off x="4492625" y="2333625"/>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Version 1</a:t>
            </a:r>
          </a:p>
        </p:txBody>
      </p:sp>
      <p:sp>
        <p:nvSpPr>
          <p:cNvPr id="10" name="">
            <a:extLst xmlns:a="http://schemas.openxmlformats.org/drawingml/2006/main">
              <a:ext uri="{FF2B5EF4-FFF2-40B4-BE49-F238E27FC236}">
                <a16:creationId xmlns:a16="http://schemas.microsoft.com/office/drawing/2014/main" id="{9C612038-418E-4DE3-9A53-A87F81AB2848}"/>
              </a:ext>
            </a:extLst>
          </p:cNvPr>
          <p:cNvSpPr>
            <a:spLocks xmlns:a="http://schemas.openxmlformats.org/drawingml/2006/main" noGrp="1"/>
          </p:cNvSpPr>
          <p:nvPr/>
        </p:nvSpPr>
        <p:spPr>
          <a:xfrm xmlns:a="http://schemas.openxmlformats.org/drawingml/2006/main">
            <a:off x="4492625" y="2743200"/>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Immutable snapshot</a:t>
            </a:r>
          </a:p>
        </p:txBody>
      </p:sp>
      <p:sp>
        <p:nvSpPr>
          <p:cNvPr id="11" name="">
            <a:extLst xmlns:a="http://schemas.openxmlformats.org/drawingml/2006/main">
              <a:ext uri="{FF2B5EF4-FFF2-40B4-BE49-F238E27FC236}">
                <a16:creationId xmlns:a16="http://schemas.microsoft.com/office/drawing/2014/main" id="{3CE0D0A3-EB78-4A12-A289-68589A6534F2}"/>
              </a:ext>
            </a:extLst>
          </p:cNvPr>
          <p:cNvSpPr>
            <a:spLocks xmlns:a="http://schemas.openxmlformats.org/drawingml/2006/main" noGrp="1"/>
          </p:cNvSpPr>
          <p:nvPr/>
        </p:nvSpPr>
        <p:spPr>
          <a:xfrm xmlns:a="http://schemas.openxmlformats.org/drawingml/2006/main">
            <a:off x="7747000" y="2552700"/>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2" name="">
            <a:extLst xmlns:a="http://schemas.openxmlformats.org/drawingml/2006/main">
              <a:ext uri="{FF2B5EF4-FFF2-40B4-BE49-F238E27FC236}">
                <a16:creationId xmlns:a16="http://schemas.microsoft.com/office/drawing/2014/main" id="{824CBC39-59AE-440E-BC6F-967AAA92A7D1}"/>
              </a:ext>
            </a:extLst>
          </p:cNvPr>
          <p:cNvSpPr>
            <a:spLocks xmlns:a="http://schemas.openxmlformats.org/drawingml/2006/main" noGrp="1"/>
          </p:cNvSpPr>
          <p:nvPr/>
        </p:nvSpPr>
        <p:spPr>
          <a:xfrm xmlns:a="http://schemas.openxmlformats.org/drawingml/2006/main">
            <a:off x="8032750" y="2143125"/>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3" name="">
            <a:extLst xmlns:a="http://schemas.openxmlformats.org/drawingml/2006/main">
              <a:ext uri="{FF2B5EF4-FFF2-40B4-BE49-F238E27FC236}">
                <a16:creationId xmlns:a16="http://schemas.microsoft.com/office/drawing/2014/main" id="{807E034D-E8C3-4EE8-B471-32E4F519040E}"/>
              </a:ext>
            </a:extLst>
          </p:cNvPr>
          <p:cNvSpPr>
            <a:spLocks xmlns:a="http://schemas.openxmlformats.org/drawingml/2006/main" noGrp="1"/>
          </p:cNvSpPr>
          <p:nvPr/>
        </p:nvSpPr>
        <p:spPr>
          <a:xfrm xmlns:a="http://schemas.openxmlformats.org/drawingml/2006/main">
            <a:off x="8175625" y="2333625"/>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Run A</a:t>
            </a:r>
          </a:p>
        </p:txBody>
      </p:sp>
      <p:sp>
        <p:nvSpPr>
          <p:cNvPr id="14" name="">
            <a:extLst xmlns:a="http://schemas.openxmlformats.org/drawingml/2006/main">
              <a:ext uri="{FF2B5EF4-FFF2-40B4-BE49-F238E27FC236}">
                <a16:creationId xmlns:a16="http://schemas.microsoft.com/office/drawing/2014/main" id="{D26BBC90-C7A0-4403-A292-2F388C795F13}"/>
              </a:ext>
            </a:extLst>
          </p:cNvPr>
          <p:cNvSpPr>
            <a:spLocks xmlns:a="http://schemas.openxmlformats.org/drawingml/2006/main" noGrp="1"/>
          </p:cNvSpPr>
          <p:nvPr/>
        </p:nvSpPr>
        <p:spPr>
          <a:xfrm xmlns:a="http://schemas.openxmlformats.org/drawingml/2006/main">
            <a:off x="8175625" y="2743200"/>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Exact version reference</a:t>
            </a:r>
          </a:p>
        </p:txBody>
      </p:sp>
      <p:sp>
        <p:nvSpPr>
          <p:cNvPr id="15" name="">
            <a:extLst xmlns:a="http://schemas.openxmlformats.org/drawingml/2006/main">
              <a:ext uri="{FF2B5EF4-FFF2-40B4-BE49-F238E27FC236}">
                <a16:creationId xmlns:a16="http://schemas.microsoft.com/office/drawing/2014/main" id="{D20BD222-2AE8-4121-9C65-EE930726DF62}"/>
              </a:ext>
            </a:extLst>
          </p:cNvPr>
          <p:cNvSpPr>
            <a:spLocks xmlns:a="http://schemas.openxmlformats.org/drawingml/2006/main" noGrp="1"/>
          </p:cNvSpPr>
          <p:nvPr/>
        </p:nvSpPr>
        <p:spPr>
          <a:xfrm xmlns:a="http://schemas.openxmlformats.org/drawingml/2006/main">
            <a:off x="666750" y="3905250"/>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6" name="">
            <a:extLst xmlns:a="http://schemas.openxmlformats.org/drawingml/2006/main">
              <a:ext uri="{FF2B5EF4-FFF2-40B4-BE49-F238E27FC236}">
                <a16:creationId xmlns:a16="http://schemas.microsoft.com/office/drawing/2014/main" id="{09922D7A-290F-449F-A25E-DD2514588E64}"/>
              </a:ext>
            </a:extLst>
          </p:cNvPr>
          <p:cNvSpPr>
            <a:spLocks xmlns:a="http://schemas.openxmlformats.org/drawingml/2006/main" noGrp="1"/>
          </p:cNvSpPr>
          <p:nvPr/>
        </p:nvSpPr>
        <p:spPr>
          <a:xfrm xmlns:a="http://schemas.openxmlformats.org/drawingml/2006/main">
            <a:off x="809625" y="4095750"/>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Draft r2</a:t>
            </a:r>
          </a:p>
        </p:txBody>
      </p:sp>
      <p:sp>
        <p:nvSpPr>
          <p:cNvPr id="17" name="">
            <a:extLst xmlns:a="http://schemas.openxmlformats.org/drawingml/2006/main">
              <a:ext uri="{FF2B5EF4-FFF2-40B4-BE49-F238E27FC236}">
                <a16:creationId xmlns:a16="http://schemas.microsoft.com/office/drawing/2014/main" id="{8666CC80-AB65-40C5-A19B-C4ACFAF34EB7}"/>
              </a:ext>
            </a:extLst>
          </p:cNvPr>
          <p:cNvSpPr>
            <a:spLocks xmlns:a="http://schemas.openxmlformats.org/drawingml/2006/main" noGrp="1"/>
          </p:cNvSpPr>
          <p:nvPr/>
        </p:nvSpPr>
        <p:spPr>
          <a:xfrm xmlns:a="http://schemas.openxmlformats.org/drawingml/2006/main">
            <a:off x="809625" y="4505325"/>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Later edits</a:t>
            </a:r>
          </a:p>
        </p:txBody>
      </p:sp>
      <p:sp>
        <p:nvSpPr>
          <p:cNvPr id="18" name="">
            <a:extLst xmlns:a="http://schemas.openxmlformats.org/drawingml/2006/main">
              <a:ext uri="{FF2B5EF4-FFF2-40B4-BE49-F238E27FC236}">
                <a16:creationId xmlns:a16="http://schemas.microsoft.com/office/drawing/2014/main" id="{79EDBA23-14C6-4423-B9E0-B069410EEAB4}"/>
              </a:ext>
            </a:extLst>
          </p:cNvPr>
          <p:cNvSpPr>
            <a:spLocks xmlns:a="http://schemas.openxmlformats.org/drawingml/2006/main" noGrp="1"/>
          </p:cNvSpPr>
          <p:nvPr/>
        </p:nvSpPr>
        <p:spPr>
          <a:xfrm xmlns:a="http://schemas.openxmlformats.org/drawingml/2006/main">
            <a:off x="4064000" y="43148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9" name="">
            <a:extLst xmlns:a="http://schemas.openxmlformats.org/drawingml/2006/main">
              <a:ext uri="{FF2B5EF4-FFF2-40B4-BE49-F238E27FC236}">
                <a16:creationId xmlns:a16="http://schemas.microsoft.com/office/drawing/2014/main" id="{A587FAED-25A2-4C9D-BBB2-15374D172F02}"/>
              </a:ext>
            </a:extLst>
          </p:cNvPr>
          <p:cNvSpPr>
            <a:spLocks xmlns:a="http://schemas.openxmlformats.org/drawingml/2006/main" noGrp="1"/>
          </p:cNvSpPr>
          <p:nvPr/>
        </p:nvSpPr>
        <p:spPr>
          <a:xfrm xmlns:a="http://schemas.openxmlformats.org/drawingml/2006/main">
            <a:off x="4349750" y="3905250"/>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20" name="">
            <a:extLst xmlns:a="http://schemas.openxmlformats.org/drawingml/2006/main">
              <a:ext uri="{FF2B5EF4-FFF2-40B4-BE49-F238E27FC236}">
                <a16:creationId xmlns:a16="http://schemas.microsoft.com/office/drawing/2014/main" id="{7672242D-29B1-45AA-B69C-24D7D018E4E3}"/>
              </a:ext>
            </a:extLst>
          </p:cNvPr>
          <p:cNvSpPr>
            <a:spLocks xmlns:a="http://schemas.openxmlformats.org/drawingml/2006/main" noGrp="1"/>
          </p:cNvSpPr>
          <p:nvPr/>
        </p:nvSpPr>
        <p:spPr>
          <a:xfrm xmlns:a="http://schemas.openxmlformats.org/drawingml/2006/main">
            <a:off x="4492625" y="4095750"/>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Version 2</a:t>
            </a:r>
          </a:p>
        </p:txBody>
      </p:sp>
      <p:sp>
        <p:nvSpPr>
          <p:cNvPr id="21" name="">
            <a:extLst xmlns:a="http://schemas.openxmlformats.org/drawingml/2006/main">
              <a:ext uri="{FF2B5EF4-FFF2-40B4-BE49-F238E27FC236}">
                <a16:creationId xmlns:a16="http://schemas.microsoft.com/office/drawing/2014/main" id="{FBEC7456-855E-4D15-A552-24B0C730EA0E}"/>
              </a:ext>
            </a:extLst>
          </p:cNvPr>
          <p:cNvSpPr>
            <a:spLocks xmlns:a="http://schemas.openxmlformats.org/drawingml/2006/main" noGrp="1"/>
          </p:cNvSpPr>
          <p:nvPr/>
        </p:nvSpPr>
        <p:spPr>
          <a:xfrm xmlns:a="http://schemas.openxmlformats.org/drawingml/2006/main">
            <a:off x="4492625" y="4505325"/>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Explicit new publish</a:t>
            </a:r>
          </a:p>
        </p:txBody>
      </p:sp>
      <p:sp>
        <p:nvSpPr>
          <p:cNvPr id="22" name="">
            <a:extLst xmlns:a="http://schemas.openxmlformats.org/drawingml/2006/main">
              <a:ext uri="{FF2B5EF4-FFF2-40B4-BE49-F238E27FC236}">
                <a16:creationId xmlns:a16="http://schemas.microsoft.com/office/drawing/2014/main" id="{550BD0E3-E4B1-4B32-8CD9-4CEE3007B29C}"/>
              </a:ext>
            </a:extLst>
          </p:cNvPr>
          <p:cNvSpPr>
            <a:spLocks xmlns:a="http://schemas.openxmlformats.org/drawingml/2006/main" noGrp="1"/>
          </p:cNvSpPr>
          <p:nvPr/>
        </p:nvSpPr>
        <p:spPr>
          <a:xfrm xmlns:a="http://schemas.openxmlformats.org/drawingml/2006/main">
            <a:off x="7747000" y="43148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23" name="">
            <a:extLst xmlns:a="http://schemas.openxmlformats.org/drawingml/2006/main">
              <a:ext uri="{FF2B5EF4-FFF2-40B4-BE49-F238E27FC236}">
                <a16:creationId xmlns:a16="http://schemas.microsoft.com/office/drawing/2014/main" id="{99918A29-A579-4022-B78A-DD9ABD1009A3}"/>
              </a:ext>
            </a:extLst>
          </p:cNvPr>
          <p:cNvSpPr>
            <a:spLocks xmlns:a="http://schemas.openxmlformats.org/drawingml/2006/main" noGrp="1"/>
          </p:cNvSpPr>
          <p:nvPr/>
        </p:nvSpPr>
        <p:spPr>
          <a:xfrm xmlns:a="http://schemas.openxmlformats.org/drawingml/2006/main">
            <a:off x="8032750" y="3905250"/>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24" name="">
            <a:extLst xmlns:a="http://schemas.openxmlformats.org/drawingml/2006/main">
              <a:ext uri="{FF2B5EF4-FFF2-40B4-BE49-F238E27FC236}">
                <a16:creationId xmlns:a16="http://schemas.microsoft.com/office/drawing/2014/main" id="{7B502CEA-89F3-4014-B800-7BAAE0A983D7}"/>
              </a:ext>
            </a:extLst>
          </p:cNvPr>
          <p:cNvSpPr>
            <a:spLocks xmlns:a="http://schemas.openxmlformats.org/drawingml/2006/main" noGrp="1"/>
          </p:cNvSpPr>
          <p:nvPr/>
        </p:nvSpPr>
        <p:spPr>
          <a:xfrm xmlns:a="http://schemas.openxmlformats.org/drawingml/2006/main">
            <a:off x="8175625" y="4095750"/>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Run B</a:t>
            </a:r>
          </a:p>
        </p:txBody>
      </p:sp>
      <p:sp>
        <p:nvSpPr>
          <p:cNvPr id="25" name="">
            <a:extLst xmlns:a="http://schemas.openxmlformats.org/drawingml/2006/main">
              <a:ext uri="{FF2B5EF4-FFF2-40B4-BE49-F238E27FC236}">
                <a16:creationId xmlns:a16="http://schemas.microsoft.com/office/drawing/2014/main" id="{14776574-143F-4CF2-8D43-705444801ACA}"/>
              </a:ext>
            </a:extLst>
          </p:cNvPr>
          <p:cNvSpPr>
            <a:spLocks xmlns:a="http://schemas.openxmlformats.org/drawingml/2006/main" noGrp="1"/>
          </p:cNvSpPr>
          <p:nvPr/>
        </p:nvSpPr>
        <p:spPr>
          <a:xfrm xmlns:a="http://schemas.openxmlformats.org/drawingml/2006/main">
            <a:off x="8175625" y="4505325"/>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Independent history</a:t>
            </a:r>
          </a:p>
        </p:txBody>
      </p:sp>
    </p:spTree>
    <p:extLst>
      <p:ext uri="{BB962C8B-B14F-4D97-AF65-F5344CB8AC3E}">
        <p14:creationId xmlns:p14="http://schemas.microsoft.com/office/powerpoint/2010/main" val="1731897087"/>
      </p:ext>
    </p:extLst>
  </p:cSld>
</p:sld>
</file>

<file path=ppt/slides/slide7.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A68D0AC-59AA-449B-8D0C-DA3ADC277234}"/>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47811E65-D4AF-4EC0-A8AB-CA0819596F28}"/>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Two deployment paths, one product contract</a:t>
            </a:r>
          </a:p>
        </p:txBody>
      </p:sp>
      <p:sp>
        <p:nvSpPr>
          <p:cNvPr id="3" name="">
            <a:extLst xmlns:a="http://schemas.openxmlformats.org/drawingml/2006/main">
              <a:ext uri="{FF2B5EF4-FFF2-40B4-BE49-F238E27FC236}">
                <a16:creationId xmlns:a16="http://schemas.microsoft.com/office/drawing/2014/main" id="{2390A8B0-6765-4F5F-9C4B-D099A89EE38C}"/>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1F047FF1-B801-43CD-9285-741AF640C10B}"/>
              </a:ext>
            </a:extLst>
          </p:cNvPr>
          <p:cNvSpPr>
            <a:spLocks xmlns:a="http://schemas.openxmlformats.org/drawingml/2006/main" noGrp="1"/>
          </p:cNvSpPr>
          <p:nvPr/>
        </p:nvSpPr>
        <p:spPr>
          <a:xfrm xmlns:a="http://schemas.openxmlformats.org/drawingml/2006/main">
            <a:off x="666750" y="2047875"/>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5" name="">
            <a:extLst xmlns:a="http://schemas.openxmlformats.org/drawingml/2006/main">
              <a:ext uri="{FF2B5EF4-FFF2-40B4-BE49-F238E27FC236}">
                <a16:creationId xmlns:a16="http://schemas.microsoft.com/office/drawing/2014/main" id="{F40D6B68-522C-4CFF-ABA4-CD90CB5EDC37}"/>
              </a:ext>
            </a:extLst>
          </p:cNvPr>
          <p:cNvSpPr>
            <a:spLocks xmlns:a="http://schemas.openxmlformats.org/drawingml/2006/main" noGrp="1"/>
          </p:cNvSpPr>
          <p:nvPr/>
        </p:nvSpPr>
        <p:spPr>
          <a:xfrm xmlns:a="http://schemas.openxmlformats.org/drawingml/2006/main">
            <a:off x="809625" y="2238375"/>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Next.js UI</a:t>
            </a:r>
          </a:p>
        </p:txBody>
      </p:sp>
      <p:sp>
        <p:nvSpPr>
          <p:cNvPr id="6" name="">
            <a:extLst xmlns:a="http://schemas.openxmlformats.org/drawingml/2006/main">
              <a:ext uri="{FF2B5EF4-FFF2-40B4-BE49-F238E27FC236}">
                <a16:creationId xmlns:a16="http://schemas.microsoft.com/office/drawing/2014/main" id="{C6301C38-CCAE-4D98-B5B6-6B24BD83D6DF}"/>
              </a:ext>
            </a:extLst>
          </p:cNvPr>
          <p:cNvSpPr>
            <a:spLocks xmlns:a="http://schemas.openxmlformats.org/drawingml/2006/main" noGrp="1"/>
          </p:cNvSpPr>
          <p:nvPr/>
        </p:nvSpPr>
        <p:spPr>
          <a:xfrm xmlns:a="http://schemas.openxmlformats.org/drawingml/2006/main">
            <a:off x="809625" y="2647950"/>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Visual editor</a:t>
            </a:r>
          </a:p>
        </p:txBody>
      </p:sp>
      <p:sp>
        <p:nvSpPr>
          <p:cNvPr id="7" name="">
            <a:extLst xmlns:a="http://schemas.openxmlformats.org/drawingml/2006/main">
              <a:ext uri="{FF2B5EF4-FFF2-40B4-BE49-F238E27FC236}">
                <a16:creationId xmlns:a16="http://schemas.microsoft.com/office/drawing/2014/main" id="{21DD3FAD-3811-4CF1-B36E-40C3B4BA8977}"/>
              </a:ext>
            </a:extLst>
          </p:cNvPr>
          <p:cNvSpPr>
            <a:spLocks xmlns:a="http://schemas.openxmlformats.org/drawingml/2006/main" noGrp="1"/>
          </p:cNvSpPr>
          <p:nvPr/>
        </p:nvSpPr>
        <p:spPr>
          <a:xfrm xmlns:a="http://schemas.openxmlformats.org/drawingml/2006/main">
            <a:off x="4064000" y="2457450"/>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8" name="">
            <a:extLst xmlns:a="http://schemas.openxmlformats.org/drawingml/2006/main">
              <a:ext uri="{FF2B5EF4-FFF2-40B4-BE49-F238E27FC236}">
                <a16:creationId xmlns:a16="http://schemas.microsoft.com/office/drawing/2014/main" id="{21CC7C4E-2E10-46BD-B945-E7047083347D}"/>
              </a:ext>
            </a:extLst>
          </p:cNvPr>
          <p:cNvSpPr>
            <a:spLocks xmlns:a="http://schemas.openxmlformats.org/drawingml/2006/main" noGrp="1"/>
          </p:cNvSpPr>
          <p:nvPr/>
        </p:nvSpPr>
        <p:spPr>
          <a:xfrm xmlns:a="http://schemas.openxmlformats.org/drawingml/2006/main">
            <a:off x="4349750" y="2047875"/>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9" name="">
            <a:extLst xmlns:a="http://schemas.openxmlformats.org/drawingml/2006/main">
              <a:ext uri="{FF2B5EF4-FFF2-40B4-BE49-F238E27FC236}">
                <a16:creationId xmlns:a16="http://schemas.microsoft.com/office/drawing/2014/main" id="{C66692B0-9CE9-498B-92E3-BC88A9286BDA}"/>
              </a:ext>
            </a:extLst>
          </p:cNvPr>
          <p:cNvSpPr>
            <a:spLocks xmlns:a="http://schemas.openxmlformats.org/drawingml/2006/main" noGrp="1"/>
          </p:cNvSpPr>
          <p:nvPr/>
        </p:nvSpPr>
        <p:spPr>
          <a:xfrm xmlns:a="http://schemas.openxmlformats.org/drawingml/2006/main">
            <a:off x="4492625" y="2238375"/>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Hosted API</a:t>
            </a:r>
          </a:p>
        </p:txBody>
      </p:sp>
      <p:sp>
        <p:nvSpPr>
          <p:cNvPr id="10" name="">
            <a:extLst xmlns:a="http://schemas.openxmlformats.org/drawingml/2006/main">
              <a:ext uri="{FF2B5EF4-FFF2-40B4-BE49-F238E27FC236}">
                <a16:creationId xmlns:a16="http://schemas.microsoft.com/office/drawing/2014/main" id="{9C7C5AC2-AA8F-4AEC-85E1-7AA99E3363BF}"/>
              </a:ext>
            </a:extLst>
          </p:cNvPr>
          <p:cNvSpPr>
            <a:spLocks xmlns:a="http://schemas.openxmlformats.org/drawingml/2006/main" noGrp="1"/>
          </p:cNvSpPr>
          <p:nvPr/>
        </p:nvSpPr>
        <p:spPr>
          <a:xfrm xmlns:a="http://schemas.openxmlformats.org/drawingml/2006/main">
            <a:off x="4492625" y="2647950"/>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Sealed sessions</a:t>
            </a:r>
          </a:p>
        </p:txBody>
      </p:sp>
      <p:sp>
        <p:nvSpPr>
          <p:cNvPr id="11" name="">
            <a:extLst xmlns:a="http://schemas.openxmlformats.org/drawingml/2006/main">
              <a:ext uri="{FF2B5EF4-FFF2-40B4-BE49-F238E27FC236}">
                <a16:creationId xmlns:a16="http://schemas.microsoft.com/office/drawing/2014/main" id="{83DF3A9A-4F7D-465D-A23C-0FD5E0833887}"/>
              </a:ext>
            </a:extLst>
          </p:cNvPr>
          <p:cNvSpPr>
            <a:spLocks xmlns:a="http://schemas.openxmlformats.org/drawingml/2006/main" noGrp="1"/>
          </p:cNvSpPr>
          <p:nvPr/>
        </p:nvSpPr>
        <p:spPr>
          <a:xfrm xmlns:a="http://schemas.openxmlformats.org/drawingml/2006/main">
            <a:off x="7747000" y="2457450"/>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2" name="">
            <a:extLst xmlns:a="http://schemas.openxmlformats.org/drawingml/2006/main">
              <a:ext uri="{FF2B5EF4-FFF2-40B4-BE49-F238E27FC236}">
                <a16:creationId xmlns:a16="http://schemas.microsoft.com/office/drawing/2014/main" id="{E98D63CD-5357-4415-91F5-C33D88BD3AFB}"/>
              </a:ext>
            </a:extLst>
          </p:cNvPr>
          <p:cNvSpPr>
            <a:spLocks xmlns:a="http://schemas.openxmlformats.org/drawingml/2006/main" noGrp="1"/>
          </p:cNvSpPr>
          <p:nvPr/>
        </p:nvSpPr>
        <p:spPr>
          <a:xfrm xmlns:a="http://schemas.openxmlformats.org/drawingml/2006/main">
            <a:off x="8032750" y="2047875"/>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3" name="">
            <a:extLst xmlns:a="http://schemas.openxmlformats.org/drawingml/2006/main">
              <a:ext uri="{FF2B5EF4-FFF2-40B4-BE49-F238E27FC236}">
                <a16:creationId xmlns:a16="http://schemas.microsoft.com/office/drawing/2014/main" id="{AC18181E-EF3D-45C8-842A-B1360A8D92F0}"/>
              </a:ext>
            </a:extLst>
          </p:cNvPr>
          <p:cNvSpPr>
            <a:spLocks xmlns:a="http://schemas.openxmlformats.org/drawingml/2006/main" noGrp="1"/>
          </p:cNvSpPr>
          <p:nvPr/>
        </p:nvSpPr>
        <p:spPr>
          <a:xfrm xmlns:a="http://schemas.openxmlformats.org/drawingml/2006/main">
            <a:off x="8175625" y="2238375"/>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Vercel Workflows</a:t>
            </a:r>
          </a:p>
        </p:txBody>
      </p:sp>
      <p:sp>
        <p:nvSpPr>
          <p:cNvPr id="14" name="">
            <a:extLst xmlns:a="http://schemas.openxmlformats.org/drawingml/2006/main">
              <a:ext uri="{FF2B5EF4-FFF2-40B4-BE49-F238E27FC236}">
                <a16:creationId xmlns:a16="http://schemas.microsoft.com/office/drawing/2014/main" id="{F0EA192A-B488-4B32-914C-0B283BDAB0AB}"/>
              </a:ext>
            </a:extLst>
          </p:cNvPr>
          <p:cNvSpPr>
            <a:spLocks xmlns:a="http://schemas.openxmlformats.org/drawingml/2006/main" noGrp="1"/>
          </p:cNvSpPr>
          <p:nvPr/>
        </p:nvSpPr>
        <p:spPr>
          <a:xfrm xmlns:a="http://schemas.openxmlformats.org/drawingml/2006/main">
            <a:off x="8175625" y="2647950"/>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Durable steps and delays</a:t>
            </a:r>
          </a:p>
        </p:txBody>
      </p:sp>
      <p:sp>
        <p:nvSpPr>
          <p:cNvPr id="15" name="">
            <a:extLst xmlns:a="http://schemas.openxmlformats.org/drawingml/2006/main">
              <a:ext uri="{FF2B5EF4-FFF2-40B4-BE49-F238E27FC236}">
                <a16:creationId xmlns:a16="http://schemas.microsoft.com/office/drawing/2014/main" id="{B0C902A3-F13B-4C4D-B233-E4D3B9E70FB3}"/>
              </a:ext>
            </a:extLst>
          </p:cNvPr>
          <p:cNvSpPr>
            <a:spLocks xmlns:a="http://schemas.openxmlformats.org/drawingml/2006/main" noGrp="1"/>
          </p:cNvSpPr>
          <p:nvPr/>
        </p:nvSpPr>
        <p:spPr>
          <a:xfrm xmlns:a="http://schemas.openxmlformats.org/drawingml/2006/main">
            <a:off x="704850" y="3429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7D8E8"/>
                </a:solidFill>
                <a:latin typeface="Arial"/>
                <a:ea typeface="Arial"/>
                <a:cs typeface="Arial"/>
              </a:defRPr>
            </a:defPPr>
            <a:lvl1pPr>
              <a:defRPr sz="1875" b="0">
                <a:solidFill>
                  <a:srgbClr val="67D8E8"/>
                </a:solidFill>
                <a:latin typeface="Arial"/>
                <a:ea typeface="Arial"/>
                <a:cs typeface="Arial"/>
              </a:defRPr>
            </a:lvl1pPr>
            <a:lvl2pPr>
              <a:defRPr sz="1875" b="0">
                <a:solidFill>
                  <a:srgbClr val="67D8E8"/>
                </a:solidFill>
                <a:latin typeface="Arial"/>
                <a:ea typeface="Arial"/>
                <a:cs typeface="Arial"/>
              </a:defRPr>
            </a:lvl2pPr>
            <a:lvl3pPr>
              <a:defRPr sz="1875" b="0">
                <a:solidFill>
                  <a:srgbClr val="67D8E8"/>
                </a:solidFill>
                <a:latin typeface="Arial"/>
                <a:ea typeface="Arial"/>
                <a:cs typeface="Arial"/>
              </a:defRPr>
            </a:lvl3pPr>
            <a:lvl4pPr>
              <a:defRPr sz="1875" b="0">
                <a:solidFill>
                  <a:srgbClr val="67D8E8"/>
                </a:solidFill>
                <a:latin typeface="Arial"/>
                <a:ea typeface="Arial"/>
                <a:cs typeface="Arial"/>
              </a:defRPr>
            </a:lvl4pPr>
            <a:lvl5pPr>
              <a:defRPr sz="1875" b="0">
                <a:solidFill>
                  <a:srgbClr val="67D8E8"/>
                </a:solidFill>
                <a:latin typeface="Arial"/>
                <a:ea typeface="Arial"/>
                <a:cs typeface="Arial"/>
              </a:defRPr>
            </a:lvl5pPr>
            <a:lvl6pPr>
              <a:defRPr sz="1875" b="0">
                <a:solidFill>
                  <a:srgbClr val="67D8E8"/>
                </a:solidFill>
                <a:latin typeface="Arial"/>
                <a:ea typeface="Arial"/>
                <a:cs typeface="Arial"/>
              </a:defRPr>
            </a:lvl6pPr>
            <a:lvl7pPr>
              <a:defRPr sz="1875" b="0">
                <a:solidFill>
                  <a:srgbClr val="67D8E8"/>
                </a:solidFill>
                <a:latin typeface="Arial"/>
                <a:ea typeface="Arial"/>
                <a:cs typeface="Arial"/>
              </a:defRPr>
            </a:lvl7pPr>
            <a:lvl8pPr>
              <a:defRPr sz="1875" b="0">
                <a:solidFill>
                  <a:srgbClr val="67D8E8"/>
                </a:solidFill>
                <a:latin typeface="Arial"/>
                <a:ea typeface="Arial"/>
                <a:cs typeface="Arial"/>
              </a:defRPr>
            </a:lvl8pPr>
            <a:lvl9pPr>
              <a:defRPr sz="1875" b="0">
                <a:solidFill>
                  <a:srgbClr val="67D8E8"/>
                </a:solidFill>
                <a:latin typeface="Arial"/>
                <a:ea typeface="Arial"/>
                <a:cs typeface="Arial"/>
              </a:defRPr>
            </a:lvl9pPr>
          </a:lstStyle>
          <a:p xmlns:a="http://schemas.openxmlformats.org/drawingml/2006/main">
            <a:pPr>
              <a:defRPr sz="1875" b="0">
                <a:solidFill>
                  <a:srgbClr val="67D8E8"/>
                </a:solidFill>
                <a:latin typeface="Arial"/>
                <a:ea typeface="Arial"/>
                <a:cs typeface="Arial"/>
              </a:defRPr>
            </a:pPr>
            <a:r>
              <a:rPr sz="1875" b="0">
                <a:solidFill>
                  <a:srgbClr val="67D8E8"/>
                </a:solidFill>
                <a:latin typeface="Arial"/>
                <a:ea typeface="Arial"/>
                <a:cs typeface="Arial"/>
              </a:rPr>
              <a:t>Private Blob storage · conditional writes · browser-scoped demo workspace</a:t>
            </a:r>
          </a:p>
        </p:txBody>
      </p:sp>
      <p:sp>
        <p:nvSpPr>
          <p:cNvPr id="16" name="">
            <a:extLst xmlns:a="http://schemas.openxmlformats.org/drawingml/2006/main">
              <a:ext uri="{FF2B5EF4-FFF2-40B4-BE49-F238E27FC236}">
                <a16:creationId xmlns:a16="http://schemas.microsoft.com/office/drawing/2014/main" id="{5E2350F0-78C8-4D99-8CC8-9C95F74D66F1}"/>
              </a:ext>
            </a:extLst>
          </p:cNvPr>
          <p:cNvSpPr>
            <a:spLocks xmlns:a="http://schemas.openxmlformats.org/drawingml/2006/main" noGrp="1"/>
          </p:cNvSpPr>
          <p:nvPr/>
        </p:nvSpPr>
        <p:spPr>
          <a:xfrm xmlns:a="http://schemas.openxmlformats.org/drawingml/2006/main">
            <a:off x="666750" y="4191000"/>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7" name="">
            <a:extLst xmlns:a="http://schemas.openxmlformats.org/drawingml/2006/main">
              <a:ext uri="{FF2B5EF4-FFF2-40B4-BE49-F238E27FC236}">
                <a16:creationId xmlns:a16="http://schemas.microsoft.com/office/drawing/2014/main" id="{F2B1F051-8D1E-48D9-B474-F4C1BB624A7E}"/>
              </a:ext>
            </a:extLst>
          </p:cNvPr>
          <p:cNvSpPr>
            <a:spLocks xmlns:a="http://schemas.openxmlformats.org/drawingml/2006/main" noGrp="1"/>
          </p:cNvSpPr>
          <p:nvPr/>
        </p:nvSpPr>
        <p:spPr>
          <a:xfrm xmlns:a="http://schemas.openxmlformats.org/drawingml/2006/main">
            <a:off x="809625" y="4381500"/>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Next.js UI</a:t>
            </a:r>
          </a:p>
        </p:txBody>
      </p:sp>
      <p:sp>
        <p:nvSpPr>
          <p:cNvPr id="18" name="">
            <a:extLst xmlns:a="http://schemas.openxmlformats.org/drawingml/2006/main">
              <a:ext uri="{FF2B5EF4-FFF2-40B4-BE49-F238E27FC236}">
                <a16:creationId xmlns:a16="http://schemas.microsoft.com/office/drawing/2014/main" id="{0E1E8E0C-70D9-4E6B-A946-1938C95EB32D}"/>
              </a:ext>
            </a:extLst>
          </p:cNvPr>
          <p:cNvSpPr>
            <a:spLocks xmlns:a="http://schemas.openxmlformats.org/drawingml/2006/main" noGrp="1"/>
          </p:cNvSpPr>
          <p:nvPr/>
        </p:nvSpPr>
        <p:spPr>
          <a:xfrm xmlns:a="http://schemas.openxmlformats.org/drawingml/2006/main">
            <a:off x="809625" y="4791075"/>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Same API client</a:t>
            </a:r>
          </a:p>
        </p:txBody>
      </p:sp>
      <p:sp>
        <p:nvSpPr>
          <p:cNvPr id="19" name="">
            <a:extLst xmlns:a="http://schemas.openxmlformats.org/drawingml/2006/main">
              <a:ext uri="{FF2B5EF4-FFF2-40B4-BE49-F238E27FC236}">
                <a16:creationId xmlns:a16="http://schemas.microsoft.com/office/drawing/2014/main" id="{E41D801E-AC3E-424B-B0AA-AB3576A57D3B}"/>
              </a:ext>
            </a:extLst>
          </p:cNvPr>
          <p:cNvSpPr>
            <a:spLocks xmlns:a="http://schemas.openxmlformats.org/drawingml/2006/main" noGrp="1"/>
          </p:cNvSpPr>
          <p:nvPr/>
        </p:nvSpPr>
        <p:spPr>
          <a:xfrm xmlns:a="http://schemas.openxmlformats.org/drawingml/2006/main">
            <a:off x="4064000" y="460057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20" name="">
            <a:extLst xmlns:a="http://schemas.openxmlformats.org/drawingml/2006/main">
              <a:ext uri="{FF2B5EF4-FFF2-40B4-BE49-F238E27FC236}">
                <a16:creationId xmlns:a16="http://schemas.microsoft.com/office/drawing/2014/main" id="{BCAC7F04-6E95-4D2C-B6AC-F1C15941A41C}"/>
              </a:ext>
            </a:extLst>
          </p:cNvPr>
          <p:cNvSpPr>
            <a:spLocks xmlns:a="http://schemas.openxmlformats.org/drawingml/2006/main" noGrp="1"/>
          </p:cNvSpPr>
          <p:nvPr/>
        </p:nvSpPr>
        <p:spPr>
          <a:xfrm xmlns:a="http://schemas.openxmlformats.org/drawingml/2006/main">
            <a:off x="4349750" y="4191000"/>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21" name="">
            <a:extLst xmlns:a="http://schemas.openxmlformats.org/drawingml/2006/main">
              <a:ext uri="{FF2B5EF4-FFF2-40B4-BE49-F238E27FC236}">
                <a16:creationId xmlns:a16="http://schemas.microsoft.com/office/drawing/2014/main" id="{8BAF87C5-0167-44B6-8B34-863B07DA8B37}"/>
              </a:ext>
            </a:extLst>
          </p:cNvPr>
          <p:cNvSpPr>
            <a:spLocks xmlns:a="http://schemas.openxmlformats.org/drawingml/2006/main" noGrp="1"/>
          </p:cNvSpPr>
          <p:nvPr/>
        </p:nvSpPr>
        <p:spPr>
          <a:xfrm xmlns:a="http://schemas.openxmlformats.org/drawingml/2006/main">
            <a:off x="4492625" y="4381500"/>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Spring Boot</a:t>
            </a:r>
          </a:p>
        </p:txBody>
      </p:sp>
      <p:sp>
        <p:nvSpPr>
          <p:cNvPr id="22" name="">
            <a:extLst xmlns:a="http://schemas.openxmlformats.org/drawingml/2006/main">
              <a:ext uri="{FF2B5EF4-FFF2-40B4-BE49-F238E27FC236}">
                <a16:creationId xmlns:a16="http://schemas.microsoft.com/office/drawing/2014/main" id="{40A14FD2-0022-46B9-8419-7D53A5D9268B}"/>
              </a:ext>
            </a:extLst>
          </p:cNvPr>
          <p:cNvSpPr>
            <a:spLocks xmlns:a="http://schemas.openxmlformats.org/drawingml/2006/main" noGrp="1"/>
          </p:cNvSpPr>
          <p:nvPr/>
        </p:nvSpPr>
        <p:spPr>
          <a:xfrm xmlns:a="http://schemas.openxmlformats.org/drawingml/2006/main">
            <a:off x="4492625" y="4791075"/>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Identity and services</a:t>
            </a:r>
          </a:p>
        </p:txBody>
      </p:sp>
      <p:sp>
        <p:nvSpPr>
          <p:cNvPr id="23" name="">
            <a:extLst xmlns:a="http://schemas.openxmlformats.org/drawingml/2006/main">
              <a:ext uri="{FF2B5EF4-FFF2-40B4-BE49-F238E27FC236}">
                <a16:creationId xmlns:a16="http://schemas.microsoft.com/office/drawing/2014/main" id="{171D6B01-D45D-4559-BC86-165CB3405948}"/>
              </a:ext>
            </a:extLst>
          </p:cNvPr>
          <p:cNvSpPr>
            <a:spLocks xmlns:a="http://schemas.openxmlformats.org/drawingml/2006/main" noGrp="1"/>
          </p:cNvSpPr>
          <p:nvPr/>
        </p:nvSpPr>
        <p:spPr>
          <a:xfrm xmlns:a="http://schemas.openxmlformats.org/drawingml/2006/main">
            <a:off x="7747000" y="460057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24" name="">
            <a:extLst xmlns:a="http://schemas.openxmlformats.org/drawingml/2006/main">
              <a:ext uri="{FF2B5EF4-FFF2-40B4-BE49-F238E27FC236}">
                <a16:creationId xmlns:a16="http://schemas.microsoft.com/office/drawing/2014/main" id="{619F2A28-8E12-4AFD-B585-D12A2E989F4A}"/>
              </a:ext>
            </a:extLst>
          </p:cNvPr>
          <p:cNvSpPr>
            <a:spLocks xmlns:a="http://schemas.openxmlformats.org/drawingml/2006/main" noGrp="1"/>
          </p:cNvSpPr>
          <p:nvPr/>
        </p:nvSpPr>
        <p:spPr>
          <a:xfrm xmlns:a="http://schemas.openxmlformats.org/drawingml/2006/main">
            <a:off x="8032750" y="4191000"/>
            <a:ext cx="330200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25" name="">
            <a:extLst xmlns:a="http://schemas.openxmlformats.org/drawingml/2006/main">
              <a:ext uri="{FF2B5EF4-FFF2-40B4-BE49-F238E27FC236}">
                <a16:creationId xmlns:a16="http://schemas.microsoft.com/office/drawing/2014/main" id="{682C711F-702A-4AEE-A3D8-78FDADDB679A}"/>
              </a:ext>
            </a:extLst>
          </p:cNvPr>
          <p:cNvSpPr>
            <a:spLocks xmlns:a="http://schemas.openxmlformats.org/drawingml/2006/main" noGrp="1"/>
          </p:cNvSpPr>
          <p:nvPr/>
        </p:nvSpPr>
        <p:spPr>
          <a:xfrm xmlns:a="http://schemas.openxmlformats.org/drawingml/2006/main">
            <a:off x="8175625" y="4381500"/>
            <a:ext cx="301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PostgreSQL</a:t>
            </a:r>
          </a:p>
        </p:txBody>
      </p:sp>
      <p:sp>
        <p:nvSpPr>
          <p:cNvPr id="26" name="">
            <a:extLst xmlns:a="http://schemas.openxmlformats.org/drawingml/2006/main">
              <a:ext uri="{FF2B5EF4-FFF2-40B4-BE49-F238E27FC236}">
                <a16:creationId xmlns:a16="http://schemas.microsoft.com/office/drawing/2014/main" id="{BB1F0CEA-E68A-43A2-9877-2CDF74041D5D}"/>
              </a:ext>
            </a:extLst>
          </p:cNvPr>
          <p:cNvSpPr>
            <a:spLocks xmlns:a="http://schemas.openxmlformats.org/drawingml/2006/main" noGrp="1"/>
          </p:cNvSpPr>
          <p:nvPr/>
        </p:nvSpPr>
        <p:spPr>
          <a:xfrm xmlns:a="http://schemas.openxmlformats.org/drawingml/2006/main">
            <a:off x="8175625" y="4791075"/>
            <a:ext cx="301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Durable SQL queue</a:t>
            </a:r>
          </a:p>
        </p:txBody>
      </p:sp>
    </p:spTree>
    <p:extLst>
      <p:ext uri="{BB962C8B-B14F-4D97-AF65-F5344CB8AC3E}">
        <p14:creationId xmlns:p14="http://schemas.microsoft.com/office/powerpoint/2010/main" val="1191016238"/>
      </p:ext>
    </p:extLst>
  </p:cSld>
</p:sld>
</file>

<file path=ppt/slides/slide8.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EB705C-28E8-4416-A483-88B4458B8CC0}"/>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76591A99-F88C-494F-A4F2-F3514FC9DA48}"/>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The data model</a:t>
            </a:r>
          </a:p>
        </p:txBody>
      </p:sp>
      <p:sp>
        <p:nvSpPr>
          <p:cNvPr id="3" name="">
            <a:extLst xmlns:a="http://schemas.openxmlformats.org/drawingml/2006/main">
              <a:ext uri="{FF2B5EF4-FFF2-40B4-BE49-F238E27FC236}">
                <a16:creationId xmlns:a16="http://schemas.microsoft.com/office/drawing/2014/main" id="{BECB2D9B-9C08-4F99-B059-DABD82FE9D89}"/>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4EB0624-21EB-4948-8B2D-255A2A33661F}"/>
              </a:ext>
            </a:extLst>
          </p:cNvPr>
          <p:cNvSpPr>
            <a:spLocks xmlns:a="http://schemas.openxmlformats.org/drawingml/2006/main" noGrp="1"/>
          </p:cNvSpPr>
          <p:nvPr/>
        </p:nvSpPr>
        <p:spPr>
          <a:xfrm xmlns:a="http://schemas.openxmlformats.org/drawingml/2006/main">
            <a:off x="666750" y="17907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Definition records</a:t>
            </a:r>
          </a:p>
        </p:txBody>
      </p:sp>
      <p:sp>
        <p:nvSpPr>
          <p:cNvPr id="5" name="">
            <a:extLst xmlns:a="http://schemas.openxmlformats.org/drawingml/2006/main">
              <a:ext uri="{FF2B5EF4-FFF2-40B4-BE49-F238E27FC236}">
                <a16:creationId xmlns:a16="http://schemas.microsoft.com/office/drawing/2014/main" id="{3937FFE0-2EC7-4F0D-AE77-B8AA8DA78A6E}"/>
              </a:ext>
            </a:extLst>
          </p:cNvPr>
          <p:cNvSpPr>
            <a:spLocks xmlns:a="http://schemas.openxmlformats.org/drawingml/2006/main" noGrp="1"/>
          </p:cNvSpPr>
          <p:nvPr/>
        </p:nvSpPr>
        <p:spPr>
          <a:xfrm xmlns:a="http://schemas.openxmlformats.org/drawingml/2006/main">
            <a:off x="666750" y="22002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Workspace → workflow → immutable workflow version</a:t>
            </a:r>
          </a:p>
        </p:txBody>
      </p:sp>
      <p:sp>
        <p:nvSpPr>
          <p:cNvPr id="6" name="">
            <a:extLst xmlns:a="http://schemas.openxmlformats.org/drawingml/2006/main">
              <a:ext uri="{FF2B5EF4-FFF2-40B4-BE49-F238E27FC236}">
                <a16:creationId xmlns:a16="http://schemas.microsoft.com/office/drawing/2014/main" id="{F0E1E0E8-5E47-46A4-8784-33AC7B35AE92}"/>
              </a:ext>
            </a:extLst>
          </p:cNvPr>
          <p:cNvSpPr>
            <a:spLocks xmlns:a="http://schemas.openxmlformats.org/drawingml/2006/main" noGrp="1"/>
          </p:cNvSpPr>
          <p:nvPr/>
        </p:nvSpPr>
        <p:spPr>
          <a:xfrm xmlns:a="http://schemas.openxmlformats.org/drawingml/2006/main">
            <a:off x="666750" y="32956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Execution records</a:t>
            </a:r>
          </a:p>
        </p:txBody>
      </p:sp>
      <p:sp>
        <p:nvSpPr>
          <p:cNvPr id="7" name="">
            <a:extLst xmlns:a="http://schemas.openxmlformats.org/drawingml/2006/main">
              <a:ext uri="{FF2B5EF4-FFF2-40B4-BE49-F238E27FC236}">
                <a16:creationId xmlns:a16="http://schemas.microsoft.com/office/drawing/2014/main" id="{AC44BEB8-FEC1-41EB-A067-69C7B60D2AF3}"/>
              </a:ext>
            </a:extLst>
          </p:cNvPr>
          <p:cNvSpPr>
            <a:spLocks xmlns:a="http://schemas.openxmlformats.org/drawingml/2006/main" noGrp="1"/>
          </p:cNvSpPr>
          <p:nvPr/>
        </p:nvSpPr>
        <p:spPr>
          <a:xfrm xmlns:a="http://schemas.openxmlformats.org/drawingml/2006/main">
            <a:off x="666750" y="370522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Execution → node checkpoints → persistent events</a:t>
            </a:r>
          </a:p>
        </p:txBody>
      </p:sp>
      <p:sp>
        <p:nvSpPr>
          <p:cNvPr id="8" name="">
            <a:extLst xmlns:a="http://schemas.openxmlformats.org/drawingml/2006/main">
              <a:ext uri="{FF2B5EF4-FFF2-40B4-BE49-F238E27FC236}">
                <a16:creationId xmlns:a16="http://schemas.microsoft.com/office/drawing/2014/main" id="{0C00E1B3-D28B-47F4-A145-F35A884651A4}"/>
              </a:ext>
            </a:extLst>
          </p:cNvPr>
          <p:cNvSpPr>
            <a:spLocks xmlns:a="http://schemas.openxmlformats.org/drawingml/2006/main" noGrp="1"/>
          </p:cNvSpPr>
          <p:nvPr/>
        </p:nvSpPr>
        <p:spPr>
          <a:xfrm xmlns:a="http://schemas.openxmlformats.org/drawingml/2006/main">
            <a:off x="666750" y="4800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Governance records</a:t>
            </a:r>
          </a:p>
        </p:txBody>
      </p:sp>
      <p:sp>
        <p:nvSpPr>
          <p:cNvPr id="9" name="">
            <a:extLst xmlns:a="http://schemas.openxmlformats.org/drawingml/2006/main">
              <a:ext uri="{FF2B5EF4-FFF2-40B4-BE49-F238E27FC236}">
                <a16:creationId xmlns:a16="http://schemas.microsoft.com/office/drawing/2014/main" id="{A7EED9E9-C54A-4ED1-B4C2-EC44D5D60C65}"/>
              </a:ext>
            </a:extLst>
          </p:cNvPr>
          <p:cNvSpPr>
            <a:spLocks xmlns:a="http://schemas.openxmlformats.org/drawingml/2006/main" noGrp="1"/>
          </p:cNvSpPr>
          <p:nvPr/>
        </p:nvSpPr>
        <p:spPr>
          <a:xfrm xmlns:a="http://schemas.openxmlformats.org/drawingml/2006/main">
            <a:off x="666750" y="52101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Membership/role checks and append-oriented audit entries</a:t>
            </a:r>
          </a:p>
        </p:txBody>
      </p:sp>
    </p:spTree>
    <p:extLst>
      <p:ext uri="{BB962C8B-B14F-4D97-AF65-F5344CB8AC3E}">
        <p14:creationId xmlns:p14="http://schemas.microsoft.com/office/powerpoint/2010/main" val="1054709821"/>
      </p:ext>
    </p:extLst>
  </p:cSld>
</p:sld>
</file>

<file path=ppt/slides/slide9.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57918F-0845-4AFF-B3B8-FF310FFC4E6B}"/>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71106EF7-6F79-4D51-92BD-D60D966F7623}"/>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Identity and workspace isolation</a:t>
            </a:r>
          </a:p>
        </p:txBody>
      </p:sp>
      <p:sp>
        <p:nvSpPr>
          <p:cNvPr id="3" name="">
            <a:extLst xmlns:a="http://schemas.openxmlformats.org/drawingml/2006/main">
              <a:ext uri="{FF2B5EF4-FFF2-40B4-BE49-F238E27FC236}">
                <a16:creationId xmlns:a16="http://schemas.microsoft.com/office/drawing/2014/main" id="{60C9303E-BDA9-4CE3-9FEC-E8FDFE72AD41}"/>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0495F0B-49B9-4E9A-A1F3-9D85BA9BDBFF}"/>
              </a:ext>
            </a:extLst>
          </p:cNvPr>
          <p:cNvSpPr>
            <a:spLocks xmlns:a="http://schemas.openxmlformats.org/drawingml/2006/main" noGrp="1"/>
          </p:cNvSpPr>
          <p:nvPr/>
        </p:nvSpPr>
        <p:spPr>
          <a:xfrm xmlns:a="http://schemas.openxmlformats.org/drawingml/2006/main">
            <a:off x="666750" y="17907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Server-side checks</a:t>
            </a:r>
          </a:p>
        </p:txBody>
      </p:sp>
      <p:sp>
        <p:nvSpPr>
          <p:cNvPr id="5" name="">
            <a:extLst xmlns:a="http://schemas.openxmlformats.org/drawingml/2006/main">
              <a:ext uri="{FF2B5EF4-FFF2-40B4-BE49-F238E27FC236}">
                <a16:creationId xmlns:a16="http://schemas.microsoft.com/office/drawing/2014/main" id="{739426AF-047E-4ABB-A6E3-D6899F83ADC5}"/>
              </a:ext>
            </a:extLst>
          </p:cNvPr>
          <p:cNvSpPr>
            <a:spLocks xmlns:a="http://schemas.openxmlformats.org/drawingml/2006/main" noGrp="1"/>
          </p:cNvSpPr>
          <p:nvPr/>
        </p:nvSpPr>
        <p:spPr>
          <a:xfrm xmlns:a="http://schemas.openxmlformats.org/drawingml/2006/main">
            <a:off x="666750" y="22002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Every workspace operation verifies the authenticated workspace and role.</a:t>
            </a:r>
          </a:p>
        </p:txBody>
      </p:sp>
      <p:sp>
        <p:nvSpPr>
          <p:cNvPr id="6" name="">
            <a:extLst xmlns:a="http://schemas.openxmlformats.org/drawingml/2006/main">
              <a:ext uri="{FF2B5EF4-FFF2-40B4-BE49-F238E27FC236}">
                <a16:creationId xmlns:a16="http://schemas.microsoft.com/office/drawing/2014/main" id="{2B3BDA65-7E4C-46A7-8569-63B3938400FA}"/>
              </a:ext>
            </a:extLst>
          </p:cNvPr>
          <p:cNvSpPr>
            <a:spLocks xmlns:a="http://schemas.openxmlformats.org/drawingml/2006/main" noGrp="1"/>
          </p:cNvSpPr>
          <p:nvPr/>
        </p:nvSpPr>
        <p:spPr>
          <a:xfrm xmlns:a="http://schemas.openxmlformats.org/drawingml/2006/main">
            <a:off x="666750" y="32956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Public demo, private records</a:t>
            </a:r>
          </a:p>
        </p:txBody>
      </p:sp>
      <p:sp>
        <p:nvSpPr>
          <p:cNvPr id="7" name="">
            <a:extLst xmlns:a="http://schemas.openxmlformats.org/drawingml/2006/main">
              <a:ext uri="{FF2B5EF4-FFF2-40B4-BE49-F238E27FC236}">
                <a16:creationId xmlns:a16="http://schemas.microsoft.com/office/drawing/2014/main" id="{564514F8-28F4-4835-9D7C-717DB5455749}"/>
              </a:ext>
            </a:extLst>
          </p:cNvPr>
          <p:cNvSpPr>
            <a:spLocks xmlns:a="http://schemas.openxmlformats.org/drawingml/2006/main" noGrp="1"/>
          </p:cNvSpPr>
          <p:nvPr/>
        </p:nvSpPr>
        <p:spPr>
          <a:xfrm xmlns:a="http://schemas.openxmlformats.org/drawingml/2006/main">
            <a:off x="666750" y="370522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demo/demo opens the browser’s workspace; the storage token never reaches the browser.</a:t>
            </a:r>
          </a:p>
        </p:txBody>
      </p:sp>
      <p:sp>
        <p:nvSpPr>
          <p:cNvPr id="8" name="">
            <a:extLst xmlns:a="http://schemas.openxmlformats.org/drawingml/2006/main">
              <a:ext uri="{FF2B5EF4-FFF2-40B4-BE49-F238E27FC236}">
                <a16:creationId xmlns:a16="http://schemas.microsoft.com/office/drawing/2014/main" id="{17555982-71C3-4163-BD9C-1D8AE3A5C301}"/>
              </a:ext>
            </a:extLst>
          </p:cNvPr>
          <p:cNvSpPr>
            <a:spLocks xmlns:a="http://schemas.openxmlformats.org/drawingml/2006/main" noGrp="1"/>
          </p:cNvSpPr>
          <p:nvPr/>
        </p:nvSpPr>
        <p:spPr>
          <a:xfrm xmlns:a="http://schemas.openxmlformats.org/drawingml/2006/main">
            <a:off x="666750" y="4800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Production identity is separate</a:t>
            </a:r>
          </a:p>
        </p:txBody>
      </p:sp>
      <p:sp>
        <p:nvSpPr>
          <p:cNvPr id="9" name="">
            <a:extLst xmlns:a="http://schemas.openxmlformats.org/drawingml/2006/main">
              <a:ext uri="{FF2B5EF4-FFF2-40B4-BE49-F238E27FC236}">
                <a16:creationId xmlns:a16="http://schemas.microsoft.com/office/drawing/2014/main" id="{0E8377B4-59B5-48F1-9002-268C34EAF4B5}"/>
              </a:ext>
            </a:extLst>
          </p:cNvPr>
          <p:cNvSpPr>
            <a:spLocks xmlns:a="http://schemas.openxmlformats.org/drawingml/2006/main" noGrp="1"/>
          </p:cNvSpPr>
          <p:nvPr/>
        </p:nvSpPr>
        <p:spPr>
          <a:xfrm xmlns:a="http://schemas.openxmlformats.org/drawingml/2006/main">
            <a:off x="666750" y="52101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Verified organizations, invitations, MFA, and browser OIDC onboarding remain planned.</a:t>
            </a:r>
          </a:p>
        </p:txBody>
      </p:sp>
    </p:spTree>
    <p:extLst>
      <p:ext uri="{BB962C8B-B14F-4D97-AF65-F5344CB8AC3E}">
        <p14:creationId xmlns:p14="http://schemas.microsoft.com/office/powerpoint/2010/main" val="1814922279"/>
      </p:ext>
    </p:extLst>
  </p:cSld>
</p:sld>
</file>

<file path=ppt/slides/slide10.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C4793E9-C612-4BF7-A646-EDE93FA99021}"/>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8E105AF2-D4DC-4052-9A61-B54BADD23A66}"/>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Execution on Vercel</a:t>
            </a:r>
          </a:p>
        </p:txBody>
      </p:sp>
      <p:sp>
        <p:nvSpPr>
          <p:cNvPr id="3" name="">
            <a:extLst xmlns:a="http://schemas.openxmlformats.org/drawingml/2006/main">
              <a:ext uri="{FF2B5EF4-FFF2-40B4-BE49-F238E27FC236}">
                <a16:creationId xmlns:a16="http://schemas.microsoft.com/office/drawing/2014/main" id="{C5850283-E24B-4CFF-8E9E-AA36BF3641B5}"/>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8DFF29F7-13A1-4331-8DDE-E30DB5188FA5}"/>
              </a:ext>
            </a:extLst>
          </p:cNvPr>
          <p:cNvSpPr>
            <a:spLocks xmlns:a="http://schemas.openxmlformats.org/drawingml/2006/main" noGrp="1"/>
          </p:cNvSpPr>
          <p:nvPr/>
        </p:nvSpPr>
        <p:spPr>
          <a:xfrm xmlns:a="http://schemas.openxmlformats.org/drawingml/2006/main">
            <a:off x="666750" y="2238375"/>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5" name="">
            <a:extLst xmlns:a="http://schemas.openxmlformats.org/drawingml/2006/main">
              <a:ext uri="{FF2B5EF4-FFF2-40B4-BE49-F238E27FC236}">
                <a16:creationId xmlns:a16="http://schemas.microsoft.com/office/drawing/2014/main" id="{3A1A3E8E-C366-4574-A18E-626D260D1F73}"/>
              </a:ext>
            </a:extLst>
          </p:cNvPr>
          <p:cNvSpPr>
            <a:spLocks xmlns:a="http://schemas.openxmlformats.org/drawingml/2006/main" noGrp="1"/>
          </p:cNvSpPr>
          <p:nvPr/>
        </p:nvSpPr>
        <p:spPr>
          <a:xfrm xmlns:a="http://schemas.openxmlformats.org/drawingml/2006/main">
            <a:off x="809625" y="2428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Queue</a:t>
            </a:r>
          </a:p>
        </p:txBody>
      </p:sp>
      <p:sp>
        <p:nvSpPr>
          <p:cNvPr id="6" name="">
            <a:extLst xmlns:a="http://schemas.openxmlformats.org/drawingml/2006/main">
              <a:ext uri="{FF2B5EF4-FFF2-40B4-BE49-F238E27FC236}">
                <a16:creationId xmlns:a16="http://schemas.microsoft.com/office/drawing/2014/main" id="{DF6A5AA7-D2AB-4835-BD1C-901800DA3F94}"/>
              </a:ext>
            </a:extLst>
          </p:cNvPr>
          <p:cNvSpPr>
            <a:spLocks xmlns:a="http://schemas.openxmlformats.org/drawingml/2006/main" noGrp="1"/>
          </p:cNvSpPr>
          <p:nvPr/>
        </p:nvSpPr>
        <p:spPr>
          <a:xfrm xmlns:a="http://schemas.openxmlformats.org/drawingml/2006/main">
            <a:off x="809625" y="28384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Run accepted</a:t>
            </a:r>
          </a:p>
        </p:txBody>
      </p:sp>
      <p:sp>
        <p:nvSpPr>
          <p:cNvPr id="7" name="">
            <a:extLst xmlns:a="http://schemas.openxmlformats.org/drawingml/2006/main">
              <a:ext uri="{FF2B5EF4-FFF2-40B4-BE49-F238E27FC236}">
                <a16:creationId xmlns:a16="http://schemas.microsoft.com/office/drawing/2014/main" id="{0AECD420-5FCD-4F50-A832-4C183F8DB3C8}"/>
              </a:ext>
            </a:extLst>
          </p:cNvPr>
          <p:cNvSpPr>
            <a:spLocks xmlns:a="http://schemas.openxmlformats.org/drawingml/2006/main" noGrp="1"/>
          </p:cNvSpPr>
          <p:nvPr/>
        </p:nvSpPr>
        <p:spPr>
          <a:xfrm xmlns:a="http://schemas.openxmlformats.org/drawingml/2006/main">
            <a:off x="3143250" y="2647950"/>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8" name="">
            <a:extLst xmlns:a="http://schemas.openxmlformats.org/drawingml/2006/main">
              <a:ext uri="{FF2B5EF4-FFF2-40B4-BE49-F238E27FC236}">
                <a16:creationId xmlns:a16="http://schemas.microsoft.com/office/drawing/2014/main" id="{76D167A6-E010-48AE-821C-A58F02131736}"/>
              </a:ext>
            </a:extLst>
          </p:cNvPr>
          <p:cNvSpPr>
            <a:spLocks xmlns:a="http://schemas.openxmlformats.org/drawingml/2006/main" noGrp="1"/>
          </p:cNvSpPr>
          <p:nvPr/>
        </p:nvSpPr>
        <p:spPr>
          <a:xfrm xmlns:a="http://schemas.openxmlformats.org/drawingml/2006/main">
            <a:off x="3429000" y="2238375"/>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9" name="">
            <a:extLst xmlns:a="http://schemas.openxmlformats.org/drawingml/2006/main">
              <a:ext uri="{FF2B5EF4-FFF2-40B4-BE49-F238E27FC236}">
                <a16:creationId xmlns:a16="http://schemas.microsoft.com/office/drawing/2014/main" id="{D189D095-4CEC-4295-AC3C-026D691E51EE}"/>
              </a:ext>
            </a:extLst>
          </p:cNvPr>
          <p:cNvSpPr>
            <a:spLocks xmlns:a="http://schemas.openxmlformats.org/drawingml/2006/main" noGrp="1"/>
          </p:cNvSpPr>
          <p:nvPr/>
        </p:nvSpPr>
        <p:spPr>
          <a:xfrm xmlns:a="http://schemas.openxmlformats.org/drawingml/2006/main">
            <a:off x="3571875" y="2428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Durable step</a:t>
            </a:r>
          </a:p>
        </p:txBody>
      </p:sp>
      <p:sp>
        <p:nvSpPr>
          <p:cNvPr id="10" name="">
            <a:extLst xmlns:a="http://schemas.openxmlformats.org/drawingml/2006/main">
              <a:ext uri="{FF2B5EF4-FFF2-40B4-BE49-F238E27FC236}">
                <a16:creationId xmlns:a16="http://schemas.microsoft.com/office/drawing/2014/main" id="{80727924-B641-45E5-930B-537623D9829D}"/>
              </a:ext>
            </a:extLst>
          </p:cNvPr>
          <p:cNvSpPr>
            <a:spLocks xmlns:a="http://schemas.openxmlformats.org/drawingml/2006/main" noGrp="1"/>
          </p:cNvSpPr>
          <p:nvPr/>
        </p:nvSpPr>
        <p:spPr>
          <a:xfrm xmlns:a="http://schemas.openxmlformats.org/drawingml/2006/main">
            <a:off x="3571875" y="28384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Execute a node</a:t>
            </a:r>
          </a:p>
        </p:txBody>
      </p:sp>
      <p:sp>
        <p:nvSpPr>
          <p:cNvPr id="11" name="">
            <a:extLst xmlns:a="http://schemas.openxmlformats.org/drawingml/2006/main">
              <a:ext uri="{FF2B5EF4-FFF2-40B4-BE49-F238E27FC236}">
                <a16:creationId xmlns:a16="http://schemas.microsoft.com/office/drawing/2014/main" id="{822B6B31-768C-4542-9A98-0A130B321A17}"/>
              </a:ext>
            </a:extLst>
          </p:cNvPr>
          <p:cNvSpPr>
            <a:spLocks xmlns:a="http://schemas.openxmlformats.org/drawingml/2006/main" noGrp="1"/>
          </p:cNvSpPr>
          <p:nvPr/>
        </p:nvSpPr>
        <p:spPr>
          <a:xfrm xmlns:a="http://schemas.openxmlformats.org/drawingml/2006/main">
            <a:off x="5905500" y="2647950"/>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2" name="">
            <a:extLst xmlns:a="http://schemas.openxmlformats.org/drawingml/2006/main">
              <a:ext uri="{FF2B5EF4-FFF2-40B4-BE49-F238E27FC236}">
                <a16:creationId xmlns:a16="http://schemas.microsoft.com/office/drawing/2014/main" id="{C7C13855-0AF3-4F1A-9780-8269BDA9C61E}"/>
              </a:ext>
            </a:extLst>
          </p:cNvPr>
          <p:cNvSpPr>
            <a:spLocks xmlns:a="http://schemas.openxmlformats.org/drawingml/2006/main" noGrp="1"/>
          </p:cNvSpPr>
          <p:nvPr/>
        </p:nvSpPr>
        <p:spPr>
          <a:xfrm xmlns:a="http://schemas.openxmlformats.org/drawingml/2006/main">
            <a:off x="6191250" y="2238375"/>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3" name="">
            <a:extLst xmlns:a="http://schemas.openxmlformats.org/drawingml/2006/main">
              <a:ext uri="{FF2B5EF4-FFF2-40B4-BE49-F238E27FC236}">
                <a16:creationId xmlns:a16="http://schemas.microsoft.com/office/drawing/2014/main" id="{27DD1A2D-01B0-4776-AB3D-641669B6C062}"/>
              </a:ext>
            </a:extLst>
          </p:cNvPr>
          <p:cNvSpPr>
            <a:spLocks xmlns:a="http://schemas.openxmlformats.org/drawingml/2006/main" noGrp="1"/>
          </p:cNvSpPr>
          <p:nvPr/>
        </p:nvSpPr>
        <p:spPr>
          <a:xfrm xmlns:a="http://schemas.openxmlformats.org/drawingml/2006/main">
            <a:off x="6334125" y="2428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Checkpoint</a:t>
            </a:r>
          </a:p>
        </p:txBody>
      </p:sp>
      <p:sp>
        <p:nvSpPr>
          <p:cNvPr id="14" name="">
            <a:extLst xmlns:a="http://schemas.openxmlformats.org/drawingml/2006/main">
              <a:ext uri="{FF2B5EF4-FFF2-40B4-BE49-F238E27FC236}">
                <a16:creationId xmlns:a16="http://schemas.microsoft.com/office/drawing/2014/main" id="{C6E6D724-B5EB-4C4B-A281-10E98E36AF16}"/>
              </a:ext>
            </a:extLst>
          </p:cNvPr>
          <p:cNvSpPr>
            <a:spLocks xmlns:a="http://schemas.openxmlformats.org/drawingml/2006/main" noGrp="1"/>
          </p:cNvSpPr>
          <p:nvPr/>
        </p:nvSpPr>
        <p:spPr>
          <a:xfrm xmlns:a="http://schemas.openxmlformats.org/drawingml/2006/main">
            <a:off x="6334125" y="28384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Record output/event</a:t>
            </a:r>
          </a:p>
        </p:txBody>
      </p:sp>
      <p:sp>
        <p:nvSpPr>
          <p:cNvPr id="15" name="">
            <a:extLst xmlns:a="http://schemas.openxmlformats.org/drawingml/2006/main">
              <a:ext uri="{FF2B5EF4-FFF2-40B4-BE49-F238E27FC236}">
                <a16:creationId xmlns:a16="http://schemas.microsoft.com/office/drawing/2014/main" id="{A3BC001C-8CAB-4AC2-BCFF-9FDAECDF7E09}"/>
              </a:ext>
            </a:extLst>
          </p:cNvPr>
          <p:cNvSpPr>
            <a:spLocks xmlns:a="http://schemas.openxmlformats.org/drawingml/2006/main" noGrp="1"/>
          </p:cNvSpPr>
          <p:nvPr/>
        </p:nvSpPr>
        <p:spPr>
          <a:xfrm xmlns:a="http://schemas.openxmlformats.org/drawingml/2006/main">
            <a:off x="8667750" y="2647950"/>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6" name="">
            <a:extLst xmlns:a="http://schemas.openxmlformats.org/drawingml/2006/main">
              <a:ext uri="{FF2B5EF4-FFF2-40B4-BE49-F238E27FC236}">
                <a16:creationId xmlns:a16="http://schemas.microsoft.com/office/drawing/2014/main" id="{ADD400A2-C7CC-49AA-B3C7-EEF09E143CAE}"/>
              </a:ext>
            </a:extLst>
          </p:cNvPr>
          <p:cNvSpPr>
            <a:spLocks xmlns:a="http://schemas.openxmlformats.org/drawingml/2006/main" noGrp="1"/>
          </p:cNvSpPr>
          <p:nvPr/>
        </p:nvSpPr>
        <p:spPr>
          <a:xfrm xmlns:a="http://schemas.openxmlformats.org/drawingml/2006/main">
            <a:off x="8953500" y="2238375"/>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7" name="">
            <a:extLst xmlns:a="http://schemas.openxmlformats.org/drawingml/2006/main">
              <a:ext uri="{FF2B5EF4-FFF2-40B4-BE49-F238E27FC236}">
                <a16:creationId xmlns:a16="http://schemas.microsoft.com/office/drawing/2014/main" id="{4DDAE237-7EAF-4C20-8FED-0ECF36020C81}"/>
              </a:ext>
            </a:extLst>
          </p:cNvPr>
          <p:cNvSpPr>
            <a:spLocks xmlns:a="http://schemas.openxmlformats.org/drawingml/2006/main" noGrp="1"/>
          </p:cNvSpPr>
          <p:nvPr/>
        </p:nvSpPr>
        <p:spPr>
          <a:xfrm xmlns:a="http://schemas.openxmlformats.org/drawingml/2006/main">
            <a:off x="9096375" y="2428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Finish</a:t>
            </a:r>
          </a:p>
        </p:txBody>
      </p:sp>
      <p:sp>
        <p:nvSpPr>
          <p:cNvPr id="18" name="">
            <a:extLst xmlns:a="http://schemas.openxmlformats.org/drawingml/2006/main">
              <a:ext uri="{FF2B5EF4-FFF2-40B4-BE49-F238E27FC236}">
                <a16:creationId xmlns:a16="http://schemas.microsoft.com/office/drawing/2014/main" id="{1444C53F-39D8-4C23-8359-C2362C6564E0}"/>
              </a:ext>
            </a:extLst>
          </p:cNvPr>
          <p:cNvSpPr>
            <a:spLocks xmlns:a="http://schemas.openxmlformats.org/drawingml/2006/main" noGrp="1"/>
          </p:cNvSpPr>
          <p:nvPr/>
        </p:nvSpPr>
        <p:spPr>
          <a:xfrm xmlns:a="http://schemas.openxmlformats.org/drawingml/2006/main">
            <a:off x="9096375" y="28384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Terminal status</a:t>
            </a:r>
          </a:p>
        </p:txBody>
      </p:sp>
      <p:sp>
        <p:nvSpPr>
          <p:cNvPr id="19" name="">
            <a:extLst xmlns:a="http://schemas.openxmlformats.org/drawingml/2006/main">
              <a:ext uri="{FF2B5EF4-FFF2-40B4-BE49-F238E27FC236}">
                <a16:creationId xmlns:a16="http://schemas.microsoft.com/office/drawing/2014/main" id="{3B0EA788-7F42-490A-8E43-D8579D5C0D4E}"/>
              </a:ext>
            </a:extLst>
          </p:cNvPr>
          <p:cNvSpPr>
            <a:spLocks xmlns:a="http://schemas.openxmlformats.org/drawingml/2006/main" noGrp="1"/>
          </p:cNvSpPr>
          <p:nvPr/>
        </p:nvSpPr>
        <p:spPr>
          <a:xfrm xmlns:a="http://schemas.openxmlformats.org/drawingml/2006/main">
            <a:off x="704850" y="40957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5AFC6"/>
                </a:solidFill>
                <a:latin typeface="Arial"/>
                <a:ea typeface="Arial"/>
                <a:cs typeface="Arial"/>
              </a:defRPr>
            </a:defPPr>
            <a:lvl1pPr>
              <a:defRPr sz="2250" b="0">
                <a:solidFill>
                  <a:srgbClr val="A5AFC6"/>
                </a:solidFill>
                <a:latin typeface="Arial"/>
                <a:ea typeface="Arial"/>
                <a:cs typeface="Arial"/>
              </a:defRPr>
            </a:lvl1pPr>
            <a:lvl2pPr>
              <a:defRPr sz="2250" b="0">
                <a:solidFill>
                  <a:srgbClr val="A5AFC6"/>
                </a:solidFill>
                <a:latin typeface="Arial"/>
                <a:ea typeface="Arial"/>
                <a:cs typeface="Arial"/>
              </a:defRPr>
            </a:lvl2pPr>
            <a:lvl3pPr>
              <a:defRPr sz="2250" b="0">
                <a:solidFill>
                  <a:srgbClr val="A5AFC6"/>
                </a:solidFill>
                <a:latin typeface="Arial"/>
                <a:ea typeface="Arial"/>
                <a:cs typeface="Arial"/>
              </a:defRPr>
            </a:lvl3pPr>
            <a:lvl4pPr>
              <a:defRPr sz="2250" b="0">
                <a:solidFill>
                  <a:srgbClr val="A5AFC6"/>
                </a:solidFill>
                <a:latin typeface="Arial"/>
                <a:ea typeface="Arial"/>
                <a:cs typeface="Arial"/>
              </a:defRPr>
            </a:lvl4pPr>
            <a:lvl5pPr>
              <a:defRPr sz="2250" b="0">
                <a:solidFill>
                  <a:srgbClr val="A5AFC6"/>
                </a:solidFill>
                <a:latin typeface="Arial"/>
                <a:ea typeface="Arial"/>
                <a:cs typeface="Arial"/>
              </a:defRPr>
            </a:lvl5pPr>
            <a:lvl6pPr>
              <a:defRPr sz="2250" b="0">
                <a:solidFill>
                  <a:srgbClr val="A5AFC6"/>
                </a:solidFill>
                <a:latin typeface="Arial"/>
                <a:ea typeface="Arial"/>
                <a:cs typeface="Arial"/>
              </a:defRPr>
            </a:lvl6pPr>
            <a:lvl7pPr>
              <a:defRPr sz="2250" b="0">
                <a:solidFill>
                  <a:srgbClr val="A5AFC6"/>
                </a:solidFill>
                <a:latin typeface="Arial"/>
                <a:ea typeface="Arial"/>
                <a:cs typeface="Arial"/>
              </a:defRPr>
            </a:lvl7pPr>
            <a:lvl8pPr>
              <a:defRPr sz="2250" b="0">
                <a:solidFill>
                  <a:srgbClr val="A5AFC6"/>
                </a:solidFill>
                <a:latin typeface="Arial"/>
                <a:ea typeface="Arial"/>
                <a:cs typeface="Arial"/>
              </a:defRPr>
            </a:lvl8pPr>
            <a:lvl9pPr>
              <a:defRPr sz="2250" b="0">
                <a:solidFill>
                  <a:srgbClr val="A5AFC6"/>
                </a:solidFill>
                <a:latin typeface="Arial"/>
                <a:ea typeface="Arial"/>
                <a:cs typeface="Arial"/>
              </a:defRPr>
            </a:lvl9pPr>
          </a:lstStyle>
          <a:p xmlns:a="http://schemas.openxmlformats.org/drawingml/2006/main">
            <a:pPr>
              <a:defRPr sz="2250" b="0">
                <a:solidFill>
                  <a:srgbClr val="A5AFC6"/>
                </a:solidFill>
                <a:latin typeface="Arial"/>
                <a:ea typeface="Arial"/>
                <a:cs typeface="Arial"/>
              </a:defRPr>
            </a:pPr>
            <a:r>
              <a:rPr sz="2250" b="0">
                <a:solidFill>
                  <a:srgbClr val="A5AFC6"/>
                </a:solidFill>
                <a:latin typeface="Arial"/>
                <a:ea typeface="Arial"/>
                <a:cs typeface="Arial"/>
              </a:rPr>
              <a:t>Cancellation fences later checkpoints. A 120-second deadline bounds the demo run.</a:t>
            </a:r>
          </a:p>
        </p:txBody>
      </p:sp>
    </p:spTree>
    <p:extLst>
      <p:ext uri="{BB962C8B-B14F-4D97-AF65-F5344CB8AC3E}">
        <p14:creationId xmlns:p14="http://schemas.microsoft.com/office/powerpoint/2010/main" val="1875244921"/>
      </p:ext>
    </p:extLst>
  </p:cSld>
</p:sld>
</file>

<file path=ppt/slides/slide11.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88A81F-6AFD-45A8-8EC3-829D0CB90707}"/>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FD641EE9-4C51-4BB9-83FA-50E6472CEDBD}"/>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Execution in the relational runtime</a:t>
            </a:r>
          </a:p>
        </p:txBody>
      </p:sp>
      <p:sp>
        <p:nvSpPr>
          <p:cNvPr id="3" name="">
            <a:extLst xmlns:a="http://schemas.openxmlformats.org/drawingml/2006/main">
              <a:ext uri="{FF2B5EF4-FFF2-40B4-BE49-F238E27FC236}">
                <a16:creationId xmlns:a16="http://schemas.microsoft.com/office/drawing/2014/main" id="{08022742-3FB6-4979-BB35-228724F2055C}"/>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3DC8DC3A-F8E7-41A1-8F6E-8357F72EEE6B}"/>
              </a:ext>
            </a:extLst>
          </p:cNvPr>
          <p:cNvSpPr>
            <a:spLocks xmlns:a="http://schemas.openxmlformats.org/drawingml/2006/main" noGrp="1"/>
          </p:cNvSpPr>
          <p:nvPr/>
        </p:nvSpPr>
        <p:spPr>
          <a:xfrm xmlns:a="http://schemas.openxmlformats.org/drawingml/2006/main">
            <a:off x="666750" y="17907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Atomic creation</a:t>
            </a:r>
          </a:p>
        </p:txBody>
      </p:sp>
      <p:sp>
        <p:nvSpPr>
          <p:cNvPr id="5" name="">
            <a:extLst xmlns:a="http://schemas.openxmlformats.org/drawingml/2006/main">
              <a:ext uri="{FF2B5EF4-FFF2-40B4-BE49-F238E27FC236}">
                <a16:creationId xmlns:a16="http://schemas.microsoft.com/office/drawing/2014/main" id="{09A42470-6F96-4A5D-97C2-B08E9EA24F5C}"/>
              </a:ext>
            </a:extLst>
          </p:cNvPr>
          <p:cNvSpPr>
            <a:spLocks xmlns:a="http://schemas.openxmlformats.org/drawingml/2006/main" noGrp="1"/>
          </p:cNvSpPr>
          <p:nvPr/>
        </p:nvSpPr>
        <p:spPr>
          <a:xfrm xmlns:a="http://schemas.openxmlformats.org/drawingml/2006/main">
            <a:off x="666750" y="22002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Execution and queued event are inserted in one database transaction.</a:t>
            </a:r>
          </a:p>
        </p:txBody>
      </p:sp>
      <p:sp>
        <p:nvSpPr>
          <p:cNvPr id="6" name="">
            <a:extLst xmlns:a="http://schemas.openxmlformats.org/drawingml/2006/main">
              <a:ext uri="{FF2B5EF4-FFF2-40B4-BE49-F238E27FC236}">
                <a16:creationId xmlns:a16="http://schemas.microsoft.com/office/drawing/2014/main" id="{7BCA336C-C140-4629-86DF-F3655B9C20D9}"/>
              </a:ext>
            </a:extLst>
          </p:cNvPr>
          <p:cNvSpPr>
            <a:spLocks xmlns:a="http://schemas.openxmlformats.org/drawingml/2006/main" noGrp="1"/>
          </p:cNvSpPr>
          <p:nvPr/>
        </p:nvSpPr>
        <p:spPr>
          <a:xfrm xmlns:a="http://schemas.openxmlformats.org/drawingml/2006/main">
            <a:off x="666750" y="32956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Lease and checkpoint</a:t>
            </a:r>
          </a:p>
        </p:txBody>
      </p:sp>
      <p:sp>
        <p:nvSpPr>
          <p:cNvPr id="7" name="">
            <a:extLst xmlns:a="http://schemas.openxmlformats.org/drawingml/2006/main">
              <a:ext uri="{FF2B5EF4-FFF2-40B4-BE49-F238E27FC236}">
                <a16:creationId xmlns:a16="http://schemas.microsoft.com/office/drawing/2014/main" id="{D3AD64E9-39C7-4648-8C20-9143AFC6053B}"/>
              </a:ext>
            </a:extLst>
          </p:cNvPr>
          <p:cNvSpPr>
            <a:spLocks xmlns:a="http://schemas.openxmlformats.org/drawingml/2006/main" noGrp="1"/>
          </p:cNvSpPr>
          <p:nvPr/>
        </p:nvSpPr>
        <p:spPr>
          <a:xfrm xmlns:a="http://schemas.openxmlformats.org/drawingml/2006/main">
            <a:off x="666750" y="370522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A worker checks claim ownership before persisting each result.</a:t>
            </a:r>
          </a:p>
        </p:txBody>
      </p:sp>
      <p:sp>
        <p:nvSpPr>
          <p:cNvPr id="8" name="">
            <a:extLst xmlns:a="http://schemas.openxmlformats.org/drawingml/2006/main">
              <a:ext uri="{FF2B5EF4-FFF2-40B4-BE49-F238E27FC236}">
                <a16:creationId xmlns:a16="http://schemas.microsoft.com/office/drawing/2014/main" id="{DB173AD7-D995-40CE-84C3-5513875B18FE}"/>
              </a:ext>
            </a:extLst>
          </p:cNvPr>
          <p:cNvSpPr>
            <a:spLocks xmlns:a="http://schemas.openxmlformats.org/drawingml/2006/main" noGrp="1"/>
          </p:cNvSpPr>
          <p:nvPr/>
        </p:nvSpPr>
        <p:spPr>
          <a:xfrm xmlns:a="http://schemas.openxmlformats.org/drawingml/2006/main">
            <a:off x="666750" y="4800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Bounded recovery</a:t>
            </a:r>
          </a:p>
        </p:txBody>
      </p:sp>
      <p:sp>
        <p:nvSpPr>
          <p:cNvPr id="9" name="">
            <a:extLst xmlns:a="http://schemas.openxmlformats.org/drawingml/2006/main">
              <a:ext uri="{FF2B5EF4-FFF2-40B4-BE49-F238E27FC236}">
                <a16:creationId xmlns:a16="http://schemas.microsoft.com/office/drawing/2014/main" id="{589E3452-2A0B-4665-BB30-D58BED751BBF}"/>
              </a:ext>
            </a:extLst>
          </p:cNvPr>
          <p:cNvSpPr>
            <a:spLocks xmlns:a="http://schemas.openxmlformats.org/drawingml/2006/main" noGrp="1"/>
          </p:cNvSpPr>
          <p:nvPr/>
        </p:nvSpPr>
        <p:spPr>
          <a:xfrm xmlns:a="http://schemas.openxmlformats.org/drawingml/2006/main">
            <a:off x="666750" y="52101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Expired leases requeue eligible work; repeated stale attempts fail rather than run forever.</a:t>
            </a:r>
          </a:p>
        </p:txBody>
      </p:sp>
    </p:spTree>
    <p:extLst>
      <p:ext uri="{BB962C8B-B14F-4D97-AF65-F5344CB8AC3E}">
        <p14:creationId xmlns:p14="http://schemas.microsoft.com/office/powerpoint/2010/main" val="155825685"/>
      </p:ext>
    </p:extLst>
  </p:cSld>
</p:sld>
</file>

<file path=ppt/slides/slide12.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8274AA-8D56-4C3F-8AC8-560856A41C01}"/>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53F15516-4766-4245-993E-2A93887E5561}"/>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Seven supported node types</a:t>
            </a:r>
          </a:p>
        </p:txBody>
      </p:sp>
      <p:sp>
        <p:nvSpPr>
          <p:cNvPr id="3" name="">
            <a:extLst xmlns:a="http://schemas.openxmlformats.org/drawingml/2006/main">
              <a:ext uri="{FF2B5EF4-FFF2-40B4-BE49-F238E27FC236}">
                <a16:creationId xmlns:a16="http://schemas.microsoft.com/office/drawing/2014/main" id="{483B4AE8-4A99-4905-BA64-E98C4B2A5E35}"/>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FFDBF9B9-95A9-4677-A303-8871406AD6A4}"/>
              </a:ext>
            </a:extLst>
          </p:cNvPr>
          <p:cNvSpPr>
            <a:spLocks xmlns:a="http://schemas.openxmlformats.org/drawingml/2006/main" noGrp="1"/>
          </p:cNvSpPr>
          <p:nvPr/>
        </p:nvSpPr>
        <p:spPr>
          <a:xfrm xmlns:a="http://schemas.openxmlformats.org/drawingml/2006/main">
            <a:off x="685800" y="1762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78BFA"/>
                </a:solidFill>
                <a:latin typeface="Arial"/>
                <a:ea typeface="Arial"/>
                <a:cs typeface="Arial"/>
              </a:defRPr>
            </a:defPPr>
            <a:lvl1pPr>
              <a:defRPr sz="1950" b="1">
                <a:solidFill>
                  <a:srgbClr val="A78BFA"/>
                </a:solidFill>
                <a:latin typeface="Arial"/>
                <a:ea typeface="Arial"/>
                <a:cs typeface="Arial"/>
              </a:defRPr>
            </a:lvl1pPr>
            <a:lvl2pPr>
              <a:defRPr sz="1950" b="1">
                <a:solidFill>
                  <a:srgbClr val="A78BFA"/>
                </a:solidFill>
                <a:latin typeface="Arial"/>
                <a:ea typeface="Arial"/>
                <a:cs typeface="Arial"/>
              </a:defRPr>
            </a:lvl2pPr>
            <a:lvl3pPr>
              <a:defRPr sz="1950" b="1">
                <a:solidFill>
                  <a:srgbClr val="A78BFA"/>
                </a:solidFill>
                <a:latin typeface="Arial"/>
                <a:ea typeface="Arial"/>
                <a:cs typeface="Arial"/>
              </a:defRPr>
            </a:lvl3pPr>
            <a:lvl4pPr>
              <a:defRPr sz="1950" b="1">
                <a:solidFill>
                  <a:srgbClr val="A78BFA"/>
                </a:solidFill>
                <a:latin typeface="Arial"/>
                <a:ea typeface="Arial"/>
                <a:cs typeface="Arial"/>
              </a:defRPr>
            </a:lvl4pPr>
            <a:lvl5pPr>
              <a:defRPr sz="1950" b="1">
                <a:solidFill>
                  <a:srgbClr val="A78BFA"/>
                </a:solidFill>
                <a:latin typeface="Arial"/>
                <a:ea typeface="Arial"/>
                <a:cs typeface="Arial"/>
              </a:defRPr>
            </a:lvl5pPr>
            <a:lvl6pPr>
              <a:defRPr sz="1950" b="1">
                <a:solidFill>
                  <a:srgbClr val="A78BFA"/>
                </a:solidFill>
                <a:latin typeface="Arial"/>
                <a:ea typeface="Arial"/>
                <a:cs typeface="Arial"/>
              </a:defRPr>
            </a:lvl6pPr>
            <a:lvl7pPr>
              <a:defRPr sz="1950" b="1">
                <a:solidFill>
                  <a:srgbClr val="A78BFA"/>
                </a:solidFill>
                <a:latin typeface="Arial"/>
                <a:ea typeface="Arial"/>
                <a:cs typeface="Arial"/>
              </a:defRPr>
            </a:lvl7pPr>
            <a:lvl8pPr>
              <a:defRPr sz="1950" b="1">
                <a:solidFill>
                  <a:srgbClr val="A78BFA"/>
                </a:solidFill>
                <a:latin typeface="Arial"/>
                <a:ea typeface="Arial"/>
                <a:cs typeface="Arial"/>
              </a:defRPr>
            </a:lvl8pPr>
            <a:lvl9pPr>
              <a:defRPr sz="1950" b="1">
                <a:solidFill>
                  <a:srgbClr val="A78BFA"/>
                </a:solidFill>
                <a:latin typeface="Arial"/>
                <a:ea typeface="Arial"/>
                <a:cs typeface="Arial"/>
              </a:defRPr>
            </a:lvl9pPr>
          </a:lstStyle>
          <a:p xmlns:a="http://schemas.openxmlformats.org/drawingml/2006/main">
            <a:pPr>
              <a:defRPr sz="1950" b="1">
                <a:solidFill>
                  <a:srgbClr val="A78BFA"/>
                </a:solidFill>
                <a:latin typeface="Arial"/>
                <a:ea typeface="Arial"/>
                <a:cs typeface="Arial"/>
              </a:defRPr>
            </a:pPr>
            <a:r>
              <a:rPr sz="1950" b="1">
                <a:solidFill>
                  <a:srgbClr val="A78BFA"/>
                </a:solidFill>
                <a:latin typeface="Arial"/>
                <a:ea typeface="Arial"/>
                <a:cs typeface="Arial"/>
              </a:rPr>
              <a:t>Start and shape</a:t>
            </a:r>
          </a:p>
        </p:txBody>
      </p:sp>
      <p:sp>
        <p:nvSpPr>
          <p:cNvPr id="5" name="">
            <a:extLst xmlns:a="http://schemas.openxmlformats.org/drawingml/2006/main">
              <a:ext uri="{FF2B5EF4-FFF2-40B4-BE49-F238E27FC236}">
                <a16:creationId xmlns:a16="http://schemas.microsoft.com/office/drawing/2014/main" id="{8561ADEE-09CB-4A5B-ADE4-6312ABD3BB44}"/>
              </a:ext>
            </a:extLst>
          </p:cNvPr>
          <p:cNvSpPr>
            <a:spLocks xmlns:a="http://schemas.openxmlformats.org/drawingml/2006/main" noGrp="1"/>
          </p:cNvSpPr>
          <p:nvPr/>
        </p:nvSpPr>
        <p:spPr>
          <a:xfrm xmlns:a="http://schemas.openxmlformats.org/drawingml/2006/main">
            <a:off x="685800" y="238125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A5AFC6"/>
                </a:solidFill>
                <a:latin typeface="Arial"/>
                <a:ea typeface="Arial"/>
                <a:cs typeface="Arial"/>
              </a:defRPr>
            </a:defPPr>
            <a:lvl1pPr>
              <a:defRPr sz="2175" b="0">
                <a:solidFill>
                  <a:srgbClr val="A5AFC6"/>
                </a:solidFill>
                <a:latin typeface="Arial"/>
                <a:ea typeface="Arial"/>
                <a:cs typeface="Arial"/>
              </a:defRPr>
            </a:lvl1pPr>
            <a:lvl2pPr>
              <a:defRPr sz="2175" b="0">
                <a:solidFill>
                  <a:srgbClr val="A5AFC6"/>
                </a:solidFill>
                <a:latin typeface="Arial"/>
                <a:ea typeface="Arial"/>
                <a:cs typeface="Arial"/>
              </a:defRPr>
            </a:lvl2pPr>
            <a:lvl3pPr>
              <a:defRPr sz="2175" b="0">
                <a:solidFill>
                  <a:srgbClr val="A5AFC6"/>
                </a:solidFill>
                <a:latin typeface="Arial"/>
                <a:ea typeface="Arial"/>
                <a:cs typeface="Arial"/>
              </a:defRPr>
            </a:lvl3pPr>
            <a:lvl4pPr>
              <a:defRPr sz="2175" b="0">
                <a:solidFill>
                  <a:srgbClr val="A5AFC6"/>
                </a:solidFill>
                <a:latin typeface="Arial"/>
                <a:ea typeface="Arial"/>
                <a:cs typeface="Arial"/>
              </a:defRPr>
            </a:lvl4pPr>
            <a:lvl5pPr>
              <a:defRPr sz="2175" b="0">
                <a:solidFill>
                  <a:srgbClr val="A5AFC6"/>
                </a:solidFill>
                <a:latin typeface="Arial"/>
                <a:ea typeface="Arial"/>
                <a:cs typeface="Arial"/>
              </a:defRPr>
            </a:lvl5pPr>
            <a:lvl6pPr>
              <a:defRPr sz="2175" b="0">
                <a:solidFill>
                  <a:srgbClr val="A5AFC6"/>
                </a:solidFill>
                <a:latin typeface="Arial"/>
                <a:ea typeface="Arial"/>
                <a:cs typeface="Arial"/>
              </a:defRPr>
            </a:lvl6pPr>
            <a:lvl7pPr>
              <a:defRPr sz="2175" b="0">
                <a:solidFill>
                  <a:srgbClr val="A5AFC6"/>
                </a:solidFill>
                <a:latin typeface="Arial"/>
                <a:ea typeface="Arial"/>
                <a:cs typeface="Arial"/>
              </a:defRPr>
            </a:lvl7pPr>
            <a:lvl8pPr>
              <a:defRPr sz="2175" b="0">
                <a:solidFill>
                  <a:srgbClr val="A5AFC6"/>
                </a:solidFill>
                <a:latin typeface="Arial"/>
                <a:ea typeface="Arial"/>
                <a:cs typeface="Arial"/>
              </a:defRPr>
            </a:lvl8pPr>
            <a:lvl9pPr>
              <a:defRPr sz="2175" b="0">
                <a:solidFill>
                  <a:srgbClr val="A5AFC6"/>
                </a:solidFill>
                <a:latin typeface="Arial"/>
                <a:ea typeface="Arial"/>
                <a:cs typeface="Arial"/>
              </a:defRPr>
            </a:lvl9pPr>
          </a:lstStyle>
          <a:p xmlns:a="http://schemas.openxmlformats.org/drawingml/2006/main">
            <a:pPr>
              <a:defRPr sz="2175" b="0">
                <a:solidFill>
                  <a:srgbClr val="A5AFC6"/>
                </a:solidFill>
                <a:latin typeface="Arial"/>
                <a:ea typeface="Arial"/>
                <a:cs typeface="Arial"/>
              </a:defRPr>
            </a:pPr>
            <a:r>
              <a:rPr sz="2175" b="0">
                <a:solidFill>
                  <a:srgbClr val="A5AFC6"/>
                </a:solidFill>
                <a:latin typeface="Arial"/>
                <a:ea typeface="Arial"/>
                <a:cs typeface="Arial"/>
              </a:rPr>
              <a:t>Manual trigger</a:t>
            </a:r>
          </a:p>
          <a:p xmlns:a="http://schemas.openxmlformats.org/drawingml/2006/main">
            <a:pPr>
              <a:defRPr sz="2175" b="0">
                <a:solidFill>
                  <a:srgbClr val="A5AFC6"/>
                </a:solidFill>
                <a:latin typeface="Arial"/>
                <a:ea typeface="Arial"/>
                <a:cs typeface="Arial"/>
              </a:defRPr>
            </a:pPr>
            <a:r>
              <a:rPr sz="2175" b="0">
                <a:solidFill>
                  <a:srgbClr val="A5AFC6"/>
                </a:solidFill>
                <a:latin typeface="Arial"/>
                <a:ea typeface="Arial"/>
                <a:cs typeface="Arial"/>
              </a:rPr>
              <a:t>JSON mapping</a:t>
            </a:r>
          </a:p>
          <a:p xmlns:a="http://schemas.openxmlformats.org/drawingml/2006/main">
            <a:pPr>
              <a:defRPr sz="2175" b="0">
                <a:solidFill>
                  <a:srgbClr val="A5AFC6"/>
                </a:solidFill>
                <a:latin typeface="Arial"/>
                <a:ea typeface="Arial"/>
                <a:cs typeface="Arial"/>
              </a:defRPr>
            </a:pPr>
            <a:r>
              <a:rPr sz="2175" b="0">
                <a:solidFill>
                  <a:srgbClr val="A5AFC6"/>
                </a:solidFill>
                <a:latin typeface="Arial"/>
                <a:ea typeface="Arial"/>
                <a:cs typeface="Arial"/>
              </a:rPr>
              <a:t>Collection: filter / pluck / take / count</a:t>
            </a:r>
          </a:p>
        </p:txBody>
      </p:sp>
      <p:sp>
        <p:nvSpPr>
          <p:cNvPr id="6" name="">
            <a:extLst xmlns:a="http://schemas.openxmlformats.org/drawingml/2006/main">
              <a:ext uri="{FF2B5EF4-FFF2-40B4-BE49-F238E27FC236}">
                <a16:creationId xmlns:a16="http://schemas.microsoft.com/office/drawing/2014/main" id="{563E5985-BC42-4A4A-99AB-01D0D5930069}"/>
              </a:ext>
            </a:extLst>
          </p:cNvPr>
          <p:cNvSpPr>
            <a:spLocks xmlns:a="http://schemas.openxmlformats.org/drawingml/2006/main" noGrp="1"/>
          </p:cNvSpPr>
          <p:nvPr/>
        </p:nvSpPr>
        <p:spPr>
          <a:xfrm xmlns:a="http://schemas.openxmlformats.org/drawingml/2006/main">
            <a:off x="6572250" y="1762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78BFA"/>
                </a:solidFill>
                <a:latin typeface="Arial"/>
                <a:ea typeface="Arial"/>
                <a:cs typeface="Arial"/>
              </a:defRPr>
            </a:defPPr>
            <a:lvl1pPr>
              <a:defRPr sz="1950" b="1">
                <a:solidFill>
                  <a:srgbClr val="A78BFA"/>
                </a:solidFill>
                <a:latin typeface="Arial"/>
                <a:ea typeface="Arial"/>
                <a:cs typeface="Arial"/>
              </a:defRPr>
            </a:lvl1pPr>
            <a:lvl2pPr>
              <a:defRPr sz="1950" b="1">
                <a:solidFill>
                  <a:srgbClr val="A78BFA"/>
                </a:solidFill>
                <a:latin typeface="Arial"/>
                <a:ea typeface="Arial"/>
                <a:cs typeface="Arial"/>
              </a:defRPr>
            </a:lvl2pPr>
            <a:lvl3pPr>
              <a:defRPr sz="1950" b="1">
                <a:solidFill>
                  <a:srgbClr val="A78BFA"/>
                </a:solidFill>
                <a:latin typeface="Arial"/>
                <a:ea typeface="Arial"/>
                <a:cs typeface="Arial"/>
              </a:defRPr>
            </a:lvl3pPr>
            <a:lvl4pPr>
              <a:defRPr sz="1950" b="1">
                <a:solidFill>
                  <a:srgbClr val="A78BFA"/>
                </a:solidFill>
                <a:latin typeface="Arial"/>
                <a:ea typeface="Arial"/>
                <a:cs typeface="Arial"/>
              </a:defRPr>
            </a:lvl4pPr>
            <a:lvl5pPr>
              <a:defRPr sz="1950" b="1">
                <a:solidFill>
                  <a:srgbClr val="A78BFA"/>
                </a:solidFill>
                <a:latin typeface="Arial"/>
                <a:ea typeface="Arial"/>
                <a:cs typeface="Arial"/>
              </a:defRPr>
            </a:lvl5pPr>
            <a:lvl6pPr>
              <a:defRPr sz="1950" b="1">
                <a:solidFill>
                  <a:srgbClr val="A78BFA"/>
                </a:solidFill>
                <a:latin typeface="Arial"/>
                <a:ea typeface="Arial"/>
                <a:cs typeface="Arial"/>
              </a:defRPr>
            </a:lvl6pPr>
            <a:lvl7pPr>
              <a:defRPr sz="1950" b="1">
                <a:solidFill>
                  <a:srgbClr val="A78BFA"/>
                </a:solidFill>
                <a:latin typeface="Arial"/>
                <a:ea typeface="Arial"/>
                <a:cs typeface="Arial"/>
              </a:defRPr>
            </a:lvl7pPr>
            <a:lvl8pPr>
              <a:defRPr sz="1950" b="1">
                <a:solidFill>
                  <a:srgbClr val="A78BFA"/>
                </a:solidFill>
                <a:latin typeface="Arial"/>
                <a:ea typeface="Arial"/>
                <a:cs typeface="Arial"/>
              </a:defRPr>
            </a:lvl8pPr>
            <a:lvl9pPr>
              <a:defRPr sz="1950" b="1">
                <a:solidFill>
                  <a:srgbClr val="A78BFA"/>
                </a:solidFill>
                <a:latin typeface="Arial"/>
                <a:ea typeface="Arial"/>
                <a:cs typeface="Arial"/>
              </a:defRPr>
            </a:lvl9pPr>
          </a:lstStyle>
          <a:p xmlns:a="http://schemas.openxmlformats.org/drawingml/2006/main">
            <a:pPr>
              <a:defRPr sz="1950" b="1">
                <a:solidFill>
                  <a:srgbClr val="A78BFA"/>
                </a:solidFill>
                <a:latin typeface="Arial"/>
                <a:ea typeface="Arial"/>
                <a:cs typeface="Arial"/>
              </a:defRPr>
            </a:pPr>
            <a:r>
              <a:rPr sz="1950" b="1">
                <a:solidFill>
                  <a:srgbClr val="A78BFA"/>
                </a:solidFill>
                <a:latin typeface="Arial"/>
                <a:ea typeface="Arial"/>
                <a:cs typeface="Arial"/>
              </a:rPr>
              <a:t>Control and intelligence</a:t>
            </a:r>
          </a:p>
        </p:txBody>
      </p:sp>
      <p:sp>
        <p:nvSpPr>
          <p:cNvPr id="7" name="">
            <a:extLst xmlns:a="http://schemas.openxmlformats.org/drawingml/2006/main">
              <a:ext uri="{FF2B5EF4-FFF2-40B4-BE49-F238E27FC236}">
                <a16:creationId xmlns:a16="http://schemas.microsoft.com/office/drawing/2014/main" id="{115A88CE-F71E-4E84-A2CC-A1C3D088066E}"/>
              </a:ext>
            </a:extLst>
          </p:cNvPr>
          <p:cNvSpPr>
            <a:spLocks xmlns:a="http://schemas.openxmlformats.org/drawingml/2006/main" noGrp="1"/>
          </p:cNvSpPr>
          <p:nvPr/>
        </p:nvSpPr>
        <p:spPr>
          <a:xfrm xmlns:a="http://schemas.openxmlformats.org/drawingml/2006/main">
            <a:off x="6572250" y="2381250"/>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A5AFC6"/>
                </a:solidFill>
                <a:latin typeface="Arial"/>
                <a:ea typeface="Arial"/>
                <a:cs typeface="Arial"/>
              </a:defRPr>
            </a:defPPr>
            <a:lvl1pPr>
              <a:defRPr sz="2175" b="0">
                <a:solidFill>
                  <a:srgbClr val="A5AFC6"/>
                </a:solidFill>
                <a:latin typeface="Arial"/>
                <a:ea typeface="Arial"/>
                <a:cs typeface="Arial"/>
              </a:defRPr>
            </a:lvl1pPr>
            <a:lvl2pPr>
              <a:defRPr sz="2175" b="0">
                <a:solidFill>
                  <a:srgbClr val="A5AFC6"/>
                </a:solidFill>
                <a:latin typeface="Arial"/>
                <a:ea typeface="Arial"/>
                <a:cs typeface="Arial"/>
              </a:defRPr>
            </a:lvl2pPr>
            <a:lvl3pPr>
              <a:defRPr sz="2175" b="0">
                <a:solidFill>
                  <a:srgbClr val="A5AFC6"/>
                </a:solidFill>
                <a:latin typeface="Arial"/>
                <a:ea typeface="Arial"/>
                <a:cs typeface="Arial"/>
              </a:defRPr>
            </a:lvl3pPr>
            <a:lvl4pPr>
              <a:defRPr sz="2175" b="0">
                <a:solidFill>
                  <a:srgbClr val="A5AFC6"/>
                </a:solidFill>
                <a:latin typeface="Arial"/>
                <a:ea typeface="Arial"/>
                <a:cs typeface="Arial"/>
              </a:defRPr>
            </a:lvl4pPr>
            <a:lvl5pPr>
              <a:defRPr sz="2175" b="0">
                <a:solidFill>
                  <a:srgbClr val="A5AFC6"/>
                </a:solidFill>
                <a:latin typeface="Arial"/>
                <a:ea typeface="Arial"/>
                <a:cs typeface="Arial"/>
              </a:defRPr>
            </a:lvl5pPr>
            <a:lvl6pPr>
              <a:defRPr sz="2175" b="0">
                <a:solidFill>
                  <a:srgbClr val="A5AFC6"/>
                </a:solidFill>
                <a:latin typeface="Arial"/>
                <a:ea typeface="Arial"/>
                <a:cs typeface="Arial"/>
              </a:defRPr>
            </a:lvl6pPr>
            <a:lvl7pPr>
              <a:defRPr sz="2175" b="0">
                <a:solidFill>
                  <a:srgbClr val="A5AFC6"/>
                </a:solidFill>
                <a:latin typeface="Arial"/>
                <a:ea typeface="Arial"/>
                <a:cs typeface="Arial"/>
              </a:defRPr>
            </a:lvl7pPr>
            <a:lvl8pPr>
              <a:defRPr sz="2175" b="0">
                <a:solidFill>
                  <a:srgbClr val="A5AFC6"/>
                </a:solidFill>
                <a:latin typeface="Arial"/>
                <a:ea typeface="Arial"/>
                <a:cs typeface="Arial"/>
              </a:defRPr>
            </a:lvl8pPr>
            <a:lvl9pPr>
              <a:defRPr sz="2175" b="0">
                <a:solidFill>
                  <a:srgbClr val="A5AFC6"/>
                </a:solidFill>
                <a:latin typeface="Arial"/>
                <a:ea typeface="Arial"/>
                <a:cs typeface="Arial"/>
              </a:defRPr>
            </a:lvl9pPr>
          </a:lstStyle>
          <a:p xmlns:a="http://schemas.openxmlformats.org/drawingml/2006/main">
            <a:pPr>
              <a:defRPr sz="2175" b="0">
                <a:solidFill>
                  <a:srgbClr val="A5AFC6"/>
                </a:solidFill>
                <a:latin typeface="Arial"/>
                <a:ea typeface="Arial"/>
                <a:cs typeface="Arial"/>
              </a:defRPr>
            </a:pPr>
            <a:r>
              <a:rPr sz="2175" b="0">
                <a:solidFill>
                  <a:srgbClr val="A5AFC6"/>
                </a:solidFill>
                <a:latin typeface="Arial"/>
                <a:ea typeface="Arial"/>
                <a:cs typeface="Arial"/>
              </a:rPr>
              <a:t>Condition: true / false</a:t>
            </a:r>
          </a:p>
          <a:p xmlns:a="http://schemas.openxmlformats.org/drawingml/2006/main">
            <a:pPr>
              <a:defRPr sz="2175" b="0">
                <a:solidFill>
                  <a:srgbClr val="A5AFC6"/>
                </a:solidFill>
                <a:latin typeface="Arial"/>
                <a:ea typeface="Arial"/>
                <a:cs typeface="Arial"/>
              </a:defRPr>
            </a:pPr>
            <a:r>
              <a:rPr sz="2175" b="0">
                <a:solidFill>
                  <a:srgbClr val="A5AFC6"/>
                </a:solidFill>
                <a:latin typeface="Arial"/>
                <a:ea typeface="Arial"/>
                <a:cs typeface="Arial"/>
              </a:rPr>
              <a:t>Delay: up to 10 seconds</a:t>
            </a:r>
          </a:p>
          <a:p xmlns:a="http://schemas.openxmlformats.org/drawingml/2006/main">
            <a:pPr>
              <a:defRPr sz="2175" b="0">
                <a:solidFill>
                  <a:srgbClr val="A5AFC6"/>
                </a:solidFill>
                <a:latin typeface="Arial"/>
                <a:ea typeface="Arial"/>
                <a:cs typeface="Arial"/>
              </a:defRPr>
            </a:pPr>
            <a:r>
              <a:rPr sz="2175" b="0">
                <a:solidFill>
                  <a:srgbClr val="A5AFC6"/>
                </a:solidFill>
                <a:latin typeface="Arial"/>
                <a:ea typeface="Arial"/>
                <a:cs typeface="Arial"/>
              </a:rPr>
              <a:t>Assert: enforce data requirements</a:t>
            </a:r>
          </a:p>
          <a:p xmlns:a="http://schemas.openxmlformats.org/drawingml/2006/main">
            <a:pPr>
              <a:defRPr sz="2175" b="0">
                <a:solidFill>
                  <a:srgbClr val="A5AFC6"/>
                </a:solidFill>
                <a:latin typeface="Arial"/>
                <a:ea typeface="Arial"/>
                <a:cs typeface="Arial"/>
              </a:defRPr>
            </a:pPr>
            <a:r>
              <a:rPr sz="2175" b="0">
                <a:solidFill>
                  <a:srgbClr val="A5AFC6"/>
                </a:solidFill>
                <a:latin typeface="Arial"/>
                <a:ea typeface="Arial"/>
                <a:cs typeface="Arial"/>
              </a:rPr>
              <a:t>AI completion: configured provider</a:t>
            </a:r>
          </a:p>
        </p:txBody>
      </p:sp>
      <p:sp>
        <p:nvSpPr>
          <p:cNvPr id="8" name="">
            <a:extLst xmlns:a="http://schemas.openxmlformats.org/drawingml/2006/main">
              <a:ext uri="{FF2B5EF4-FFF2-40B4-BE49-F238E27FC236}">
                <a16:creationId xmlns:a16="http://schemas.microsoft.com/office/drawing/2014/main" id="{E01EBD4B-972E-47BF-B152-1725EF73572F}"/>
              </a:ext>
            </a:extLst>
          </p:cNvPr>
          <p:cNvSpPr>
            <a:spLocks xmlns:a="http://schemas.openxmlformats.org/drawingml/2006/main" noGrp="1"/>
          </p:cNvSpPr>
          <p:nvPr/>
        </p:nvSpPr>
        <p:spPr>
          <a:xfrm xmlns:a="http://schemas.openxmlformats.org/drawingml/2006/main">
            <a:off x="685800" y="56959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7D8E8"/>
                </a:solidFill>
                <a:latin typeface="Arial"/>
                <a:ea typeface="Arial"/>
                <a:cs typeface="Arial"/>
              </a:defRPr>
            </a:defPPr>
            <a:lvl1pPr>
              <a:defRPr sz="1650" b="0">
                <a:solidFill>
                  <a:srgbClr val="67D8E8"/>
                </a:solidFill>
                <a:latin typeface="Arial"/>
                <a:ea typeface="Arial"/>
                <a:cs typeface="Arial"/>
              </a:defRPr>
            </a:lvl1pPr>
            <a:lvl2pPr>
              <a:defRPr sz="1650" b="0">
                <a:solidFill>
                  <a:srgbClr val="67D8E8"/>
                </a:solidFill>
                <a:latin typeface="Arial"/>
                <a:ea typeface="Arial"/>
                <a:cs typeface="Arial"/>
              </a:defRPr>
            </a:lvl2pPr>
            <a:lvl3pPr>
              <a:defRPr sz="1650" b="0">
                <a:solidFill>
                  <a:srgbClr val="67D8E8"/>
                </a:solidFill>
                <a:latin typeface="Arial"/>
                <a:ea typeface="Arial"/>
                <a:cs typeface="Arial"/>
              </a:defRPr>
            </a:lvl3pPr>
            <a:lvl4pPr>
              <a:defRPr sz="1650" b="0">
                <a:solidFill>
                  <a:srgbClr val="67D8E8"/>
                </a:solidFill>
                <a:latin typeface="Arial"/>
                <a:ea typeface="Arial"/>
                <a:cs typeface="Arial"/>
              </a:defRPr>
            </a:lvl4pPr>
            <a:lvl5pPr>
              <a:defRPr sz="1650" b="0">
                <a:solidFill>
                  <a:srgbClr val="67D8E8"/>
                </a:solidFill>
                <a:latin typeface="Arial"/>
                <a:ea typeface="Arial"/>
                <a:cs typeface="Arial"/>
              </a:defRPr>
            </a:lvl5pPr>
            <a:lvl6pPr>
              <a:defRPr sz="1650" b="0">
                <a:solidFill>
                  <a:srgbClr val="67D8E8"/>
                </a:solidFill>
                <a:latin typeface="Arial"/>
                <a:ea typeface="Arial"/>
                <a:cs typeface="Arial"/>
              </a:defRPr>
            </a:lvl6pPr>
            <a:lvl7pPr>
              <a:defRPr sz="1650" b="0">
                <a:solidFill>
                  <a:srgbClr val="67D8E8"/>
                </a:solidFill>
                <a:latin typeface="Arial"/>
                <a:ea typeface="Arial"/>
                <a:cs typeface="Arial"/>
              </a:defRPr>
            </a:lvl7pPr>
            <a:lvl8pPr>
              <a:defRPr sz="1650" b="0">
                <a:solidFill>
                  <a:srgbClr val="67D8E8"/>
                </a:solidFill>
                <a:latin typeface="Arial"/>
                <a:ea typeface="Arial"/>
                <a:cs typeface="Arial"/>
              </a:defRPr>
            </a:lvl8pPr>
            <a:lvl9pPr>
              <a:defRPr sz="1650" b="0">
                <a:solidFill>
                  <a:srgbClr val="67D8E8"/>
                </a:solidFill>
                <a:latin typeface="Arial"/>
                <a:ea typeface="Arial"/>
                <a:cs typeface="Arial"/>
              </a:defRPr>
            </a:lvl9pPr>
          </a:lstStyle>
          <a:p xmlns:a="http://schemas.openxmlformats.org/drawingml/2006/main">
            <a:pPr>
              <a:defRPr sz="1650" b="0">
                <a:solidFill>
                  <a:srgbClr val="67D8E8"/>
                </a:solidFill>
                <a:latin typeface="Arial"/>
                <a:ea typeface="Arial"/>
                <a:cs typeface="Arial"/>
              </a:defRPr>
            </a:pPr>
            <a:r>
              <a:rPr sz="1650" b="0">
                <a:solidFill>
                  <a:srgbClr val="67D8E8"/>
                </a:solidFill>
                <a:latin typeface="Arial"/>
                <a:ea typeface="Arial"/>
                <a:cs typeface="Arial"/>
              </a:rPr>
              <a:t>No arbitrary code execution or generic HTTP side effects are exposed.</a:t>
            </a:r>
          </a:p>
        </p:txBody>
      </p:sp>
    </p:spTree>
    <p:extLst>
      <p:ext uri="{BB962C8B-B14F-4D97-AF65-F5344CB8AC3E}">
        <p14:creationId xmlns:p14="http://schemas.microsoft.com/office/powerpoint/2010/main" val="700459166"/>
      </p:ext>
    </p:extLst>
  </p:cSld>
</p:sld>
</file>

<file path=ppt/slides/slide13.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B45783-EBAE-4DB1-A6E7-B4B66A095FD1}"/>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A70C6E1B-5EF8-4192-A6A8-9B3A10947880}"/>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Data moves through explicit contracts</a:t>
            </a:r>
          </a:p>
        </p:txBody>
      </p:sp>
      <p:sp>
        <p:nvSpPr>
          <p:cNvPr id="3" name="">
            <a:extLst xmlns:a="http://schemas.openxmlformats.org/drawingml/2006/main">
              <a:ext uri="{FF2B5EF4-FFF2-40B4-BE49-F238E27FC236}">
                <a16:creationId xmlns:a16="http://schemas.microsoft.com/office/drawing/2014/main" id="{3891AE1E-627F-4C87-8B62-9A1A12D1ABEF}"/>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21921FF-D5E8-45C9-A9E1-E3AC89F2A769}"/>
              </a:ext>
            </a:extLst>
          </p:cNvPr>
          <p:cNvSpPr>
            <a:spLocks xmlns:a="http://schemas.openxmlformats.org/drawingml/2006/main" noGrp="1"/>
          </p:cNvSpPr>
          <p:nvPr/>
        </p:nvSpPr>
        <p:spPr>
          <a:xfrm xmlns:a="http://schemas.openxmlformats.org/drawingml/2006/main">
            <a:off x="685800" y="1714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78BFA"/>
                </a:solidFill>
                <a:latin typeface="Arial"/>
                <a:ea typeface="Arial"/>
                <a:cs typeface="Arial"/>
              </a:defRPr>
            </a:defPPr>
            <a:lvl1pPr>
              <a:defRPr sz="1950" b="1">
                <a:solidFill>
                  <a:srgbClr val="A78BFA"/>
                </a:solidFill>
                <a:latin typeface="Arial"/>
                <a:ea typeface="Arial"/>
                <a:cs typeface="Arial"/>
              </a:defRPr>
            </a:lvl1pPr>
            <a:lvl2pPr>
              <a:defRPr sz="1950" b="1">
                <a:solidFill>
                  <a:srgbClr val="A78BFA"/>
                </a:solidFill>
                <a:latin typeface="Arial"/>
                <a:ea typeface="Arial"/>
                <a:cs typeface="Arial"/>
              </a:defRPr>
            </a:lvl2pPr>
            <a:lvl3pPr>
              <a:defRPr sz="1950" b="1">
                <a:solidFill>
                  <a:srgbClr val="A78BFA"/>
                </a:solidFill>
                <a:latin typeface="Arial"/>
                <a:ea typeface="Arial"/>
                <a:cs typeface="Arial"/>
              </a:defRPr>
            </a:lvl3pPr>
            <a:lvl4pPr>
              <a:defRPr sz="1950" b="1">
                <a:solidFill>
                  <a:srgbClr val="A78BFA"/>
                </a:solidFill>
                <a:latin typeface="Arial"/>
                <a:ea typeface="Arial"/>
                <a:cs typeface="Arial"/>
              </a:defRPr>
            </a:lvl4pPr>
            <a:lvl5pPr>
              <a:defRPr sz="1950" b="1">
                <a:solidFill>
                  <a:srgbClr val="A78BFA"/>
                </a:solidFill>
                <a:latin typeface="Arial"/>
                <a:ea typeface="Arial"/>
                <a:cs typeface="Arial"/>
              </a:defRPr>
            </a:lvl5pPr>
            <a:lvl6pPr>
              <a:defRPr sz="1950" b="1">
                <a:solidFill>
                  <a:srgbClr val="A78BFA"/>
                </a:solidFill>
                <a:latin typeface="Arial"/>
                <a:ea typeface="Arial"/>
                <a:cs typeface="Arial"/>
              </a:defRPr>
            </a:lvl6pPr>
            <a:lvl7pPr>
              <a:defRPr sz="1950" b="1">
                <a:solidFill>
                  <a:srgbClr val="A78BFA"/>
                </a:solidFill>
                <a:latin typeface="Arial"/>
                <a:ea typeface="Arial"/>
                <a:cs typeface="Arial"/>
              </a:defRPr>
            </a:lvl7pPr>
            <a:lvl8pPr>
              <a:defRPr sz="1950" b="1">
                <a:solidFill>
                  <a:srgbClr val="A78BFA"/>
                </a:solidFill>
                <a:latin typeface="Arial"/>
                <a:ea typeface="Arial"/>
                <a:cs typeface="Arial"/>
              </a:defRPr>
            </a:lvl8pPr>
            <a:lvl9pPr>
              <a:defRPr sz="1950" b="1">
                <a:solidFill>
                  <a:srgbClr val="A78BFA"/>
                </a:solidFill>
                <a:latin typeface="Arial"/>
                <a:ea typeface="Arial"/>
                <a:cs typeface="Arial"/>
              </a:defRPr>
            </a:lvl9pPr>
          </a:lstStyle>
          <a:p xmlns:a="http://schemas.openxmlformats.org/drawingml/2006/main">
            <a:pPr>
              <a:defRPr sz="1950" b="1">
                <a:solidFill>
                  <a:srgbClr val="A78BFA"/>
                </a:solidFill>
                <a:latin typeface="Arial"/>
                <a:ea typeface="Arial"/>
                <a:cs typeface="Arial"/>
              </a:defRPr>
            </a:pPr>
            <a:r>
              <a:rPr sz="1950" b="1">
                <a:solidFill>
                  <a:srgbClr val="A78BFA"/>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2300A35C-2602-4939-B35E-32D87FB1E346}"/>
              </a:ext>
            </a:extLst>
          </p:cNvPr>
          <p:cNvSpPr>
            <a:spLocks xmlns:a="http://schemas.openxmlformats.org/drawingml/2006/main" noGrp="1"/>
          </p:cNvSpPr>
          <p:nvPr/>
        </p:nvSpPr>
        <p:spPr>
          <a:xfrm xmlns:a="http://schemas.openxmlformats.org/drawingml/2006/main">
            <a:off x="685800" y="22860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A5AFC6"/>
                </a:solidFill>
                <a:latin typeface="Arial"/>
                <a:ea typeface="Arial"/>
                <a:cs typeface="Arial"/>
              </a:defRPr>
            </a:defPPr>
            <a:lvl1pPr>
              <a:defRPr sz="2025" b="0">
                <a:solidFill>
                  <a:srgbClr val="A5AFC6"/>
                </a:solidFill>
                <a:latin typeface="Arial"/>
                <a:ea typeface="Arial"/>
                <a:cs typeface="Arial"/>
              </a:defRPr>
            </a:lvl1pPr>
            <a:lvl2pPr>
              <a:defRPr sz="2025" b="0">
                <a:solidFill>
                  <a:srgbClr val="A5AFC6"/>
                </a:solidFill>
                <a:latin typeface="Arial"/>
                <a:ea typeface="Arial"/>
                <a:cs typeface="Arial"/>
              </a:defRPr>
            </a:lvl2pPr>
            <a:lvl3pPr>
              <a:defRPr sz="2025" b="0">
                <a:solidFill>
                  <a:srgbClr val="A5AFC6"/>
                </a:solidFill>
                <a:latin typeface="Arial"/>
                <a:ea typeface="Arial"/>
                <a:cs typeface="Arial"/>
              </a:defRPr>
            </a:lvl3pPr>
            <a:lvl4pPr>
              <a:defRPr sz="2025" b="0">
                <a:solidFill>
                  <a:srgbClr val="A5AFC6"/>
                </a:solidFill>
                <a:latin typeface="Arial"/>
                <a:ea typeface="Arial"/>
                <a:cs typeface="Arial"/>
              </a:defRPr>
            </a:lvl4pPr>
            <a:lvl5pPr>
              <a:defRPr sz="2025" b="0">
                <a:solidFill>
                  <a:srgbClr val="A5AFC6"/>
                </a:solidFill>
                <a:latin typeface="Arial"/>
                <a:ea typeface="Arial"/>
                <a:cs typeface="Arial"/>
              </a:defRPr>
            </a:lvl5pPr>
            <a:lvl6pPr>
              <a:defRPr sz="2025" b="0">
                <a:solidFill>
                  <a:srgbClr val="A5AFC6"/>
                </a:solidFill>
                <a:latin typeface="Arial"/>
                <a:ea typeface="Arial"/>
                <a:cs typeface="Arial"/>
              </a:defRPr>
            </a:lvl6pPr>
            <a:lvl7pPr>
              <a:defRPr sz="2025" b="0">
                <a:solidFill>
                  <a:srgbClr val="A5AFC6"/>
                </a:solidFill>
                <a:latin typeface="Arial"/>
                <a:ea typeface="Arial"/>
                <a:cs typeface="Arial"/>
              </a:defRPr>
            </a:lvl7pPr>
            <a:lvl8pPr>
              <a:defRPr sz="2025" b="0">
                <a:solidFill>
                  <a:srgbClr val="A5AFC6"/>
                </a:solidFill>
                <a:latin typeface="Arial"/>
                <a:ea typeface="Arial"/>
                <a:cs typeface="Arial"/>
              </a:defRPr>
            </a:lvl8pPr>
            <a:lvl9pPr>
              <a:defRPr sz="2025" b="0">
                <a:solidFill>
                  <a:srgbClr val="A5AFC6"/>
                </a:solidFill>
                <a:latin typeface="Arial"/>
                <a:ea typeface="Arial"/>
                <a:cs typeface="Arial"/>
              </a:defRPr>
            </a:lvl9pPr>
          </a:lstStyle>
          <a:p xmlns:a="http://schemas.openxmlformats.org/drawingml/2006/main">
            <a:pPr>
              <a:defRPr sz="2025" b="0">
                <a:solidFill>
                  <a:srgbClr val="A5AFC6"/>
                </a:solidFill>
                <a:latin typeface="Arial"/>
                <a:ea typeface="Arial"/>
                <a:cs typeface="Arial"/>
              </a:defRPr>
            </a:pPr>
            <a:r>
              <a:rPr sz="2025" b="0">
                <a:solidFill>
                  <a:srgbClr val="A5AFC6"/>
                </a:solidFill>
                <a:latin typeface="Arial"/>
                <a:ea typeface="Arial"/>
                <a:cs typeface="Arial"/>
              </a:rPr>
              <a:t>{ "message": "Hello",</a:t>
            </a:r>
          </a:p>
          <a:p xmlns:a="http://schemas.openxmlformats.org/drawingml/2006/main">
            <a:pPr>
              <a:defRPr sz="2025" b="0">
                <a:solidFill>
                  <a:srgbClr val="A5AFC6"/>
                </a:solidFill>
                <a:latin typeface="Arial"/>
                <a:ea typeface="Arial"/>
                <a:cs typeface="Arial"/>
              </a:defRPr>
            </a:pPr>
            <a:r>
              <a:rPr sz="2025" b="0">
                <a:solidFill>
                  <a:srgbClr val="A5AFC6"/>
                </a:solidFill>
                <a:latin typeface="Arial"/>
                <a:ea typeface="Arial"/>
                <a:cs typeface="Arial"/>
              </a:rPr>
              <a:t>  "priority": "high" }</a:t>
            </a:r>
          </a:p>
        </p:txBody>
      </p:sp>
      <p:sp>
        <p:nvSpPr>
          <p:cNvPr id="6" name="">
            <a:extLst xmlns:a="http://schemas.openxmlformats.org/drawingml/2006/main">
              <a:ext uri="{FF2B5EF4-FFF2-40B4-BE49-F238E27FC236}">
                <a16:creationId xmlns:a16="http://schemas.microsoft.com/office/drawing/2014/main" id="{604EEA88-F693-470A-A42A-B97BE45C8A5E}"/>
              </a:ext>
            </a:extLst>
          </p:cNvPr>
          <p:cNvSpPr>
            <a:spLocks xmlns:a="http://schemas.openxmlformats.org/drawingml/2006/main" noGrp="1"/>
          </p:cNvSpPr>
          <p:nvPr/>
        </p:nvSpPr>
        <p:spPr>
          <a:xfrm xmlns:a="http://schemas.openxmlformats.org/drawingml/2006/main">
            <a:off x="6572250" y="1714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78BFA"/>
                </a:solidFill>
                <a:latin typeface="Arial"/>
                <a:ea typeface="Arial"/>
                <a:cs typeface="Arial"/>
              </a:defRPr>
            </a:defPPr>
            <a:lvl1pPr>
              <a:defRPr sz="1950" b="1">
                <a:solidFill>
                  <a:srgbClr val="A78BFA"/>
                </a:solidFill>
                <a:latin typeface="Arial"/>
                <a:ea typeface="Arial"/>
                <a:cs typeface="Arial"/>
              </a:defRPr>
            </a:lvl1pPr>
            <a:lvl2pPr>
              <a:defRPr sz="1950" b="1">
                <a:solidFill>
                  <a:srgbClr val="A78BFA"/>
                </a:solidFill>
                <a:latin typeface="Arial"/>
                <a:ea typeface="Arial"/>
                <a:cs typeface="Arial"/>
              </a:defRPr>
            </a:lvl2pPr>
            <a:lvl3pPr>
              <a:defRPr sz="1950" b="1">
                <a:solidFill>
                  <a:srgbClr val="A78BFA"/>
                </a:solidFill>
                <a:latin typeface="Arial"/>
                <a:ea typeface="Arial"/>
                <a:cs typeface="Arial"/>
              </a:defRPr>
            </a:lvl3pPr>
            <a:lvl4pPr>
              <a:defRPr sz="1950" b="1">
                <a:solidFill>
                  <a:srgbClr val="A78BFA"/>
                </a:solidFill>
                <a:latin typeface="Arial"/>
                <a:ea typeface="Arial"/>
                <a:cs typeface="Arial"/>
              </a:defRPr>
            </a:lvl4pPr>
            <a:lvl5pPr>
              <a:defRPr sz="1950" b="1">
                <a:solidFill>
                  <a:srgbClr val="A78BFA"/>
                </a:solidFill>
                <a:latin typeface="Arial"/>
                <a:ea typeface="Arial"/>
                <a:cs typeface="Arial"/>
              </a:defRPr>
            </a:lvl5pPr>
            <a:lvl6pPr>
              <a:defRPr sz="1950" b="1">
                <a:solidFill>
                  <a:srgbClr val="A78BFA"/>
                </a:solidFill>
                <a:latin typeface="Arial"/>
                <a:ea typeface="Arial"/>
                <a:cs typeface="Arial"/>
              </a:defRPr>
            </a:lvl6pPr>
            <a:lvl7pPr>
              <a:defRPr sz="1950" b="1">
                <a:solidFill>
                  <a:srgbClr val="A78BFA"/>
                </a:solidFill>
                <a:latin typeface="Arial"/>
                <a:ea typeface="Arial"/>
                <a:cs typeface="Arial"/>
              </a:defRPr>
            </a:lvl7pPr>
            <a:lvl8pPr>
              <a:defRPr sz="1950" b="1">
                <a:solidFill>
                  <a:srgbClr val="A78BFA"/>
                </a:solidFill>
                <a:latin typeface="Arial"/>
                <a:ea typeface="Arial"/>
                <a:cs typeface="Arial"/>
              </a:defRPr>
            </a:lvl8pPr>
            <a:lvl9pPr>
              <a:defRPr sz="1950" b="1">
                <a:solidFill>
                  <a:srgbClr val="A78BFA"/>
                </a:solidFill>
                <a:latin typeface="Arial"/>
                <a:ea typeface="Arial"/>
                <a:cs typeface="Arial"/>
              </a:defRPr>
            </a:lvl9pPr>
          </a:lstStyle>
          <a:p xmlns:a="http://schemas.openxmlformats.org/drawingml/2006/main">
            <a:pPr>
              <a:defRPr sz="1950" b="1">
                <a:solidFill>
                  <a:srgbClr val="A78BFA"/>
                </a:solidFill>
                <a:latin typeface="Arial"/>
                <a:ea typeface="Arial"/>
                <a:cs typeface="Arial"/>
              </a:defRPr>
            </a:pPr>
            <a:r>
              <a:rPr sz="1950" b="1">
                <a:solidFill>
                  <a:srgbClr val="A78BFA"/>
                </a:solidFill>
                <a:latin typeface="Arial"/>
                <a:ea typeface="Arial"/>
                <a:cs typeface="Arial"/>
              </a:rPr>
              <a:t>Mapping</a:t>
            </a:r>
          </a:p>
        </p:txBody>
      </p:sp>
      <p:sp>
        <p:nvSpPr>
          <p:cNvPr id="7" name="">
            <a:extLst xmlns:a="http://schemas.openxmlformats.org/drawingml/2006/main">
              <a:ext uri="{FF2B5EF4-FFF2-40B4-BE49-F238E27FC236}">
                <a16:creationId xmlns:a16="http://schemas.microsoft.com/office/drawing/2014/main" id="{3811EB78-F214-4D90-803C-9D60DD41B48C}"/>
              </a:ext>
            </a:extLst>
          </p:cNvPr>
          <p:cNvSpPr>
            <a:spLocks xmlns:a="http://schemas.openxmlformats.org/drawingml/2006/main" noGrp="1"/>
          </p:cNvSpPr>
          <p:nvPr/>
        </p:nvSpPr>
        <p:spPr>
          <a:xfrm xmlns:a="http://schemas.openxmlformats.org/drawingml/2006/main">
            <a:off x="6572250" y="22860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A5AFC6"/>
                </a:solidFill>
                <a:latin typeface="Arial"/>
                <a:ea typeface="Arial"/>
                <a:cs typeface="Arial"/>
              </a:defRPr>
            </a:defPPr>
            <a:lvl1pPr>
              <a:defRPr sz="2025" b="0">
                <a:solidFill>
                  <a:srgbClr val="A5AFC6"/>
                </a:solidFill>
                <a:latin typeface="Arial"/>
                <a:ea typeface="Arial"/>
                <a:cs typeface="Arial"/>
              </a:defRPr>
            </a:lvl1pPr>
            <a:lvl2pPr>
              <a:defRPr sz="2025" b="0">
                <a:solidFill>
                  <a:srgbClr val="A5AFC6"/>
                </a:solidFill>
                <a:latin typeface="Arial"/>
                <a:ea typeface="Arial"/>
                <a:cs typeface="Arial"/>
              </a:defRPr>
            </a:lvl2pPr>
            <a:lvl3pPr>
              <a:defRPr sz="2025" b="0">
                <a:solidFill>
                  <a:srgbClr val="A5AFC6"/>
                </a:solidFill>
                <a:latin typeface="Arial"/>
                <a:ea typeface="Arial"/>
                <a:cs typeface="Arial"/>
              </a:defRPr>
            </a:lvl3pPr>
            <a:lvl4pPr>
              <a:defRPr sz="2025" b="0">
                <a:solidFill>
                  <a:srgbClr val="A5AFC6"/>
                </a:solidFill>
                <a:latin typeface="Arial"/>
                <a:ea typeface="Arial"/>
                <a:cs typeface="Arial"/>
              </a:defRPr>
            </a:lvl4pPr>
            <a:lvl5pPr>
              <a:defRPr sz="2025" b="0">
                <a:solidFill>
                  <a:srgbClr val="A5AFC6"/>
                </a:solidFill>
                <a:latin typeface="Arial"/>
                <a:ea typeface="Arial"/>
                <a:cs typeface="Arial"/>
              </a:defRPr>
            </a:lvl5pPr>
            <a:lvl6pPr>
              <a:defRPr sz="2025" b="0">
                <a:solidFill>
                  <a:srgbClr val="A5AFC6"/>
                </a:solidFill>
                <a:latin typeface="Arial"/>
                <a:ea typeface="Arial"/>
                <a:cs typeface="Arial"/>
              </a:defRPr>
            </a:lvl6pPr>
            <a:lvl7pPr>
              <a:defRPr sz="2025" b="0">
                <a:solidFill>
                  <a:srgbClr val="A5AFC6"/>
                </a:solidFill>
                <a:latin typeface="Arial"/>
                <a:ea typeface="Arial"/>
                <a:cs typeface="Arial"/>
              </a:defRPr>
            </a:lvl7pPr>
            <a:lvl8pPr>
              <a:defRPr sz="2025" b="0">
                <a:solidFill>
                  <a:srgbClr val="A5AFC6"/>
                </a:solidFill>
                <a:latin typeface="Arial"/>
                <a:ea typeface="Arial"/>
                <a:cs typeface="Arial"/>
              </a:defRPr>
            </a:lvl8pPr>
            <a:lvl9pPr>
              <a:defRPr sz="2025" b="0">
                <a:solidFill>
                  <a:srgbClr val="A5AFC6"/>
                </a:solidFill>
                <a:latin typeface="Arial"/>
                <a:ea typeface="Arial"/>
                <a:cs typeface="Arial"/>
              </a:defRPr>
            </a:lvl9pPr>
          </a:lstStyle>
          <a:p xmlns:a="http://schemas.openxmlformats.org/drawingml/2006/main">
            <a:pPr>
              <a:defRPr sz="2025" b="0">
                <a:solidFill>
                  <a:srgbClr val="A5AFC6"/>
                </a:solidFill>
                <a:latin typeface="Arial"/>
                <a:ea typeface="Arial"/>
                <a:cs typeface="Arial"/>
              </a:defRPr>
            </a:pPr>
            <a:r>
              <a:rPr sz="2025" b="0">
                <a:solidFill>
                  <a:srgbClr val="A5AFC6"/>
                </a:solidFill>
                <a:latin typeface="Arial"/>
                <a:ea typeface="Arial"/>
                <a:cs typeface="Arial"/>
              </a:rPr>
              <a:t>{ "message": "$.message",</a:t>
            </a:r>
          </a:p>
          <a:p xmlns:a="http://schemas.openxmlformats.org/drawingml/2006/main">
            <a:pPr>
              <a:defRPr sz="2025" b="0">
                <a:solidFill>
                  <a:srgbClr val="A5AFC6"/>
                </a:solidFill>
                <a:latin typeface="Arial"/>
                <a:ea typeface="Arial"/>
                <a:cs typeface="Arial"/>
              </a:defRPr>
            </a:pPr>
            <a:r>
              <a:rPr sz="2025" b="0">
                <a:solidFill>
                  <a:srgbClr val="A5AFC6"/>
                </a:solidFill>
                <a:latin typeface="Arial"/>
                <a:ea typeface="Arial"/>
                <a:cs typeface="Arial"/>
              </a:rPr>
              <a:t>  "processed": true }</a:t>
            </a:r>
          </a:p>
        </p:txBody>
      </p:sp>
      <p:sp>
        <p:nvSpPr>
          <p:cNvPr id="8" name="">
            <a:extLst xmlns:a="http://schemas.openxmlformats.org/drawingml/2006/main">
              <a:ext uri="{FF2B5EF4-FFF2-40B4-BE49-F238E27FC236}">
                <a16:creationId xmlns:a16="http://schemas.microsoft.com/office/drawing/2014/main" id="{1C706BFB-8A02-4AC3-AC44-B5F202C76F26}"/>
              </a:ext>
            </a:extLst>
          </p:cNvPr>
          <p:cNvSpPr>
            <a:spLocks xmlns:a="http://schemas.openxmlformats.org/drawingml/2006/main" noGrp="1"/>
          </p:cNvSpPr>
          <p:nvPr/>
        </p:nvSpPr>
        <p:spPr>
          <a:xfrm xmlns:a="http://schemas.openxmlformats.org/drawingml/2006/main">
            <a:off x="685800" y="44958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7D8E8"/>
                </a:solidFill>
                <a:latin typeface="Arial"/>
                <a:ea typeface="Arial"/>
                <a:cs typeface="Arial"/>
              </a:defRPr>
            </a:defPPr>
            <a:lvl1pPr>
              <a:defRPr sz="2100" b="0">
                <a:solidFill>
                  <a:srgbClr val="67D8E8"/>
                </a:solidFill>
                <a:latin typeface="Arial"/>
                <a:ea typeface="Arial"/>
                <a:cs typeface="Arial"/>
              </a:defRPr>
            </a:lvl1pPr>
            <a:lvl2pPr>
              <a:defRPr sz="2100" b="0">
                <a:solidFill>
                  <a:srgbClr val="67D8E8"/>
                </a:solidFill>
                <a:latin typeface="Arial"/>
                <a:ea typeface="Arial"/>
                <a:cs typeface="Arial"/>
              </a:defRPr>
            </a:lvl2pPr>
            <a:lvl3pPr>
              <a:defRPr sz="2100" b="0">
                <a:solidFill>
                  <a:srgbClr val="67D8E8"/>
                </a:solidFill>
                <a:latin typeface="Arial"/>
                <a:ea typeface="Arial"/>
                <a:cs typeface="Arial"/>
              </a:defRPr>
            </a:lvl3pPr>
            <a:lvl4pPr>
              <a:defRPr sz="2100" b="0">
                <a:solidFill>
                  <a:srgbClr val="67D8E8"/>
                </a:solidFill>
                <a:latin typeface="Arial"/>
                <a:ea typeface="Arial"/>
                <a:cs typeface="Arial"/>
              </a:defRPr>
            </a:lvl4pPr>
            <a:lvl5pPr>
              <a:defRPr sz="2100" b="0">
                <a:solidFill>
                  <a:srgbClr val="67D8E8"/>
                </a:solidFill>
                <a:latin typeface="Arial"/>
                <a:ea typeface="Arial"/>
                <a:cs typeface="Arial"/>
              </a:defRPr>
            </a:lvl5pPr>
            <a:lvl6pPr>
              <a:defRPr sz="2100" b="0">
                <a:solidFill>
                  <a:srgbClr val="67D8E8"/>
                </a:solidFill>
                <a:latin typeface="Arial"/>
                <a:ea typeface="Arial"/>
                <a:cs typeface="Arial"/>
              </a:defRPr>
            </a:lvl6pPr>
            <a:lvl7pPr>
              <a:defRPr sz="2100" b="0">
                <a:solidFill>
                  <a:srgbClr val="67D8E8"/>
                </a:solidFill>
                <a:latin typeface="Arial"/>
                <a:ea typeface="Arial"/>
                <a:cs typeface="Arial"/>
              </a:defRPr>
            </a:lvl7pPr>
            <a:lvl8pPr>
              <a:defRPr sz="2100" b="0">
                <a:solidFill>
                  <a:srgbClr val="67D8E8"/>
                </a:solidFill>
                <a:latin typeface="Arial"/>
                <a:ea typeface="Arial"/>
                <a:cs typeface="Arial"/>
              </a:defRPr>
            </a:lvl8pPr>
            <a:lvl9pPr>
              <a:defRPr sz="2100" b="0">
                <a:solidFill>
                  <a:srgbClr val="67D8E8"/>
                </a:solidFill>
                <a:latin typeface="Arial"/>
                <a:ea typeface="Arial"/>
                <a:cs typeface="Arial"/>
              </a:defRPr>
            </a:lvl9pPr>
          </a:lstStyle>
          <a:p xmlns:a="http://schemas.openxmlformats.org/drawingml/2006/main">
            <a:pPr>
              <a:defRPr sz="2100" b="0">
                <a:solidFill>
                  <a:srgbClr val="67D8E8"/>
                </a:solidFill>
                <a:latin typeface="Arial"/>
                <a:ea typeface="Arial"/>
                <a:cs typeface="Arial"/>
              </a:defRPr>
            </a:pPr>
            <a:r>
              <a:rPr sz="2100" b="0">
                <a:solidFill>
                  <a:srgbClr val="67D8E8"/>
                </a:solidFill>
                <a:latin typeface="Arial"/>
                <a:ea typeface="Arial"/>
                <a:cs typeface="Arial"/>
              </a:rPr>
              <a:t>Condition → { matched, data } → read $.data.message on the next branch</a:t>
            </a:r>
          </a:p>
        </p:txBody>
      </p:sp>
    </p:spTree>
    <p:extLst>
      <p:ext uri="{BB962C8B-B14F-4D97-AF65-F5344CB8AC3E}">
        <p14:creationId xmlns:p14="http://schemas.microsoft.com/office/powerpoint/2010/main" val="1758200975"/>
      </p:ext>
    </p:extLst>
  </p:cSld>
</p:sld>
</file>

<file path=ppt/slides/slide14.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E34331-AB8D-458E-BF5C-A7F7697EBD0F}"/>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6120BF98-334A-4EA5-A8D8-777C211DEB6A}"/>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AI is bounded and optional</a:t>
            </a:r>
          </a:p>
        </p:txBody>
      </p:sp>
      <p:sp>
        <p:nvSpPr>
          <p:cNvPr id="3" name="">
            <a:extLst xmlns:a="http://schemas.openxmlformats.org/drawingml/2006/main">
              <a:ext uri="{FF2B5EF4-FFF2-40B4-BE49-F238E27FC236}">
                <a16:creationId xmlns:a16="http://schemas.microsoft.com/office/drawing/2014/main" id="{1911AA7D-FE50-4801-8061-EBDE25068B15}"/>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DCDAC83-09CF-4C95-BAAB-4FC077C531CD}"/>
              </a:ext>
            </a:extLst>
          </p:cNvPr>
          <p:cNvSpPr>
            <a:spLocks xmlns:a="http://schemas.openxmlformats.org/drawingml/2006/main" noGrp="1"/>
          </p:cNvSpPr>
          <p:nvPr/>
        </p:nvSpPr>
        <p:spPr>
          <a:xfrm xmlns:a="http://schemas.openxmlformats.org/drawingml/2006/main">
            <a:off x="666750" y="17907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Configured by the owner</a:t>
            </a:r>
          </a:p>
        </p:txBody>
      </p:sp>
      <p:sp>
        <p:nvSpPr>
          <p:cNvPr id="5" name="">
            <a:extLst xmlns:a="http://schemas.openxmlformats.org/drawingml/2006/main">
              <a:ext uri="{FF2B5EF4-FFF2-40B4-BE49-F238E27FC236}">
                <a16:creationId xmlns:a16="http://schemas.microsoft.com/office/drawing/2014/main" id="{0D1D5159-8A0E-4F5A-9F3C-CB2ED2174E70}"/>
              </a:ext>
            </a:extLst>
          </p:cNvPr>
          <p:cNvSpPr>
            <a:spLocks xmlns:a="http://schemas.openxmlformats.org/drawingml/2006/main" noGrp="1"/>
          </p:cNvSpPr>
          <p:nvPr/>
        </p:nvSpPr>
        <p:spPr>
          <a:xfrm xmlns:a="http://schemas.openxmlformats.org/drawingml/2006/main">
            <a:off x="666750" y="22002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Without a provider key, the AI node reports a clear configuration failure.</a:t>
            </a:r>
          </a:p>
        </p:txBody>
      </p:sp>
      <p:sp>
        <p:nvSpPr>
          <p:cNvPr id="6" name="">
            <a:extLst xmlns:a="http://schemas.openxmlformats.org/drawingml/2006/main">
              <a:ext uri="{FF2B5EF4-FFF2-40B4-BE49-F238E27FC236}">
                <a16:creationId xmlns:a16="http://schemas.microsoft.com/office/drawing/2014/main" id="{C4512B5E-FA75-4796-9191-02E7ADB904FA}"/>
              </a:ext>
            </a:extLst>
          </p:cNvPr>
          <p:cNvSpPr>
            <a:spLocks xmlns:a="http://schemas.openxmlformats.org/drawingml/2006/main" noGrp="1"/>
          </p:cNvSpPr>
          <p:nvPr/>
        </p:nvSpPr>
        <p:spPr>
          <a:xfrm xmlns:a="http://schemas.openxmlformats.org/drawingml/2006/main">
            <a:off x="666750" y="32956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Time and output limits</a:t>
            </a:r>
          </a:p>
        </p:txBody>
      </p:sp>
      <p:sp>
        <p:nvSpPr>
          <p:cNvPr id="7" name="">
            <a:extLst xmlns:a="http://schemas.openxmlformats.org/drawingml/2006/main">
              <a:ext uri="{FF2B5EF4-FFF2-40B4-BE49-F238E27FC236}">
                <a16:creationId xmlns:a16="http://schemas.microsoft.com/office/drawing/2014/main" id="{EEF5A1C0-35F2-414B-97D6-E7935A9ADDF4}"/>
              </a:ext>
            </a:extLst>
          </p:cNvPr>
          <p:cNvSpPr>
            <a:spLocks xmlns:a="http://schemas.openxmlformats.org/drawingml/2006/main" noGrp="1"/>
          </p:cNvSpPr>
          <p:nvPr/>
        </p:nvSpPr>
        <p:spPr>
          <a:xfrm xmlns:a="http://schemas.openxmlformats.org/drawingml/2006/main">
            <a:off x="666750" y="370522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25-second request timeout, at most 512 output tokens, JSON object output.</a:t>
            </a:r>
          </a:p>
        </p:txBody>
      </p:sp>
      <p:sp>
        <p:nvSpPr>
          <p:cNvPr id="8" name="">
            <a:extLst xmlns:a="http://schemas.openxmlformats.org/drawingml/2006/main">
              <a:ext uri="{FF2B5EF4-FFF2-40B4-BE49-F238E27FC236}">
                <a16:creationId xmlns:a16="http://schemas.microsoft.com/office/drawing/2014/main" id="{4C88D5F7-E6CC-4AE4-A38B-0A9D1BEF861E}"/>
              </a:ext>
            </a:extLst>
          </p:cNvPr>
          <p:cNvSpPr>
            <a:spLocks xmlns:a="http://schemas.openxmlformats.org/drawingml/2006/main" noGrp="1"/>
          </p:cNvSpPr>
          <p:nvPr/>
        </p:nvSpPr>
        <p:spPr>
          <a:xfrm xmlns:a="http://schemas.openxmlformats.org/drawingml/2006/main">
            <a:off x="666750" y="4800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No hidden autonomy</a:t>
            </a:r>
          </a:p>
        </p:txBody>
      </p:sp>
      <p:sp>
        <p:nvSpPr>
          <p:cNvPr id="9" name="">
            <a:extLst xmlns:a="http://schemas.openxmlformats.org/drawingml/2006/main">
              <a:ext uri="{FF2B5EF4-FFF2-40B4-BE49-F238E27FC236}">
                <a16:creationId xmlns:a16="http://schemas.microsoft.com/office/drawing/2014/main" id="{99F35328-43DF-447B-8F2A-780DB3B7E4AF}"/>
              </a:ext>
            </a:extLst>
          </p:cNvPr>
          <p:cNvSpPr>
            <a:spLocks xmlns:a="http://schemas.openxmlformats.org/drawingml/2006/main" noGrp="1"/>
          </p:cNvSpPr>
          <p:nvPr/>
        </p:nvSpPr>
        <p:spPr>
          <a:xfrm xmlns:a="http://schemas.openxmlformats.org/drawingml/2006/main">
            <a:off x="666750" y="52101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No tools, credential discovery, external actions, or delegated agents.</a:t>
            </a:r>
          </a:p>
        </p:txBody>
      </p:sp>
    </p:spTree>
    <p:extLst>
      <p:ext uri="{BB962C8B-B14F-4D97-AF65-F5344CB8AC3E}">
        <p14:creationId xmlns:p14="http://schemas.microsoft.com/office/powerpoint/2010/main" val="1976875112"/>
      </p:ext>
    </p:extLst>
  </p:cSld>
</p:sld>
</file>

<file path=ppt/slides/slide15.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D93149-92B8-4DEF-A595-4A0A8272D541}"/>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44AA7A10-407C-46FD-B52A-AAA9A92A2C80}"/>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History survives the browser view</a:t>
            </a:r>
          </a:p>
        </p:txBody>
      </p:sp>
      <p:sp>
        <p:nvSpPr>
          <p:cNvPr id="3" name="">
            <a:extLst xmlns:a="http://schemas.openxmlformats.org/drawingml/2006/main">
              <a:ext uri="{FF2B5EF4-FFF2-40B4-BE49-F238E27FC236}">
                <a16:creationId xmlns:a16="http://schemas.microsoft.com/office/drawing/2014/main" id="{B5E5A2FE-6284-40F7-8838-08E6C372D164}"/>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48D0372E-0A40-428E-A21E-14D2D9A1A216}"/>
              </a:ext>
            </a:extLst>
          </p:cNvPr>
          <p:cNvSpPr>
            <a:spLocks xmlns:a="http://schemas.openxmlformats.org/drawingml/2006/main" noGrp="1"/>
          </p:cNvSpPr>
          <p:nvPr/>
        </p:nvSpPr>
        <p:spPr>
          <a:xfrm xmlns:a="http://schemas.openxmlformats.org/drawingml/2006/main">
            <a:off x="666750" y="1743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Persistence</a:t>
            </a:r>
          </a:p>
        </p:txBody>
      </p:sp>
      <p:sp>
        <p:nvSpPr>
          <p:cNvPr id="5" name="">
            <a:extLst xmlns:a="http://schemas.openxmlformats.org/drawingml/2006/main">
              <a:ext uri="{FF2B5EF4-FFF2-40B4-BE49-F238E27FC236}">
                <a16:creationId xmlns:a16="http://schemas.microsoft.com/office/drawing/2014/main" id="{1A8B4EE0-9DEB-4BEC-893D-EBCF2EBA4E6C}"/>
              </a:ext>
            </a:extLst>
          </p:cNvPr>
          <p:cNvSpPr>
            <a:spLocks xmlns:a="http://schemas.openxmlformats.org/drawingml/2006/main" noGrp="1"/>
          </p:cNvSpPr>
          <p:nvPr/>
        </p:nvSpPr>
        <p:spPr>
          <a:xfrm xmlns:a="http://schemas.openxmlformats.org/drawingml/2006/main">
            <a:off x="666750" y="21526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Runs and node checkpoints are stored server-side.</a:t>
            </a:r>
          </a:p>
        </p:txBody>
      </p:sp>
      <p:sp>
        <p:nvSpPr>
          <p:cNvPr id="6" name="">
            <a:extLst xmlns:a="http://schemas.openxmlformats.org/drawingml/2006/main">
              <a:ext uri="{FF2B5EF4-FFF2-40B4-BE49-F238E27FC236}">
                <a16:creationId xmlns:a16="http://schemas.microsoft.com/office/drawing/2014/main" id="{F8995E44-799B-448C-8225-A382ACAAB565}"/>
              </a:ext>
            </a:extLst>
          </p:cNvPr>
          <p:cNvSpPr>
            <a:spLocks xmlns:a="http://schemas.openxmlformats.org/drawingml/2006/main" noGrp="1"/>
          </p:cNvSpPr>
          <p:nvPr/>
        </p:nvSpPr>
        <p:spPr>
          <a:xfrm xmlns:a="http://schemas.openxmlformats.org/drawingml/2006/main">
            <a:off x="666750" y="32480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Inspection</a:t>
            </a:r>
          </a:p>
        </p:txBody>
      </p:sp>
      <p:sp>
        <p:nvSpPr>
          <p:cNvPr id="7" name="">
            <a:extLst xmlns:a="http://schemas.openxmlformats.org/drawingml/2006/main">
              <a:ext uri="{FF2B5EF4-FFF2-40B4-BE49-F238E27FC236}">
                <a16:creationId xmlns:a16="http://schemas.microsoft.com/office/drawing/2014/main" id="{069E3C5D-2428-4404-8231-1CE8304A098E}"/>
              </a:ext>
            </a:extLst>
          </p:cNvPr>
          <p:cNvSpPr>
            <a:spLocks xmlns:a="http://schemas.openxmlformats.org/drawingml/2006/main" noGrp="1"/>
          </p:cNvSpPr>
          <p:nvPr/>
        </p:nvSpPr>
        <p:spPr>
          <a:xfrm xmlns:a="http://schemas.openxmlformats.org/drawingml/2006/main">
            <a:off x="666750" y="365760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Open an execution and inspect outputs and errors.</a:t>
            </a:r>
          </a:p>
        </p:txBody>
      </p:sp>
      <p:sp>
        <p:nvSpPr>
          <p:cNvPr id="8" name="">
            <a:extLst xmlns:a="http://schemas.openxmlformats.org/drawingml/2006/main">
              <a:ext uri="{FF2B5EF4-FFF2-40B4-BE49-F238E27FC236}">
                <a16:creationId xmlns:a16="http://schemas.microsoft.com/office/drawing/2014/main" id="{0DADE652-7DEB-4779-824B-506AB9918065}"/>
              </a:ext>
            </a:extLst>
          </p:cNvPr>
          <p:cNvSpPr>
            <a:spLocks xmlns:a="http://schemas.openxmlformats.org/drawingml/2006/main" noGrp="1"/>
          </p:cNvSpPr>
          <p:nvPr/>
        </p:nvSpPr>
        <p:spPr>
          <a:xfrm xmlns:a="http://schemas.openxmlformats.org/drawingml/2006/main">
            <a:off x="666750" y="47529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Cancellation</a:t>
            </a:r>
          </a:p>
        </p:txBody>
      </p:sp>
      <p:sp>
        <p:nvSpPr>
          <p:cNvPr id="9" name="">
            <a:extLst xmlns:a="http://schemas.openxmlformats.org/drawingml/2006/main">
              <a:ext uri="{FF2B5EF4-FFF2-40B4-BE49-F238E27FC236}">
                <a16:creationId xmlns:a16="http://schemas.microsoft.com/office/drawing/2014/main" id="{6FB3380D-02F5-4585-ABC3-99A9A2D05FF9}"/>
              </a:ext>
            </a:extLst>
          </p:cNvPr>
          <p:cNvSpPr>
            <a:spLocks xmlns:a="http://schemas.openxmlformats.org/drawingml/2006/main" noGrp="1"/>
          </p:cNvSpPr>
          <p:nvPr/>
        </p:nvSpPr>
        <p:spPr>
          <a:xfrm xmlns:a="http://schemas.openxmlformats.org/drawingml/2006/main">
            <a:off x="666750" y="51625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Stop eligible queued or active runs.</a:t>
            </a:r>
          </a:p>
        </p:txBody>
      </p:sp>
      <p:pic>
        <p:nvPicPr>
          <p:cNvPr id="10" name="">
            <a:extLst xmlns:a="http://schemas.openxmlformats.org/drawingml/2006/main">
              <a:ext uri="{FF2B5EF4-FFF2-40B4-BE49-F238E27FC236}">
                <a16:creationId xmlns:a16="http://schemas.microsoft.com/office/drawing/2014/main" id="{D93439F0-2162-44B5-B425-38EEDCC8E685}"/>
              </a:ext>
            </a:extLst>
          </p:cNvPr>
          <p:cNvPicPr>
            <a:picLocks xmlns:a="http://schemas.openxmlformats.org/drawingml/2006/main" noChangeAspect="1"/>
          </p:cNvPicPr>
          <p:nvPr/>
        </p:nvPicPr>
        <p:blipFill>
          <a:blip xmlns:r="http://schemas.openxmlformats.org/officeDocument/2006/relationships" xmlns:a="http://schemas.openxmlformats.org/drawingml/2006/main" r:embed="Re49415b810f04ea0"/>
          <a:stretch xmlns:a="http://schemas.openxmlformats.org/drawingml/2006/main"/>
        </p:blipFill>
        <p:spPr>
          <a:xfrm xmlns:a="http://schemas.openxmlformats.org/drawingml/2006/main">
            <a:off x="4973003" y="1666875"/>
            <a:ext cx="6103620"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C57C796-C1EE-40B0-ACC8-8A8A11EAB4A6}"/>
              </a:ext>
            </a:extLst>
          </p:cNvPr>
          <p:cNvSpPr>
            <a:spLocks xmlns:a="http://schemas.openxmlformats.org/drawingml/2006/main" noGrp="1"/>
          </p:cNvSpPr>
          <p:nvPr/>
        </p:nvSpPr>
        <p:spPr>
          <a:xfrm xmlns:a="http://schemas.openxmlformats.org/drawingml/2006/main">
            <a:off x="4552950" y="609600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5AFC6"/>
                </a:solidFill>
                <a:latin typeface="Arial"/>
                <a:ea typeface="Arial"/>
                <a:cs typeface="Arial"/>
              </a:defRPr>
            </a:defPPr>
            <a:lvl1pPr>
              <a:defRPr sz="975" b="0">
                <a:solidFill>
                  <a:srgbClr val="A5AFC6"/>
                </a:solidFill>
                <a:latin typeface="Arial"/>
                <a:ea typeface="Arial"/>
                <a:cs typeface="Arial"/>
              </a:defRPr>
            </a:lvl1pPr>
            <a:lvl2pPr>
              <a:defRPr sz="975" b="0">
                <a:solidFill>
                  <a:srgbClr val="A5AFC6"/>
                </a:solidFill>
                <a:latin typeface="Arial"/>
                <a:ea typeface="Arial"/>
                <a:cs typeface="Arial"/>
              </a:defRPr>
            </a:lvl2pPr>
            <a:lvl3pPr>
              <a:defRPr sz="975" b="0">
                <a:solidFill>
                  <a:srgbClr val="A5AFC6"/>
                </a:solidFill>
                <a:latin typeface="Arial"/>
                <a:ea typeface="Arial"/>
                <a:cs typeface="Arial"/>
              </a:defRPr>
            </a:lvl3pPr>
            <a:lvl4pPr>
              <a:defRPr sz="975" b="0">
                <a:solidFill>
                  <a:srgbClr val="A5AFC6"/>
                </a:solidFill>
                <a:latin typeface="Arial"/>
                <a:ea typeface="Arial"/>
                <a:cs typeface="Arial"/>
              </a:defRPr>
            </a:lvl4pPr>
            <a:lvl5pPr>
              <a:defRPr sz="975" b="0">
                <a:solidFill>
                  <a:srgbClr val="A5AFC6"/>
                </a:solidFill>
                <a:latin typeface="Arial"/>
                <a:ea typeface="Arial"/>
                <a:cs typeface="Arial"/>
              </a:defRPr>
            </a:lvl5pPr>
            <a:lvl6pPr>
              <a:defRPr sz="975" b="0">
                <a:solidFill>
                  <a:srgbClr val="A5AFC6"/>
                </a:solidFill>
                <a:latin typeface="Arial"/>
                <a:ea typeface="Arial"/>
                <a:cs typeface="Arial"/>
              </a:defRPr>
            </a:lvl6pPr>
            <a:lvl7pPr>
              <a:defRPr sz="975" b="0">
                <a:solidFill>
                  <a:srgbClr val="A5AFC6"/>
                </a:solidFill>
                <a:latin typeface="Arial"/>
                <a:ea typeface="Arial"/>
                <a:cs typeface="Arial"/>
              </a:defRPr>
            </a:lvl7pPr>
            <a:lvl8pPr>
              <a:defRPr sz="975" b="0">
                <a:solidFill>
                  <a:srgbClr val="A5AFC6"/>
                </a:solidFill>
                <a:latin typeface="Arial"/>
                <a:ea typeface="Arial"/>
                <a:cs typeface="Arial"/>
              </a:defRPr>
            </a:lvl8pPr>
            <a:lvl9pPr>
              <a:defRPr sz="975" b="0">
                <a:solidFill>
                  <a:srgbClr val="A5AFC6"/>
                </a:solidFill>
                <a:latin typeface="Arial"/>
                <a:ea typeface="Arial"/>
                <a:cs typeface="Arial"/>
              </a:defRPr>
            </a:lvl9pPr>
          </a:lstStyle>
          <a:p xmlns:a="http://schemas.openxmlformats.org/drawingml/2006/main">
            <a:pPr>
              <a:defRPr sz="975" b="0">
                <a:solidFill>
                  <a:srgbClr val="A5AFC6"/>
                </a:solidFill>
                <a:latin typeface="Arial"/>
                <a:ea typeface="Arial"/>
                <a:cs typeface="Arial"/>
              </a:defRPr>
            </a:pPr>
            <a:r>
              <a:rPr sz="975" b="0">
                <a:solidFill>
                  <a:srgbClr val="A5AFC6"/>
                </a:solidFill>
                <a:latin typeface="Arial"/>
                <a:ea typeface="Arial"/>
                <a:cs typeface="Arial"/>
              </a:rPr>
              <a:t>Actual application capture · real records and execution</a:t>
            </a:r>
          </a:p>
        </p:txBody>
      </p:sp>
    </p:spTree>
    <p:extLst>
      <p:ext uri="{BB962C8B-B14F-4D97-AF65-F5344CB8AC3E}">
        <p14:creationId xmlns:p14="http://schemas.microsoft.com/office/powerpoint/2010/main" val="2054947277"/>
      </p:ext>
    </p:extLst>
  </p:cSld>
</p:sld>
</file>

<file path=ppt/slides/slide16.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DAFB18-F89D-4DD9-A67B-0F31E45E76D0}"/>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C5CE4458-D4D3-4CFF-A291-FDE54D949842}"/>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Metrics come from actual records</a:t>
            </a:r>
          </a:p>
        </p:txBody>
      </p:sp>
      <p:sp>
        <p:nvSpPr>
          <p:cNvPr id="3" name="">
            <a:extLst xmlns:a="http://schemas.openxmlformats.org/drawingml/2006/main">
              <a:ext uri="{FF2B5EF4-FFF2-40B4-BE49-F238E27FC236}">
                <a16:creationId xmlns:a16="http://schemas.microsoft.com/office/drawing/2014/main" id="{5B17A89F-FE96-4B14-8B54-F9B165BB796D}"/>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180A7929-6CC7-4761-AB30-7FA64B670D91}"/>
              </a:ext>
            </a:extLst>
          </p:cNvPr>
          <p:cNvSpPr>
            <a:spLocks xmlns:a="http://schemas.openxmlformats.org/drawingml/2006/main" noGrp="1"/>
          </p:cNvSpPr>
          <p:nvPr/>
        </p:nvSpPr>
        <p:spPr>
          <a:xfrm xmlns:a="http://schemas.openxmlformats.org/drawingml/2006/main">
            <a:off x="666750" y="17430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Counts</a:t>
            </a:r>
          </a:p>
        </p:txBody>
      </p:sp>
      <p:sp>
        <p:nvSpPr>
          <p:cNvPr id="5" name="">
            <a:extLst xmlns:a="http://schemas.openxmlformats.org/drawingml/2006/main">
              <a:ext uri="{FF2B5EF4-FFF2-40B4-BE49-F238E27FC236}">
                <a16:creationId xmlns:a16="http://schemas.microsoft.com/office/drawing/2014/main" id="{E9DB0CAD-D9A9-4DE2-A760-4F2260E2B110}"/>
              </a:ext>
            </a:extLst>
          </p:cNvPr>
          <p:cNvSpPr>
            <a:spLocks xmlns:a="http://schemas.openxmlformats.org/drawingml/2006/main" noGrp="1"/>
          </p:cNvSpPr>
          <p:nvPr/>
        </p:nvSpPr>
        <p:spPr>
          <a:xfrm xmlns:a="http://schemas.openxmlformats.org/drawingml/2006/main">
            <a:off x="666750" y="21526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Workflows, published flows, and executions.</a:t>
            </a:r>
          </a:p>
        </p:txBody>
      </p:sp>
      <p:sp>
        <p:nvSpPr>
          <p:cNvPr id="6" name="">
            <a:extLst xmlns:a="http://schemas.openxmlformats.org/drawingml/2006/main">
              <a:ext uri="{FF2B5EF4-FFF2-40B4-BE49-F238E27FC236}">
                <a16:creationId xmlns:a16="http://schemas.microsoft.com/office/drawing/2014/main" id="{BA9353D2-1D77-4C61-9876-59F7006D1012}"/>
              </a:ext>
            </a:extLst>
          </p:cNvPr>
          <p:cNvSpPr>
            <a:spLocks xmlns:a="http://schemas.openxmlformats.org/drawingml/2006/main" noGrp="1"/>
          </p:cNvSpPr>
          <p:nvPr/>
        </p:nvSpPr>
        <p:spPr>
          <a:xfrm xmlns:a="http://schemas.openxmlformats.org/drawingml/2006/main">
            <a:off x="666750" y="32480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Outcomes</a:t>
            </a:r>
          </a:p>
        </p:txBody>
      </p:sp>
      <p:sp>
        <p:nvSpPr>
          <p:cNvPr id="7" name="">
            <a:extLst xmlns:a="http://schemas.openxmlformats.org/drawingml/2006/main">
              <a:ext uri="{FF2B5EF4-FFF2-40B4-BE49-F238E27FC236}">
                <a16:creationId xmlns:a16="http://schemas.microsoft.com/office/drawing/2014/main" id="{39AF6C3E-7128-4EA5-92E9-95C2059C8BA6}"/>
              </a:ext>
            </a:extLst>
          </p:cNvPr>
          <p:cNvSpPr>
            <a:spLocks xmlns:a="http://schemas.openxmlformats.org/drawingml/2006/main" noGrp="1"/>
          </p:cNvSpPr>
          <p:nvPr/>
        </p:nvSpPr>
        <p:spPr>
          <a:xfrm xmlns:a="http://schemas.openxmlformats.org/drawingml/2006/main">
            <a:off x="666750" y="365760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Succeeded and failed/timed-out runs.</a:t>
            </a:r>
          </a:p>
        </p:txBody>
      </p:sp>
      <p:sp>
        <p:nvSpPr>
          <p:cNvPr id="8" name="">
            <a:extLst xmlns:a="http://schemas.openxmlformats.org/drawingml/2006/main">
              <a:ext uri="{FF2B5EF4-FFF2-40B4-BE49-F238E27FC236}">
                <a16:creationId xmlns:a16="http://schemas.microsoft.com/office/drawing/2014/main" id="{E06A7ED7-A2C6-407A-9810-790829B30EA8}"/>
              </a:ext>
            </a:extLst>
          </p:cNvPr>
          <p:cNvSpPr>
            <a:spLocks xmlns:a="http://schemas.openxmlformats.org/drawingml/2006/main" noGrp="1"/>
          </p:cNvSpPr>
          <p:nvPr/>
        </p:nvSpPr>
        <p:spPr>
          <a:xfrm xmlns:a="http://schemas.openxmlformats.org/drawingml/2006/main">
            <a:off x="666750" y="47529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A78BFA"/>
                </a:solidFill>
                <a:latin typeface="Arial"/>
                <a:ea typeface="Arial"/>
                <a:cs typeface="Arial"/>
              </a:defRPr>
            </a:defPPr>
            <a:lvl1pPr>
              <a:defRPr sz="1500" b="1">
                <a:solidFill>
                  <a:srgbClr val="A78BFA"/>
                </a:solidFill>
                <a:latin typeface="Arial"/>
                <a:ea typeface="Arial"/>
                <a:cs typeface="Arial"/>
              </a:defRPr>
            </a:lvl1pPr>
            <a:lvl2pPr>
              <a:defRPr sz="1500" b="1">
                <a:solidFill>
                  <a:srgbClr val="A78BFA"/>
                </a:solidFill>
                <a:latin typeface="Arial"/>
                <a:ea typeface="Arial"/>
                <a:cs typeface="Arial"/>
              </a:defRPr>
            </a:lvl2pPr>
            <a:lvl3pPr>
              <a:defRPr sz="1500" b="1">
                <a:solidFill>
                  <a:srgbClr val="A78BFA"/>
                </a:solidFill>
                <a:latin typeface="Arial"/>
                <a:ea typeface="Arial"/>
                <a:cs typeface="Arial"/>
              </a:defRPr>
            </a:lvl3pPr>
            <a:lvl4pPr>
              <a:defRPr sz="1500" b="1">
                <a:solidFill>
                  <a:srgbClr val="A78BFA"/>
                </a:solidFill>
                <a:latin typeface="Arial"/>
                <a:ea typeface="Arial"/>
                <a:cs typeface="Arial"/>
              </a:defRPr>
            </a:lvl4pPr>
            <a:lvl5pPr>
              <a:defRPr sz="1500" b="1">
                <a:solidFill>
                  <a:srgbClr val="A78BFA"/>
                </a:solidFill>
                <a:latin typeface="Arial"/>
                <a:ea typeface="Arial"/>
                <a:cs typeface="Arial"/>
              </a:defRPr>
            </a:lvl5pPr>
            <a:lvl6pPr>
              <a:defRPr sz="1500" b="1">
                <a:solidFill>
                  <a:srgbClr val="A78BFA"/>
                </a:solidFill>
                <a:latin typeface="Arial"/>
                <a:ea typeface="Arial"/>
                <a:cs typeface="Arial"/>
              </a:defRPr>
            </a:lvl6pPr>
            <a:lvl7pPr>
              <a:defRPr sz="1500" b="1">
                <a:solidFill>
                  <a:srgbClr val="A78BFA"/>
                </a:solidFill>
                <a:latin typeface="Arial"/>
                <a:ea typeface="Arial"/>
                <a:cs typeface="Arial"/>
              </a:defRPr>
            </a:lvl7pPr>
            <a:lvl8pPr>
              <a:defRPr sz="1500" b="1">
                <a:solidFill>
                  <a:srgbClr val="A78BFA"/>
                </a:solidFill>
                <a:latin typeface="Arial"/>
                <a:ea typeface="Arial"/>
                <a:cs typeface="Arial"/>
              </a:defRPr>
            </a:lvl8pPr>
            <a:lvl9pPr>
              <a:defRPr sz="1500" b="1">
                <a:solidFill>
                  <a:srgbClr val="A78BFA"/>
                </a:solidFill>
                <a:latin typeface="Arial"/>
                <a:ea typeface="Arial"/>
                <a:cs typeface="Arial"/>
              </a:defRPr>
            </a:lvl9pPr>
          </a:lstStyle>
          <a:p xmlns:a="http://schemas.openxmlformats.org/drawingml/2006/main">
            <a:pPr>
              <a:defRPr sz="1500" b="1">
                <a:solidFill>
                  <a:srgbClr val="A78BFA"/>
                </a:solidFill>
                <a:latin typeface="Arial"/>
                <a:ea typeface="Arial"/>
                <a:cs typeface="Arial"/>
              </a:defRPr>
            </a:pPr>
            <a:r>
              <a:rPr sz="1500" b="1">
                <a:solidFill>
                  <a:srgbClr val="A78BFA"/>
                </a:solidFill>
                <a:latin typeface="Arial"/>
                <a:ea typeface="Arial"/>
                <a:cs typeface="Arial"/>
              </a:rPr>
              <a:t>Scope</a:t>
            </a:r>
          </a:p>
        </p:txBody>
      </p:sp>
      <p:sp>
        <p:nvSpPr>
          <p:cNvPr id="9" name="">
            <a:extLst xmlns:a="http://schemas.openxmlformats.org/drawingml/2006/main">
              <a:ext uri="{FF2B5EF4-FFF2-40B4-BE49-F238E27FC236}">
                <a16:creationId xmlns:a16="http://schemas.microsoft.com/office/drawing/2014/main" id="{2D045DE6-F35D-4F31-BA76-56CB9CF4E71F}"/>
              </a:ext>
            </a:extLst>
          </p:cNvPr>
          <p:cNvSpPr>
            <a:spLocks xmlns:a="http://schemas.openxmlformats.org/drawingml/2006/main" noGrp="1"/>
          </p:cNvSpPr>
          <p:nvPr/>
        </p:nvSpPr>
        <p:spPr>
          <a:xfrm xmlns:a="http://schemas.openxmlformats.org/drawingml/2006/main">
            <a:off x="666750" y="51625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AFC6"/>
                </a:solidFill>
                <a:latin typeface="Arial"/>
                <a:ea typeface="Arial"/>
                <a:cs typeface="Arial"/>
              </a:defRPr>
            </a:defPPr>
            <a:lvl1pPr>
              <a:defRPr sz="1500" b="0">
                <a:solidFill>
                  <a:srgbClr val="A5AFC6"/>
                </a:solidFill>
                <a:latin typeface="Arial"/>
                <a:ea typeface="Arial"/>
                <a:cs typeface="Arial"/>
              </a:defRPr>
            </a:lvl1pPr>
            <a:lvl2pPr>
              <a:defRPr sz="1500" b="0">
                <a:solidFill>
                  <a:srgbClr val="A5AFC6"/>
                </a:solidFill>
                <a:latin typeface="Arial"/>
                <a:ea typeface="Arial"/>
                <a:cs typeface="Arial"/>
              </a:defRPr>
            </a:lvl2pPr>
            <a:lvl3pPr>
              <a:defRPr sz="1500" b="0">
                <a:solidFill>
                  <a:srgbClr val="A5AFC6"/>
                </a:solidFill>
                <a:latin typeface="Arial"/>
                <a:ea typeface="Arial"/>
                <a:cs typeface="Arial"/>
              </a:defRPr>
            </a:lvl3pPr>
            <a:lvl4pPr>
              <a:defRPr sz="1500" b="0">
                <a:solidFill>
                  <a:srgbClr val="A5AFC6"/>
                </a:solidFill>
                <a:latin typeface="Arial"/>
                <a:ea typeface="Arial"/>
                <a:cs typeface="Arial"/>
              </a:defRPr>
            </a:lvl4pPr>
            <a:lvl5pPr>
              <a:defRPr sz="1500" b="0">
                <a:solidFill>
                  <a:srgbClr val="A5AFC6"/>
                </a:solidFill>
                <a:latin typeface="Arial"/>
                <a:ea typeface="Arial"/>
                <a:cs typeface="Arial"/>
              </a:defRPr>
            </a:lvl5pPr>
            <a:lvl6pPr>
              <a:defRPr sz="1500" b="0">
                <a:solidFill>
                  <a:srgbClr val="A5AFC6"/>
                </a:solidFill>
                <a:latin typeface="Arial"/>
                <a:ea typeface="Arial"/>
                <a:cs typeface="Arial"/>
              </a:defRPr>
            </a:lvl6pPr>
            <a:lvl7pPr>
              <a:defRPr sz="1500" b="0">
                <a:solidFill>
                  <a:srgbClr val="A5AFC6"/>
                </a:solidFill>
                <a:latin typeface="Arial"/>
                <a:ea typeface="Arial"/>
                <a:cs typeface="Arial"/>
              </a:defRPr>
            </a:lvl7pPr>
            <a:lvl8pPr>
              <a:defRPr sz="1500" b="0">
                <a:solidFill>
                  <a:srgbClr val="A5AFC6"/>
                </a:solidFill>
                <a:latin typeface="Arial"/>
                <a:ea typeface="Arial"/>
                <a:cs typeface="Arial"/>
              </a:defRPr>
            </a:lvl8pPr>
            <a:lvl9pPr>
              <a:defRPr sz="1500" b="0">
                <a:solidFill>
                  <a:srgbClr val="A5AFC6"/>
                </a:solidFill>
                <a:latin typeface="Arial"/>
                <a:ea typeface="Arial"/>
                <a:cs typeface="Arial"/>
              </a:defRPr>
            </a:lvl9pPr>
          </a:lstStyle>
          <a:p xmlns:a="http://schemas.openxmlformats.org/drawingml/2006/main">
            <a:pPr>
              <a:defRPr sz="1500" b="0">
                <a:solidFill>
                  <a:srgbClr val="A5AFC6"/>
                </a:solidFill>
                <a:latin typeface="Arial"/>
                <a:ea typeface="Arial"/>
                <a:cs typeface="Arial"/>
              </a:defRPr>
            </a:pPr>
            <a:r>
              <a:rPr sz="1500" b="0">
                <a:solidFill>
                  <a:srgbClr val="A5AFC6"/>
                </a:solidFill>
                <a:latin typeface="Arial"/>
                <a:ea typeface="Arial"/>
                <a:cs typeface="Arial"/>
              </a:rPr>
              <a:t>Only the authenticated workspace contributes.</a:t>
            </a:r>
          </a:p>
        </p:txBody>
      </p:sp>
      <p:pic>
        <p:nvPicPr>
          <p:cNvPr id="10" name="">
            <a:extLst xmlns:a="http://schemas.openxmlformats.org/drawingml/2006/main">
              <a:ext uri="{FF2B5EF4-FFF2-40B4-BE49-F238E27FC236}">
                <a16:creationId xmlns:a16="http://schemas.microsoft.com/office/drawing/2014/main" id="{D23D92EA-8B72-4CFF-9BAE-4501600CAB1A}"/>
              </a:ext>
            </a:extLst>
          </p:cNvPr>
          <p:cNvPicPr>
            <a:picLocks xmlns:a="http://schemas.openxmlformats.org/drawingml/2006/main" noChangeAspect="1"/>
          </p:cNvPicPr>
          <p:nvPr/>
        </p:nvPicPr>
        <p:blipFill>
          <a:blip xmlns:r="http://schemas.openxmlformats.org/officeDocument/2006/relationships" xmlns:a="http://schemas.openxmlformats.org/drawingml/2006/main" r:embed="Rfa774f061d31415e"/>
          <a:stretch xmlns:a="http://schemas.openxmlformats.org/drawingml/2006/main"/>
        </p:blipFill>
        <p:spPr>
          <a:xfrm xmlns:a="http://schemas.openxmlformats.org/drawingml/2006/main">
            <a:off x="4973003" y="1666875"/>
            <a:ext cx="6103620"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67F5E10-DE5A-4933-A387-EEE1253FA445}"/>
              </a:ext>
            </a:extLst>
          </p:cNvPr>
          <p:cNvSpPr>
            <a:spLocks xmlns:a="http://schemas.openxmlformats.org/drawingml/2006/main" noGrp="1"/>
          </p:cNvSpPr>
          <p:nvPr/>
        </p:nvSpPr>
        <p:spPr>
          <a:xfrm xmlns:a="http://schemas.openxmlformats.org/drawingml/2006/main">
            <a:off x="4552950" y="609600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A5AFC6"/>
                </a:solidFill>
                <a:latin typeface="Arial"/>
                <a:ea typeface="Arial"/>
                <a:cs typeface="Arial"/>
              </a:defRPr>
            </a:defPPr>
            <a:lvl1pPr>
              <a:defRPr sz="975" b="0">
                <a:solidFill>
                  <a:srgbClr val="A5AFC6"/>
                </a:solidFill>
                <a:latin typeface="Arial"/>
                <a:ea typeface="Arial"/>
                <a:cs typeface="Arial"/>
              </a:defRPr>
            </a:lvl1pPr>
            <a:lvl2pPr>
              <a:defRPr sz="975" b="0">
                <a:solidFill>
                  <a:srgbClr val="A5AFC6"/>
                </a:solidFill>
                <a:latin typeface="Arial"/>
                <a:ea typeface="Arial"/>
                <a:cs typeface="Arial"/>
              </a:defRPr>
            </a:lvl2pPr>
            <a:lvl3pPr>
              <a:defRPr sz="975" b="0">
                <a:solidFill>
                  <a:srgbClr val="A5AFC6"/>
                </a:solidFill>
                <a:latin typeface="Arial"/>
                <a:ea typeface="Arial"/>
                <a:cs typeface="Arial"/>
              </a:defRPr>
            </a:lvl3pPr>
            <a:lvl4pPr>
              <a:defRPr sz="975" b="0">
                <a:solidFill>
                  <a:srgbClr val="A5AFC6"/>
                </a:solidFill>
                <a:latin typeface="Arial"/>
                <a:ea typeface="Arial"/>
                <a:cs typeface="Arial"/>
              </a:defRPr>
            </a:lvl4pPr>
            <a:lvl5pPr>
              <a:defRPr sz="975" b="0">
                <a:solidFill>
                  <a:srgbClr val="A5AFC6"/>
                </a:solidFill>
                <a:latin typeface="Arial"/>
                <a:ea typeface="Arial"/>
                <a:cs typeface="Arial"/>
              </a:defRPr>
            </a:lvl5pPr>
            <a:lvl6pPr>
              <a:defRPr sz="975" b="0">
                <a:solidFill>
                  <a:srgbClr val="A5AFC6"/>
                </a:solidFill>
                <a:latin typeface="Arial"/>
                <a:ea typeface="Arial"/>
                <a:cs typeface="Arial"/>
              </a:defRPr>
            </a:lvl6pPr>
            <a:lvl7pPr>
              <a:defRPr sz="975" b="0">
                <a:solidFill>
                  <a:srgbClr val="A5AFC6"/>
                </a:solidFill>
                <a:latin typeface="Arial"/>
                <a:ea typeface="Arial"/>
                <a:cs typeface="Arial"/>
              </a:defRPr>
            </a:lvl7pPr>
            <a:lvl8pPr>
              <a:defRPr sz="975" b="0">
                <a:solidFill>
                  <a:srgbClr val="A5AFC6"/>
                </a:solidFill>
                <a:latin typeface="Arial"/>
                <a:ea typeface="Arial"/>
                <a:cs typeface="Arial"/>
              </a:defRPr>
            </a:lvl8pPr>
            <a:lvl9pPr>
              <a:defRPr sz="975" b="0">
                <a:solidFill>
                  <a:srgbClr val="A5AFC6"/>
                </a:solidFill>
                <a:latin typeface="Arial"/>
                <a:ea typeface="Arial"/>
                <a:cs typeface="Arial"/>
              </a:defRPr>
            </a:lvl9pPr>
          </a:lstStyle>
          <a:p xmlns:a="http://schemas.openxmlformats.org/drawingml/2006/main">
            <a:pPr>
              <a:defRPr sz="975" b="0">
                <a:solidFill>
                  <a:srgbClr val="A5AFC6"/>
                </a:solidFill>
                <a:latin typeface="Arial"/>
                <a:ea typeface="Arial"/>
                <a:cs typeface="Arial"/>
              </a:defRPr>
            </a:pPr>
            <a:r>
              <a:rPr sz="975" b="0">
                <a:solidFill>
                  <a:srgbClr val="A5AFC6"/>
                </a:solidFill>
                <a:latin typeface="Arial"/>
                <a:ea typeface="Arial"/>
                <a:cs typeface="Arial"/>
              </a:rPr>
              <a:t>Actual application capture · real records and execution</a:t>
            </a:r>
          </a:p>
        </p:txBody>
      </p:sp>
    </p:spTree>
    <p:extLst>
      <p:ext uri="{BB962C8B-B14F-4D97-AF65-F5344CB8AC3E}">
        <p14:creationId xmlns:p14="http://schemas.microsoft.com/office/powerpoint/2010/main" val="1010524774"/>
      </p:ext>
    </p:extLst>
  </p:cSld>
</p:sld>
</file>

<file path=ppt/slides/slide17.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6CE3CF-9C9A-41F7-8740-7BE8F6EDD443}"/>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9B32CD67-9BEF-48CD-BC89-4C11A5103833}"/>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Hosted limits are visible</a:t>
            </a:r>
          </a:p>
        </p:txBody>
      </p:sp>
      <p:sp>
        <p:nvSpPr>
          <p:cNvPr id="3" name="">
            <a:extLst xmlns:a="http://schemas.openxmlformats.org/drawingml/2006/main">
              <a:ext uri="{FF2B5EF4-FFF2-40B4-BE49-F238E27FC236}">
                <a16:creationId xmlns:a16="http://schemas.microsoft.com/office/drawing/2014/main" id="{7E720896-FCAF-4D95-9E89-13233472CD81}"/>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C45CBB7-38DE-4192-B65D-3EEC486C0DC6}"/>
              </a:ext>
            </a:extLst>
          </p:cNvPr>
          <p:cNvSpPr>
            <a:spLocks xmlns:a="http://schemas.openxmlformats.org/drawingml/2006/main" noGrp="1"/>
          </p:cNvSpPr>
          <p:nvPr/>
        </p:nvSpPr>
        <p:spPr>
          <a:xfrm xmlns:a="http://schemas.openxmlformats.org/drawingml/2006/main">
            <a:off x="685800" y="1952625"/>
            <a:ext cx="5048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A5AFC6"/>
                </a:solidFill>
                <a:latin typeface="Arial"/>
                <a:ea typeface="Arial"/>
                <a:cs typeface="Arial"/>
              </a:defRPr>
            </a:defPPr>
            <a:lvl1pPr>
              <a:defRPr sz="2550" b="0">
                <a:solidFill>
                  <a:srgbClr val="A5AFC6"/>
                </a:solidFill>
                <a:latin typeface="Arial"/>
                <a:ea typeface="Arial"/>
                <a:cs typeface="Arial"/>
              </a:defRPr>
            </a:lvl1pPr>
            <a:lvl2pPr>
              <a:defRPr sz="2550" b="0">
                <a:solidFill>
                  <a:srgbClr val="A5AFC6"/>
                </a:solidFill>
                <a:latin typeface="Arial"/>
                <a:ea typeface="Arial"/>
                <a:cs typeface="Arial"/>
              </a:defRPr>
            </a:lvl2pPr>
            <a:lvl3pPr>
              <a:defRPr sz="2550" b="0">
                <a:solidFill>
                  <a:srgbClr val="A5AFC6"/>
                </a:solidFill>
                <a:latin typeface="Arial"/>
                <a:ea typeface="Arial"/>
                <a:cs typeface="Arial"/>
              </a:defRPr>
            </a:lvl3pPr>
            <a:lvl4pPr>
              <a:defRPr sz="2550" b="0">
                <a:solidFill>
                  <a:srgbClr val="A5AFC6"/>
                </a:solidFill>
                <a:latin typeface="Arial"/>
                <a:ea typeface="Arial"/>
                <a:cs typeface="Arial"/>
              </a:defRPr>
            </a:lvl4pPr>
            <a:lvl5pPr>
              <a:defRPr sz="2550" b="0">
                <a:solidFill>
                  <a:srgbClr val="A5AFC6"/>
                </a:solidFill>
                <a:latin typeface="Arial"/>
                <a:ea typeface="Arial"/>
                <a:cs typeface="Arial"/>
              </a:defRPr>
            </a:lvl5pPr>
            <a:lvl6pPr>
              <a:defRPr sz="2550" b="0">
                <a:solidFill>
                  <a:srgbClr val="A5AFC6"/>
                </a:solidFill>
                <a:latin typeface="Arial"/>
                <a:ea typeface="Arial"/>
                <a:cs typeface="Arial"/>
              </a:defRPr>
            </a:lvl6pPr>
            <a:lvl7pPr>
              <a:defRPr sz="2550" b="0">
                <a:solidFill>
                  <a:srgbClr val="A5AFC6"/>
                </a:solidFill>
                <a:latin typeface="Arial"/>
                <a:ea typeface="Arial"/>
                <a:cs typeface="Arial"/>
              </a:defRPr>
            </a:lvl7pPr>
            <a:lvl8pPr>
              <a:defRPr sz="2550" b="0">
                <a:solidFill>
                  <a:srgbClr val="A5AFC6"/>
                </a:solidFill>
                <a:latin typeface="Arial"/>
                <a:ea typeface="Arial"/>
                <a:cs typeface="Arial"/>
              </a:defRPr>
            </a:lvl8pPr>
            <a:lvl9pPr>
              <a:defRPr sz="2550" b="0">
                <a:solidFill>
                  <a:srgbClr val="A5AFC6"/>
                </a:solidFill>
                <a:latin typeface="Arial"/>
                <a:ea typeface="Arial"/>
                <a:cs typeface="Arial"/>
              </a:defRPr>
            </a:lvl9pPr>
          </a:lstStyle>
          <a:p xmlns:a="http://schemas.openxmlformats.org/drawingml/2006/main">
            <a:pPr>
              <a:defRPr sz="2550" b="0">
                <a:solidFill>
                  <a:srgbClr val="A5AFC6"/>
                </a:solidFill>
                <a:latin typeface="Arial"/>
                <a:ea typeface="Arial"/>
                <a:cs typeface="Arial"/>
              </a:defRPr>
            </a:pPr>
            <a:r>
              <a:rPr sz="2550" b="0">
                <a:solidFill>
                  <a:srgbClr val="A5AFC6"/>
                </a:solidFill>
                <a:latin typeface="Arial"/>
                <a:ea typeface="Arial"/>
                <a:cs typeface="Arial"/>
              </a:rPr>
              <a:t>25 workflows</a:t>
            </a:r>
          </a:p>
          <a:p xmlns:a="http://schemas.openxmlformats.org/drawingml/2006/main">
            <a:pPr>
              <a:defRPr sz="2550" b="0">
                <a:solidFill>
                  <a:srgbClr val="A5AFC6"/>
                </a:solidFill>
                <a:latin typeface="Arial"/>
                <a:ea typeface="Arial"/>
                <a:cs typeface="Arial"/>
              </a:defRPr>
            </a:pPr>
            <a:r>
              <a:rPr sz="2550" b="0">
                <a:solidFill>
                  <a:srgbClr val="A5AFC6"/>
                </a:solidFill>
                <a:latin typeface="Arial"/>
                <a:ea typeface="Arial"/>
                <a:cs typeface="Arial"/>
              </a:rPr>
              <a:t>20 versions per workflow</a:t>
            </a:r>
          </a:p>
          <a:p xmlns:a="http://schemas.openxmlformats.org/drawingml/2006/main">
            <a:pPr>
              <a:defRPr sz="2550" b="0">
                <a:solidFill>
                  <a:srgbClr val="A5AFC6"/>
                </a:solidFill>
                <a:latin typeface="Arial"/>
                <a:ea typeface="Arial"/>
                <a:cs typeface="Arial"/>
              </a:defRPr>
            </a:pPr>
            <a:r>
              <a:rPr sz="2550" b="0">
                <a:solidFill>
                  <a:srgbClr val="A5AFC6"/>
                </a:solidFill>
                <a:latin typeface="Arial"/>
                <a:ea typeface="Arial"/>
                <a:cs typeface="Arial"/>
              </a:rPr>
              <a:t>50 execution records</a:t>
            </a:r>
          </a:p>
        </p:txBody>
      </p:sp>
      <p:sp>
        <p:nvSpPr>
          <p:cNvPr id="5" name="">
            <a:extLst xmlns:a="http://schemas.openxmlformats.org/drawingml/2006/main">
              <a:ext uri="{FF2B5EF4-FFF2-40B4-BE49-F238E27FC236}">
                <a16:creationId xmlns:a16="http://schemas.microsoft.com/office/drawing/2014/main" id="{30EFA23E-F12F-4A54-B510-33D40833D180}"/>
              </a:ext>
            </a:extLst>
          </p:cNvPr>
          <p:cNvSpPr>
            <a:spLocks xmlns:a="http://schemas.openxmlformats.org/drawingml/2006/main" noGrp="1"/>
          </p:cNvSpPr>
          <p:nvPr/>
        </p:nvSpPr>
        <p:spPr>
          <a:xfrm xmlns:a="http://schemas.openxmlformats.org/drawingml/2006/main">
            <a:off x="6572250" y="1952625"/>
            <a:ext cx="5048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A5AFC6"/>
                </a:solidFill>
                <a:latin typeface="Arial"/>
                <a:ea typeface="Arial"/>
                <a:cs typeface="Arial"/>
              </a:defRPr>
            </a:defPPr>
            <a:lvl1pPr>
              <a:defRPr sz="2550" b="0">
                <a:solidFill>
                  <a:srgbClr val="A5AFC6"/>
                </a:solidFill>
                <a:latin typeface="Arial"/>
                <a:ea typeface="Arial"/>
                <a:cs typeface="Arial"/>
              </a:defRPr>
            </a:lvl1pPr>
            <a:lvl2pPr>
              <a:defRPr sz="2550" b="0">
                <a:solidFill>
                  <a:srgbClr val="A5AFC6"/>
                </a:solidFill>
                <a:latin typeface="Arial"/>
                <a:ea typeface="Arial"/>
                <a:cs typeface="Arial"/>
              </a:defRPr>
            </a:lvl2pPr>
            <a:lvl3pPr>
              <a:defRPr sz="2550" b="0">
                <a:solidFill>
                  <a:srgbClr val="A5AFC6"/>
                </a:solidFill>
                <a:latin typeface="Arial"/>
                <a:ea typeface="Arial"/>
                <a:cs typeface="Arial"/>
              </a:defRPr>
            </a:lvl3pPr>
            <a:lvl4pPr>
              <a:defRPr sz="2550" b="0">
                <a:solidFill>
                  <a:srgbClr val="A5AFC6"/>
                </a:solidFill>
                <a:latin typeface="Arial"/>
                <a:ea typeface="Arial"/>
                <a:cs typeface="Arial"/>
              </a:defRPr>
            </a:lvl4pPr>
            <a:lvl5pPr>
              <a:defRPr sz="2550" b="0">
                <a:solidFill>
                  <a:srgbClr val="A5AFC6"/>
                </a:solidFill>
                <a:latin typeface="Arial"/>
                <a:ea typeface="Arial"/>
                <a:cs typeface="Arial"/>
              </a:defRPr>
            </a:lvl5pPr>
            <a:lvl6pPr>
              <a:defRPr sz="2550" b="0">
                <a:solidFill>
                  <a:srgbClr val="A5AFC6"/>
                </a:solidFill>
                <a:latin typeface="Arial"/>
                <a:ea typeface="Arial"/>
                <a:cs typeface="Arial"/>
              </a:defRPr>
            </a:lvl6pPr>
            <a:lvl7pPr>
              <a:defRPr sz="2550" b="0">
                <a:solidFill>
                  <a:srgbClr val="A5AFC6"/>
                </a:solidFill>
                <a:latin typeface="Arial"/>
                <a:ea typeface="Arial"/>
                <a:cs typeface="Arial"/>
              </a:defRPr>
            </a:lvl7pPr>
            <a:lvl8pPr>
              <a:defRPr sz="2550" b="0">
                <a:solidFill>
                  <a:srgbClr val="A5AFC6"/>
                </a:solidFill>
                <a:latin typeface="Arial"/>
                <a:ea typeface="Arial"/>
                <a:cs typeface="Arial"/>
              </a:defRPr>
            </a:lvl8pPr>
            <a:lvl9pPr>
              <a:defRPr sz="2550" b="0">
                <a:solidFill>
                  <a:srgbClr val="A5AFC6"/>
                </a:solidFill>
                <a:latin typeface="Arial"/>
                <a:ea typeface="Arial"/>
                <a:cs typeface="Arial"/>
              </a:defRPr>
            </a:lvl9pPr>
          </a:lstStyle>
          <a:p xmlns:a="http://schemas.openxmlformats.org/drawingml/2006/main">
            <a:pPr>
              <a:defRPr sz="2550" b="0">
                <a:solidFill>
                  <a:srgbClr val="A5AFC6"/>
                </a:solidFill>
                <a:latin typeface="Arial"/>
                <a:ea typeface="Arial"/>
                <a:cs typeface="Arial"/>
              </a:defRPr>
            </a:pPr>
            <a:r>
              <a:rPr sz="2550" b="0">
                <a:solidFill>
                  <a:srgbClr val="A5AFC6"/>
                </a:solidFill>
                <a:latin typeface="Arial"/>
                <a:ea typeface="Arial"/>
                <a:cs typeface="Arial"/>
              </a:rPr>
              <a:t>2 active runs</a:t>
            </a:r>
          </a:p>
          <a:p xmlns:a="http://schemas.openxmlformats.org/drawingml/2006/main">
            <a:pPr>
              <a:defRPr sz="2550" b="0">
                <a:solidFill>
                  <a:srgbClr val="A5AFC6"/>
                </a:solidFill>
                <a:latin typeface="Arial"/>
                <a:ea typeface="Arial"/>
                <a:cs typeface="Arial"/>
              </a:defRPr>
            </a:pPr>
            <a:r>
              <a:rPr sz="2550" b="0">
                <a:solidFill>
                  <a:srgbClr val="A5AFC6"/>
                </a:solidFill>
                <a:latin typeface="Arial"/>
                <a:ea typeface="Arial"/>
                <a:cs typeface="Arial"/>
              </a:rPr>
              <a:t>2 MB workspace data</a:t>
            </a:r>
          </a:p>
          <a:p xmlns:a="http://schemas.openxmlformats.org/drawingml/2006/main">
            <a:pPr>
              <a:defRPr sz="2550" b="0">
                <a:solidFill>
                  <a:srgbClr val="A5AFC6"/>
                </a:solidFill>
                <a:latin typeface="Arial"/>
                <a:ea typeface="Arial"/>
                <a:cs typeface="Arial"/>
              </a:defRPr>
            </a:pPr>
            <a:r>
              <a:rPr sz="2550" b="0">
                <a:solidFill>
                  <a:srgbClr val="A5AFC6"/>
                </a:solidFill>
                <a:latin typeface="Arial"/>
                <a:ea typeface="Arial"/>
                <a:cs typeface="Arial"/>
              </a:rPr>
              <a:t>120-second run deadline</a:t>
            </a:r>
          </a:p>
        </p:txBody>
      </p:sp>
      <p:sp>
        <p:nvSpPr>
          <p:cNvPr id="6" name="">
            <a:extLst xmlns:a="http://schemas.openxmlformats.org/drawingml/2006/main">
              <a:ext uri="{FF2B5EF4-FFF2-40B4-BE49-F238E27FC236}">
                <a16:creationId xmlns:a16="http://schemas.microsoft.com/office/drawing/2014/main" id="{EEE3D2B2-B679-4B86-8FF7-99DE735F0DD3}"/>
              </a:ext>
            </a:extLst>
          </p:cNvPr>
          <p:cNvSpPr>
            <a:spLocks xmlns:a="http://schemas.openxmlformats.org/drawingml/2006/main" noGrp="1"/>
          </p:cNvSpPr>
          <p:nvPr/>
        </p:nvSpPr>
        <p:spPr>
          <a:xfrm xmlns:a="http://schemas.openxmlformats.org/drawingml/2006/main">
            <a:off x="685800" y="5286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7D8E8"/>
                </a:solidFill>
                <a:latin typeface="Arial"/>
                <a:ea typeface="Arial"/>
                <a:cs typeface="Arial"/>
              </a:defRPr>
            </a:defPPr>
            <a:lvl1pPr>
              <a:defRPr sz="1800" b="0">
                <a:solidFill>
                  <a:srgbClr val="67D8E8"/>
                </a:solidFill>
                <a:latin typeface="Arial"/>
                <a:ea typeface="Arial"/>
                <a:cs typeface="Arial"/>
              </a:defRPr>
            </a:lvl1pPr>
            <a:lvl2pPr>
              <a:defRPr sz="1800" b="0">
                <a:solidFill>
                  <a:srgbClr val="67D8E8"/>
                </a:solidFill>
                <a:latin typeface="Arial"/>
                <a:ea typeface="Arial"/>
                <a:cs typeface="Arial"/>
              </a:defRPr>
            </a:lvl2pPr>
            <a:lvl3pPr>
              <a:defRPr sz="1800" b="0">
                <a:solidFill>
                  <a:srgbClr val="67D8E8"/>
                </a:solidFill>
                <a:latin typeface="Arial"/>
                <a:ea typeface="Arial"/>
                <a:cs typeface="Arial"/>
              </a:defRPr>
            </a:lvl3pPr>
            <a:lvl4pPr>
              <a:defRPr sz="1800" b="0">
                <a:solidFill>
                  <a:srgbClr val="67D8E8"/>
                </a:solidFill>
                <a:latin typeface="Arial"/>
                <a:ea typeface="Arial"/>
                <a:cs typeface="Arial"/>
              </a:defRPr>
            </a:lvl4pPr>
            <a:lvl5pPr>
              <a:defRPr sz="1800" b="0">
                <a:solidFill>
                  <a:srgbClr val="67D8E8"/>
                </a:solidFill>
                <a:latin typeface="Arial"/>
                <a:ea typeface="Arial"/>
                <a:cs typeface="Arial"/>
              </a:defRPr>
            </a:lvl5pPr>
            <a:lvl6pPr>
              <a:defRPr sz="1800" b="0">
                <a:solidFill>
                  <a:srgbClr val="67D8E8"/>
                </a:solidFill>
                <a:latin typeface="Arial"/>
                <a:ea typeface="Arial"/>
                <a:cs typeface="Arial"/>
              </a:defRPr>
            </a:lvl6pPr>
            <a:lvl7pPr>
              <a:defRPr sz="1800" b="0">
                <a:solidFill>
                  <a:srgbClr val="67D8E8"/>
                </a:solidFill>
                <a:latin typeface="Arial"/>
                <a:ea typeface="Arial"/>
                <a:cs typeface="Arial"/>
              </a:defRPr>
            </a:lvl7pPr>
            <a:lvl8pPr>
              <a:defRPr sz="1800" b="0">
                <a:solidFill>
                  <a:srgbClr val="67D8E8"/>
                </a:solidFill>
                <a:latin typeface="Arial"/>
                <a:ea typeface="Arial"/>
                <a:cs typeface="Arial"/>
              </a:defRPr>
            </a:lvl8pPr>
            <a:lvl9pPr>
              <a:defRPr sz="1800" b="0">
                <a:solidFill>
                  <a:srgbClr val="67D8E8"/>
                </a:solidFill>
                <a:latin typeface="Arial"/>
                <a:ea typeface="Arial"/>
                <a:cs typeface="Arial"/>
              </a:defRPr>
            </a:lvl9pPr>
          </a:lstStyle>
          <a:p xmlns:a="http://schemas.openxmlformats.org/drawingml/2006/main">
            <a:pPr>
              <a:defRPr sz="1800" b="0">
                <a:solidFill>
                  <a:srgbClr val="67D8E8"/>
                </a:solidFill>
                <a:latin typeface="Arial"/>
                <a:ea typeface="Arial"/>
                <a:cs typeface="Arial"/>
              </a:defRPr>
            </a:pPr>
            <a:r>
              <a:rPr sz="1800" b="0">
                <a:solidFill>
                  <a:srgbClr val="67D8E8"/>
                </a:solidFill>
                <a:latin typeface="Arial"/>
                <a:ea typeface="Arial"/>
                <a:cs typeface="Arial"/>
              </a:rPr>
              <a:t>Optional AI credentials and future third-party connectors still require configuration.</a:t>
            </a:r>
          </a:p>
        </p:txBody>
      </p:sp>
    </p:spTree>
    <p:extLst>
      <p:ext uri="{BB962C8B-B14F-4D97-AF65-F5344CB8AC3E}">
        <p14:creationId xmlns:p14="http://schemas.microsoft.com/office/powerpoint/2010/main" val="1555948085"/>
      </p:ext>
    </p:extLst>
  </p:cSld>
</p:sld>
</file>

<file path=ppt/slides/slide18.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C84FE3-6793-41ED-B380-2278AE479E0B}"/>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AFC01DE3-7CC9-4EF0-88BF-D630ADBC60C7}"/>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Run the relational platform locally</a:t>
            </a:r>
          </a:p>
        </p:txBody>
      </p:sp>
      <p:sp>
        <p:nvSpPr>
          <p:cNvPr id="3" name="">
            <a:extLst xmlns:a="http://schemas.openxmlformats.org/drawingml/2006/main">
              <a:ext uri="{FF2B5EF4-FFF2-40B4-BE49-F238E27FC236}">
                <a16:creationId xmlns:a16="http://schemas.microsoft.com/office/drawing/2014/main" id="{FEF07E7B-6C3C-4645-B335-DFF535B14D2C}"/>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179847B8-473A-4BF7-9DC0-2F06EE88AB36}"/>
              </a:ext>
            </a:extLst>
          </p:cNvPr>
          <p:cNvSpPr>
            <a:spLocks xmlns:a="http://schemas.openxmlformats.org/drawingml/2006/main" noGrp="1"/>
          </p:cNvSpPr>
          <p:nvPr/>
        </p:nvSpPr>
        <p:spPr>
          <a:xfrm xmlns:a="http://schemas.openxmlformats.org/drawingml/2006/main">
            <a:off x="666750" y="17907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Install</a:t>
            </a:r>
          </a:p>
        </p:txBody>
      </p:sp>
      <p:sp>
        <p:nvSpPr>
          <p:cNvPr id="5" name="">
            <a:extLst xmlns:a="http://schemas.openxmlformats.org/drawingml/2006/main">
              <a:ext uri="{FF2B5EF4-FFF2-40B4-BE49-F238E27FC236}">
                <a16:creationId xmlns:a16="http://schemas.microsoft.com/office/drawing/2014/main" id="{10968BBD-1380-44B4-A331-4760027F5624}"/>
              </a:ext>
            </a:extLst>
          </p:cNvPr>
          <p:cNvSpPr>
            <a:spLocks xmlns:a="http://schemas.openxmlformats.org/drawingml/2006/main" noGrp="1"/>
          </p:cNvSpPr>
          <p:nvPr/>
        </p:nvSpPr>
        <p:spPr>
          <a:xfrm xmlns:a="http://schemas.openxmlformats.org/drawingml/2006/main">
            <a:off x="666750" y="22002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npm ci  ·  select an installed JDK for JAVA_HOME</a:t>
            </a:r>
          </a:p>
        </p:txBody>
      </p:sp>
      <p:sp>
        <p:nvSpPr>
          <p:cNvPr id="6" name="">
            <a:extLst xmlns:a="http://schemas.openxmlformats.org/drawingml/2006/main">
              <a:ext uri="{FF2B5EF4-FFF2-40B4-BE49-F238E27FC236}">
                <a16:creationId xmlns:a16="http://schemas.microsoft.com/office/drawing/2014/main" id="{03BFDD3F-F116-45F2-B33F-2072A7909251}"/>
              </a:ext>
            </a:extLst>
          </p:cNvPr>
          <p:cNvSpPr>
            <a:spLocks xmlns:a="http://schemas.openxmlformats.org/drawingml/2006/main" noGrp="1"/>
          </p:cNvSpPr>
          <p:nvPr/>
        </p:nvSpPr>
        <p:spPr>
          <a:xfrm xmlns:a="http://schemas.openxmlformats.org/drawingml/2006/main">
            <a:off x="666750" y="32956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Start the API</a:t>
            </a:r>
          </a:p>
        </p:txBody>
      </p:sp>
      <p:sp>
        <p:nvSpPr>
          <p:cNvPr id="7" name="">
            <a:extLst xmlns:a="http://schemas.openxmlformats.org/drawingml/2006/main">
              <a:ext uri="{FF2B5EF4-FFF2-40B4-BE49-F238E27FC236}">
                <a16:creationId xmlns:a16="http://schemas.microsoft.com/office/drawing/2014/main" id="{53BDA512-33F5-4584-881C-FF3E52F1A825}"/>
              </a:ext>
            </a:extLst>
          </p:cNvPr>
          <p:cNvSpPr>
            <a:spLocks xmlns:a="http://schemas.openxmlformats.org/drawingml/2006/main" noGrp="1"/>
          </p:cNvSpPr>
          <p:nvPr/>
        </p:nvSpPr>
        <p:spPr>
          <a:xfrm xmlns:a="http://schemas.openxmlformats.org/drawingml/2006/main">
            <a:off x="666750" y="370522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SERVER_PORT=8181  ·  apps/api/mvnw spring-boot:run</a:t>
            </a:r>
          </a:p>
        </p:txBody>
      </p:sp>
      <p:sp>
        <p:nvSpPr>
          <p:cNvPr id="8" name="">
            <a:extLst xmlns:a="http://schemas.openxmlformats.org/drawingml/2006/main">
              <a:ext uri="{FF2B5EF4-FFF2-40B4-BE49-F238E27FC236}">
                <a16:creationId xmlns:a16="http://schemas.microsoft.com/office/drawing/2014/main" id="{98EE50BA-CB16-4D11-9AC6-7EFEB1E22ACD}"/>
              </a:ext>
            </a:extLst>
          </p:cNvPr>
          <p:cNvSpPr>
            <a:spLocks xmlns:a="http://schemas.openxmlformats.org/drawingml/2006/main" noGrp="1"/>
          </p:cNvSpPr>
          <p:nvPr/>
        </p:nvSpPr>
        <p:spPr>
          <a:xfrm xmlns:a="http://schemas.openxmlformats.org/drawingml/2006/main">
            <a:off x="666750" y="4800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Start the web app</a:t>
            </a:r>
          </a:p>
        </p:txBody>
      </p:sp>
      <p:sp>
        <p:nvSpPr>
          <p:cNvPr id="9" name="">
            <a:extLst xmlns:a="http://schemas.openxmlformats.org/drawingml/2006/main">
              <a:ext uri="{FF2B5EF4-FFF2-40B4-BE49-F238E27FC236}">
                <a16:creationId xmlns:a16="http://schemas.microsoft.com/office/drawing/2014/main" id="{1C169FA1-3D47-43BE-9779-FECFF277B477}"/>
              </a:ext>
            </a:extLst>
          </p:cNvPr>
          <p:cNvSpPr>
            <a:spLocks xmlns:a="http://schemas.openxmlformats.org/drawingml/2006/main" noGrp="1"/>
          </p:cNvSpPr>
          <p:nvPr/>
        </p:nvSpPr>
        <p:spPr>
          <a:xfrm xmlns:a="http://schemas.openxmlformats.org/drawingml/2006/main">
            <a:off x="666750" y="52101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API_ORIGIN=http://127.0.0.1:8181  ·  npm run dev --workspace apps/web -- --port 3210</a:t>
            </a:r>
          </a:p>
        </p:txBody>
      </p:sp>
    </p:spTree>
    <p:extLst>
      <p:ext uri="{BB962C8B-B14F-4D97-AF65-F5344CB8AC3E}">
        <p14:creationId xmlns:p14="http://schemas.microsoft.com/office/powerpoint/2010/main" val="1227797330"/>
      </p:ext>
    </p:extLst>
  </p:cSld>
</p:sld>
</file>

<file path=ppt/slides/slide19.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B710FE-6372-483B-AA23-20568A2126D7}"/>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62DE82CD-F678-4AB6-AAAE-E5B1B5D7D6B6}"/>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Security controls and open work</a:t>
            </a:r>
          </a:p>
        </p:txBody>
      </p:sp>
      <p:sp>
        <p:nvSpPr>
          <p:cNvPr id="3" name="">
            <a:extLst xmlns:a="http://schemas.openxmlformats.org/drawingml/2006/main">
              <a:ext uri="{FF2B5EF4-FFF2-40B4-BE49-F238E27FC236}">
                <a16:creationId xmlns:a16="http://schemas.microsoft.com/office/drawing/2014/main" id="{4754621B-A404-403C-AF4E-95035C047F57}"/>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6C80D1F2-EC2B-4538-8B83-AC6C683F25B2}"/>
              </a:ext>
            </a:extLst>
          </p:cNvPr>
          <p:cNvSpPr>
            <a:spLocks xmlns:a="http://schemas.openxmlformats.org/drawingml/2006/main" noGrp="1"/>
          </p:cNvSpPr>
          <p:nvPr/>
        </p:nvSpPr>
        <p:spPr>
          <a:xfrm xmlns:a="http://schemas.openxmlformats.org/drawingml/2006/main">
            <a:off x="685800" y="1762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78BFA"/>
                </a:solidFill>
                <a:latin typeface="Arial"/>
                <a:ea typeface="Arial"/>
                <a:cs typeface="Arial"/>
              </a:defRPr>
            </a:defPPr>
            <a:lvl1pPr>
              <a:defRPr sz="2025" b="1">
                <a:solidFill>
                  <a:srgbClr val="A78BFA"/>
                </a:solidFill>
                <a:latin typeface="Arial"/>
                <a:ea typeface="Arial"/>
                <a:cs typeface="Arial"/>
              </a:defRPr>
            </a:lvl1pPr>
            <a:lvl2pPr>
              <a:defRPr sz="2025" b="1">
                <a:solidFill>
                  <a:srgbClr val="A78BFA"/>
                </a:solidFill>
                <a:latin typeface="Arial"/>
                <a:ea typeface="Arial"/>
                <a:cs typeface="Arial"/>
              </a:defRPr>
            </a:lvl2pPr>
            <a:lvl3pPr>
              <a:defRPr sz="2025" b="1">
                <a:solidFill>
                  <a:srgbClr val="A78BFA"/>
                </a:solidFill>
                <a:latin typeface="Arial"/>
                <a:ea typeface="Arial"/>
                <a:cs typeface="Arial"/>
              </a:defRPr>
            </a:lvl3pPr>
            <a:lvl4pPr>
              <a:defRPr sz="2025" b="1">
                <a:solidFill>
                  <a:srgbClr val="A78BFA"/>
                </a:solidFill>
                <a:latin typeface="Arial"/>
                <a:ea typeface="Arial"/>
                <a:cs typeface="Arial"/>
              </a:defRPr>
            </a:lvl4pPr>
            <a:lvl5pPr>
              <a:defRPr sz="2025" b="1">
                <a:solidFill>
                  <a:srgbClr val="A78BFA"/>
                </a:solidFill>
                <a:latin typeface="Arial"/>
                <a:ea typeface="Arial"/>
                <a:cs typeface="Arial"/>
              </a:defRPr>
            </a:lvl5pPr>
            <a:lvl6pPr>
              <a:defRPr sz="2025" b="1">
                <a:solidFill>
                  <a:srgbClr val="A78BFA"/>
                </a:solidFill>
                <a:latin typeface="Arial"/>
                <a:ea typeface="Arial"/>
                <a:cs typeface="Arial"/>
              </a:defRPr>
            </a:lvl6pPr>
            <a:lvl7pPr>
              <a:defRPr sz="2025" b="1">
                <a:solidFill>
                  <a:srgbClr val="A78BFA"/>
                </a:solidFill>
                <a:latin typeface="Arial"/>
                <a:ea typeface="Arial"/>
                <a:cs typeface="Arial"/>
              </a:defRPr>
            </a:lvl7pPr>
            <a:lvl8pPr>
              <a:defRPr sz="2025" b="1">
                <a:solidFill>
                  <a:srgbClr val="A78BFA"/>
                </a:solidFill>
                <a:latin typeface="Arial"/>
                <a:ea typeface="Arial"/>
                <a:cs typeface="Arial"/>
              </a:defRPr>
            </a:lvl8pPr>
            <a:lvl9pPr>
              <a:defRPr sz="2025" b="1">
                <a:solidFill>
                  <a:srgbClr val="A78BFA"/>
                </a:solidFill>
                <a:latin typeface="Arial"/>
                <a:ea typeface="Arial"/>
                <a:cs typeface="Arial"/>
              </a:defRPr>
            </a:lvl9pPr>
          </a:lstStyle>
          <a:p xmlns:a="http://schemas.openxmlformats.org/drawingml/2006/main">
            <a:pPr>
              <a:defRPr sz="2025" b="1">
                <a:solidFill>
                  <a:srgbClr val="A78BFA"/>
                </a:solidFill>
                <a:latin typeface="Arial"/>
                <a:ea typeface="Arial"/>
                <a:cs typeface="Arial"/>
              </a:defRPr>
            </a:pPr>
            <a:r>
              <a:rPr sz="2025" b="1">
                <a:solidFill>
                  <a:srgbClr val="A78BFA"/>
                </a:solidFill>
                <a:latin typeface="Arial"/>
                <a:ea typeface="Arial"/>
                <a:cs typeface="Arial"/>
              </a:rPr>
              <a:t>Implemented boundaries</a:t>
            </a:r>
          </a:p>
        </p:txBody>
      </p:sp>
      <p:sp>
        <p:nvSpPr>
          <p:cNvPr id="5" name="">
            <a:extLst xmlns:a="http://schemas.openxmlformats.org/drawingml/2006/main">
              <a:ext uri="{FF2B5EF4-FFF2-40B4-BE49-F238E27FC236}">
                <a16:creationId xmlns:a16="http://schemas.microsoft.com/office/drawing/2014/main" id="{49FD981F-76AE-4488-A6D2-697EF161B2B0}"/>
              </a:ext>
            </a:extLst>
          </p:cNvPr>
          <p:cNvSpPr>
            <a:spLocks xmlns:a="http://schemas.openxmlformats.org/drawingml/2006/main" noGrp="1"/>
          </p:cNvSpPr>
          <p:nvPr/>
        </p:nvSpPr>
        <p:spPr>
          <a:xfrm xmlns:a="http://schemas.openxmlformats.org/drawingml/2006/main">
            <a:off x="685800" y="2381250"/>
            <a:ext cx="5048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5AFC6"/>
                </a:solidFill>
                <a:latin typeface="Arial"/>
                <a:ea typeface="Arial"/>
                <a:cs typeface="Arial"/>
              </a:defRPr>
            </a:defPPr>
            <a:lvl1pPr>
              <a:defRPr sz="1950" b="0">
                <a:solidFill>
                  <a:srgbClr val="A5AFC6"/>
                </a:solidFill>
                <a:latin typeface="Arial"/>
                <a:ea typeface="Arial"/>
                <a:cs typeface="Arial"/>
              </a:defRPr>
            </a:lvl1pPr>
            <a:lvl2pPr>
              <a:defRPr sz="1950" b="0">
                <a:solidFill>
                  <a:srgbClr val="A5AFC6"/>
                </a:solidFill>
                <a:latin typeface="Arial"/>
                <a:ea typeface="Arial"/>
                <a:cs typeface="Arial"/>
              </a:defRPr>
            </a:lvl2pPr>
            <a:lvl3pPr>
              <a:defRPr sz="1950" b="0">
                <a:solidFill>
                  <a:srgbClr val="A5AFC6"/>
                </a:solidFill>
                <a:latin typeface="Arial"/>
                <a:ea typeface="Arial"/>
                <a:cs typeface="Arial"/>
              </a:defRPr>
            </a:lvl3pPr>
            <a:lvl4pPr>
              <a:defRPr sz="1950" b="0">
                <a:solidFill>
                  <a:srgbClr val="A5AFC6"/>
                </a:solidFill>
                <a:latin typeface="Arial"/>
                <a:ea typeface="Arial"/>
                <a:cs typeface="Arial"/>
              </a:defRPr>
            </a:lvl4pPr>
            <a:lvl5pPr>
              <a:defRPr sz="1950" b="0">
                <a:solidFill>
                  <a:srgbClr val="A5AFC6"/>
                </a:solidFill>
                <a:latin typeface="Arial"/>
                <a:ea typeface="Arial"/>
                <a:cs typeface="Arial"/>
              </a:defRPr>
            </a:lvl5pPr>
            <a:lvl6pPr>
              <a:defRPr sz="1950" b="0">
                <a:solidFill>
                  <a:srgbClr val="A5AFC6"/>
                </a:solidFill>
                <a:latin typeface="Arial"/>
                <a:ea typeface="Arial"/>
                <a:cs typeface="Arial"/>
              </a:defRPr>
            </a:lvl6pPr>
            <a:lvl7pPr>
              <a:defRPr sz="1950" b="0">
                <a:solidFill>
                  <a:srgbClr val="A5AFC6"/>
                </a:solidFill>
                <a:latin typeface="Arial"/>
                <a:ea typeface="Arial"/>
                <a:cs typeface="Arial"/>
              </a:defRPr>
            </a:lvl7pPr>
            <a:lvl8pPr>
              <a:defRPr sz="1950" b="0">
                <a:solidFill>
                  <a:srgbClr val="A5AFC6"/>
                </a:solidFill>
                <a:latin typeface="Arial"/>
                <a:ea typeface="Arial"/>
                <a:cs typeface="Arial"/>
              </a:defRPr>
            </a:lvl8pPr>
            <a:lvl9pPr>
              <a:defRPr sz="1950" b="0">
                <a:solidFill>
                  <a:srgbClr val="A5AFC6"/>
                </a:solidFill>
                <a:latin typeface="Arial"/>
                <a:ea typeface="Arial"/>
                <a:cs typeface="Arial"/>
              </a:defRPr>
            </a:lvl9pPr>
          </a:lstStyle>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Authorization and tenant checks</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CSRF and protected sessions</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Request and execution limits</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Immutable publication</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No arbitrary code / unsafe HTTP</a:t>
            </a:r>
          </a:p>
        </p:txBody>
      </p:sp>
      <p:sp>
        <p:nvSpPr>
          <p:cNvPr id="6" name="">
            <a:extLst xmlns:a="http://schemas.openxmlformats.org/drawingml/2006/main">
              <a:ext uri="{FF2B5EF4-FFF2-40B4-BE49-F238E27FC236}">
                <a16:creationId xmlns:a16="http://schemas.microsoft.com/office/drawing/2014/main" id="{18363C69-154F-4ADD-8806-07B8F74A02C3}"/>
              </a:ext>
            </a:extLst>
          </p:cNvPr>
          <p:cNvSpPr>
            <a:spLocks xmlns:a="http://schemas.openxmlformats.org/drawingml/2006/main" noGrp="1"/>
          </p:cNvSpPr>
          <p:nvPr/>
        </p:nvSpPr>
        <p:spPr>
          <a:xfrm xmlns:a="http://schemas.openxmlformats.org/drawingml/2006/main">
            <a:off x="6572250" y="1762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7D8E8"/>
                </a:solidFill>
                <a:latin typeface="Arial"/>
                <a:ea typeface="Arial"/>
                <a:cs typeface="Arial"/>
              </a:defRPr>
            </a:defPPr>
            <a:lvl1pPr>
              <a:defRPr sz="2025" b="1">
                <a:solidFill>
                  <a:srgbClr val="67D8E8"/>
                </a:solidFill>
                <a:latin typeface="Arial"/>
                <a:ea typeface="Arial"/>
                <a:cs typeface="Arial"/>
              </a:defRPr>
            </a:lvl1pPr>
            <a:lvl2pPr>
              <a:defRPr sz="2025" b="1">
                <a:solidFill>
                  <a:srgbClr val="67D8E8"/>
                </a:solidFill>
                <a:latin typeface="Arial"/>
                <a:ea typeface="Arial"/>
                <a:cs typeface="Arial"/>
              </a:defRPr>
            </a:lvl2pPr>
            <a:lvl3pPr>
              <a:defRPr sz="2025" b="1">
                <a:solidFill>
                  <a:srgbClr val="67D8E8"/>
                </a:solidFill>
                <a:latin typeface="Arial"/>
                <a:ea typeface="Arial"/>
                <a:cs typeface="Arial"/>
              </a:defRPr>
            </a:lvl3pPr>
            <a:lvl4pPr>
              <a:defRPr sz="2025" b="1">
                <a:solidFill>
                  <a:srgbClr val="67D8E8"/>
                </a:solidFill>
                <a:latin typeface="Arial"/>
                <a:ea typeface="Arial"/>
                <a:cs typeface="Arial"/>
              </a:defRPr>
            </a:lvl4pPr>
            <a:lvl5pPr>
              <a:defRPr sz="2025" b="1">
                <a:solidFill>
                  <a:srgbClr val="67D8E8"/>
                </a:solidFill>
                <a:latin typeface="Arial"/>
                <a:ea typeface="Arial"/>
                <a:cs typeface="Arial"/>
              </a:defRPr>
            </a:lvl5pPr>
            <a:lvl6pPr>
              <a:defRPr sz="2025" b="1">
                <a:solidFill>
                  <a:srgbClr val="67D8E8"/>
                </a:solidFill>
                <a:latin typeface="Arial"/>
                <a:ea typeface="Arial"/>
                <a:cs typeface="Arial"/>
              </a:defRPr>
            </a:lvl6pPr>
            <a:lvl7pPr>
              <a:defRPr sz="2025" b="1">
                <a:solidFill>
                  <a:srgbClr val="67D8E8"/>
                </a:solidFill>
                <a:latin typeface="Arial"/>
                <a:ea typeface="Arial"/>
                <a:cs typeface="Arial"/>
              </a:defRPr>
            </a:lvl7pPr>
            <a:lvl8pPr>
              <a:defRPr sz="2025" b="1">
                <a:solidFill>
                  <a:srgbClr val="67D8E8"/>
                </a:solidFill>
                <a:latin typeface="Arial"/>
                <a:ea typeface="Arial"/>
                <a:cs typeface="Arial"/>
              </a:defRPr>
            </a:lvl8pPr>
            <a:lvl9pPr>
              <a:defRPr sz="2025" b="1">
                <a:solidFill>
                  <a:srgbClr val="67D8E8"/>
                </a:solidFill>
                <a:latin typeface="Arial"/>
                <a:ea typeface="Arial"/>
                <a:cs typeface="Arial"/>
              </a:defRPr>
            </a:lvl9pPr>
          </a:lstStyle>
          <a:p xmlns:a="http://schemas.openxmlformats.org/drawingml/2006/main">
            <a:pPr>
              <a:defRPr sz="2025" b="1">
                <a:solidFill>
                  <a:srgbClr val="67D8E8"/>
                </a:solidFill>
                <a:latin typeface="Arial"/>
                <a:ea typeface="Arial"/>
                <a:cs typeface="Arial"/>
              </a:defRPr>
            </a:pPr>
            <a:r>
              <a:rPr sz="2025" b="1">
                <a:solidFill>
                  <a:srgbClr val="67D8E8"/>
                </a:solidFill>
                <a:latin typeface="Arial"/>
                <a:ea typeface="Arial"/>
                <a:cs typeface="Arial"/>
              </a:rPr>
              <a:t>Before production use</a:t>
            </a:r>
          </a:p>
        </p:txBody>
      </p:sp>
      <p:sp>
        <p:nvSpPr>
          <p:cNvPr id="7" name="">
            <a:extLst xmlns:a="http://schemas.openxmlformats.org/drawingml/2006/main">
              <a:ext uri="{FF2B5EF4-FFF2-40B4-BE49-F238E27FC236}">
                <a16:creationId xmlns:a16="http://schemas.microsoft.com/office/drawing/2014/main" id="{90A310FE-DDD1-4C76-BEB0-3ED46D42426D}"/>
              </a:ext>
            </a:extLst>
          </p:cNvPr>
          <p:cNvSpPr>
            <a:spLocks xmlns:a="http://schemas.openxmlformats.org/drawingml/2006/main" noGrp="1"/>
          </p:cNvSpPr>
          <p:nvPr/>
        </p:nvSpPr>
        <p:spPr>
          <a:xfrm xmlns:a="http://schemas.openxmlformats.org/drawingml/2006/main">
            <a:off x="6572250" y="2381250"/>
            <a:ext cx="4953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5AFC6"/>
                </a:solidFill>
                <a:latin typeface="Arial"/>
                <a:ea typeface="Arial"/>
                <a:cs typeface="Arial"/>
              </a:defRPr>
            </a:defPPr>
            <a:lvl1pPr>
              <a:defRPr sz="1950" b="0">
                <a:solidFill>
                  <a:srgbClr val="A5AFC6"/>
                </a:solidFill>
                <a:latin typeface="Arial"/>
                <a:ea typeface="Arial"/>
                <a:cs typeface="Arial"/>
              </a:defRPr>
            </a:lvl1pPr>
            <a:lvl2pPr>
              <a:defRPr sz="1950" b="0">
                <a:solidFill>
                  <a:srgbClr val="A5AFC6"/>
                </a:solidFill>
                <a:latin typeface="Arial"/>
                <a:ea typeface="Arial"/>
                <a:cs typeface="Arial"/>
              </a:defRPr>
            </a:lvl2pPr>
            <a:lvl3pPr>
              <a:defRPr sz="1950" b="0">
                <a:solidFill>
                  <a:srgbClr val="A5AFC6"/>
                </a:solidFill>
                <a:latin typeface="Arial"/>
                <a:ea typeface="Arial"/>
                <a:cs typeface="Arial"/>
              </a:defRPr>
            </a:lvl3pPr>
            <a:lvl4pPr>
              <a:defRPr sz="1950" b="0">
                <a:solidFill>
                  <a:srgbClr val="A5AFC6"/>
                </a:solidFill>
                <a:latin typeface="Arial"/>
                <a:ea typeface="Arial"/>
                <a:cs typeface="Arial"/>
              </a:defRPr>
            </a:lvl4pPr>
            <a:lvl5pPr>
              <a:defRPr sz="1950" b="0">
                <a:solidFill>
                  <a:srgbClr val="A5AFC6"/>
                </a:solidFill>
                <a:latin typeface="Arial"/>
                <a:ea typeface="Arial"/>
                <a:cs typeface="Arial"/>
              </a:defRPr>
            </a:lvl5pPr>
            <a:lvl6pPr>
              <a:defRPr sz="1950" b="0">
                <a:solidFill>
                  <a:srgbClr val="A5AFC6"/>
                </a:solidFill>
                <a:latin typeface="Arial"/>
                <a:ea typeface="Arial"/>
                <a:cs typeface="Arial"/>
              </a:defRPr>
            </a:lvl6pPr>
            <a:lvl7pPr>
              <a:defRPr sz="1950" b="0">
                <a:solidFill>
                  <a:srgbClr val="A5AFC6"/>
                </a:solidFill>
                <a:latin typeface="Arial"/>
                <a:ea typeface="Arial"/>
                <a:cs typeface="Arial"/>
              </a:defRPr>
            </a:lvl7pPr>
            <a:lvl8pPr>
              <a:defRPr sz="1950" b="0">
                <a:solidFill>
                  <a:srgbClr val="A5AFC6"/>
                </a:solidFill>
                <a:latin typeface="Arial"/>
                <a:ea typeface="Arial"/>
                <a:cs typeface="Arial"/>
              </a:defRPr>
            </a:lvl8pPr>
            <a:lvl9pPr>
              <a:defRPr sz="1950" b="0">
                <a:solidFill>
                  <a:srgbClr val="A5AFC6"/>
                </a:solidFill>
                <a:latin typeface="Arial"/>
                <a:ea typeface="Arial"/>
                <a:cs typeface="Arial"/>
              </a:defRPr>
            </a:lvl9pPr>
          </a:lstStyle>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Verified organizational identity</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Credential lifecycle and encryption</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Retention and deletion policy</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Backup restore and load evidence</a:t>
            </a:r>
          </a:p>
          <a:p xmlns:a="http://schemas.openxmlformats.org/drawingml/2006/main">
            <a:pPr>
              <a:defRPr sz="1950" b="0">
                <a:solidFill>
                  <a:srgbClr val="A5AFC6"/>
                </a:solidFill>
                <a:latin typeface="Arial"/>
                <a:ea typeface="Arial"/>
                <a:cs typeface="Arial"/>
              </a:defRPr>
            </a:pPr>
            <a:r>
              <a:rPr sz="1950" b="0">
                <a:solidFill>
                  <a:srgbClr val="A5AFC6"/>
                </a:solidFill>
                <a:latin typeface="Arial"/>
                <a:ea typeface="Arial"/>
                <a:cs typeface="Arial"/>
              </a:rPr>
              <a:t>Independent security assessment</a:t>
            </a:r>
          </a:p>
        </p:txBody>
      </p:sp>
    </p:spTree>
    <p:extLst>
      <p:ext uri="{BB962C8B-B14F-4D97-AF65-F5344CB8AC3E}">
        <p14:creationId xmlns:p14="http://schemas.microsoft.com/office/powerpoint/2010/main" val="616670050"/>
      </p:ext>
    </p:extLst>
  </p:cSld>
</p:sld>
</file>

<file path=ppt/slides/slide20.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D9FD05-31F9-4D36-80DE-F055DE1CF165}"/>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8BAC84E6-AA4D-455E-97FD-24D94B9FF8C7}"/>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Scale by measuring the bottleneck</a:t>
            </a:r>
          </a:p>
        </p:txBody>
      </p:sp>
      <p:sp>
        <p:nvSpPr>
          <p:cNvPr id="3" name="">
            <a:extLst xmlns:a="http://schemas.openxmlformats.org/drawingml/2006/main">
              <a:ext uri="{FF2B5EF4-FFF2-40B4-BE49-F238E27FC236}">
                <a16:creationId xmlns:a16="http://schemas.microsoft.com/office/drawing/2014/main" id="{38B92163-15AB-4477-8366-9B477F77BE51}"/>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F7A406B5-B80A-4F92-B80E-35B0ABCD9B73}"/>
              </a:ext>
            </a:extLst>
          </p:cNvPr>
          <p:cNvSpPr>
            <a:spLocks xmlns:a="http://schemas.openxmlformats.org/drawingml/2006/main" noGrp="1"/>
          </p:cNvSpPr>
          <p:nvPr/>
        </p:nvSpPr>
        <p:spPr>
          <a:xfrm xmlns:a="http://schemas.openxmlformats.org/drawingml/2006/main">
            <a:off x="666750" y="17907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Separate API and worker roles</a:t>
            </a:r>
          </a:p>
        </p:txBody>
      </p:sp>
      <p:sp>
        <p:nvSpPr>
          <p:cNvPr id="5" name="">
            <a:extLst xmlns:a="http://schemas.openxmlformats.org/drawingml/2006/main">
              <a:ext uri="{FF2B5EF4-FFF2-40B4-BE49-F238E27FC236}">
                <a16:creationId xmlns:a16="http://schemas.microsoft.com/office/drawing/2014/main" id="{CE06D8C1-2329-4297-B562-9DC5CA1AA689}"/>
              </a:ext>
            </a:extLst>
          </p:cNvPr>
          <p:cNvSpPr>
            <a:spLocks xmlns:a="http://schemas.openxmlformats.org/drawingml/2006/main" noGrp="1"/>
          </p:cNvSpPr>
          <p:nvPr/>
        </p:nvSpPr>
        <p:spPr>
          <a:xfrm xmlns:a="http://schemas.openxmlformats.org/drawingml/2006/main">
            <a:off x="666750" y="22002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Add bounded worker pools and protect noisy tenants.</a:t>
            </a:r>
          </a:p>
        </p:txBody>
      </p:sp>
      <p:sp>
        <p:nvSpPr>
          <p:cNvPr id="6" name="">
            <a:extLst xmlns:a="http://schemas.openxmlformats.org/drawingml/2006/main">
              <a:ext uri="{FF2B5EF4-FFF2-40B4-BE49-F238E27FC236}">
                <a16:creationId xmlns:a16="http://schemas.microsoft.com/office/drawing/2014/main" id="{48257ED5-CB5A-4B9C-BD93-82AC8DA9C51A}"/>
              </a:ext>
            </a:extLst>
          </p:cNvPr>
          <p:cNvSpPr>
            <a:spLocks xmlns:a="http://schemas.openxmlformats.org/drawingml/2006/main" noGrp="1"/>
          </p:cNvSpPr>
          <p:nvPr/>
        </p:nvSpPr>
        <p:spPr>
          <a:xfrm xmlns:a="http://schemas.openxmlformats.org/drawingml/2006/main">
            <a:off x="666750" y="32956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Measure queue age and DB load</a:t>
            </a:r>
          </a:p>
        </p:txBody>
      </p:sp>
      <p:sp>
        <p:nvSpPr>
          <p:cNvPr id="7" name="">
            <a:extLst xmlns:a="http://schemas.openxmlformats.org/drawingml/2006/main">
              <a:ext uri="{FF2B5EF4-FFF2-40B4-BE49-F238E27FC236}">
                <a16:creationId xmlns:a16="http://schemas.microsoft.com/office/drawing/2014/main" id="{D1C11D9B-8AFF-4AF3-BC06-FFFD2FFBACA7}"/>
              </a:ext>
            </a:extLst>
          </p:cNvPr>
          <p:cNvSpPr>
            <a:spLocks xmlns:a="http://schemas.openxmlformats.org/drawingml/2006/main" noGrp="1"/>
          </p:cNvSpPr>
          <p:nvPr/>
        </p:nvSpPr>
        <p:spPr>
          <a:xfrm xmlns:a="http://schemas.openxmlformats.org/drawingml/2006/main">
            <a:off x="666750" y="370522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Report throughput, latency percentiles, errors, hardware and payload size.</a:t>
            </a:r>
          </a:p>
        </p:txBody>
      </p:sp>
      <p:sp>
        <p:nvSpPr>
          <p:cNvPr id="8" name="">
            <a:extLst xmlns:a="http://schemas.openxmlformats.org/drawingml/2006/main">
              <a:ext uri="{FF2B5EF4-FFF2-40B4-BE49-F238E27FC236}">
                <a16:creationId xmlns:a16="http://schemas.microsoft.com/office/drawing/2014/main" id="{D84CA70E-A76B-4BBB-A742-31ED8C7B9CB5}"/>
              </a:ext>
            </a:extLst>
          </p:cNvPr>
          <p:cNvSpPr>
            <a:spLocks xmlns:a="http://schemas.openxmlformats.org/drawingml/2006/main" noGrp="1"/>
          </p:cNvSpPr>
          <p:nvPr/>
        </p:nvSpPr>
        <p:spPr>
          <a:xfrm xmlns:a="http://schemas.openxmlformats.org/drawingml/2006/main">
            <a:off x="666750" y="4800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Prove recovery</a:t>
            </a:r>
          </a:p>
        </p:txBody>
      </p:sp>
      <p:sp>
        <p:nvSpPr>
          <p:cNvPr id="9" name="">
            <a:extLst xmlns:a="http://schemas.openxmlformats.org/drawingml/2006/main">
              <a:ext uri="{FF2B5EF4-FFF2-40B4-BE49-F238E27FC236}">
                <a16:creationId xmlns:a16="http://schemas.microsoft.com/office/drawing/2014/main" id="{7CB3C5A8-6156-4537-9832-8C5D43AA1310}"/>
              </a:ext>
            </a:extLst>
          </p:cNvPr>
          <p:cNvSpPr>
            <a:spLocks xmlns:a="http://schemas.openxmlformats.org/drawingml/2006/main" noGrp="1"/>
          </p:cNvSpPr>
          <p:nvPr/>
        </p:nvSpPr>
        <p:spPr>
          <a:xfrm xmlns:a="http://schemas.openxmlformats.org/drawingml/2006/main">
            <a:off x="666750" y="52101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Kill workers, restore backups, test schema rollout and provider failures.</a:t>
            </a:r>
          </a:p>
        </p:txBody>
      </p:sp>
    </p:spTree>
    <p:extLst>
      <p:ext uri="{BB962C8B-B14F-4D97-AF65-F5344CB8AC3E}">
        <p14:creationId xmlns:p14="http://schemas.microsoft.com/office/powerpoint/2010/main" val="330873596"/>
      </p:ext>
    </p:extLst>
  </p:cSld>
</p:sld>
</file>

<file path=ppt/slides/slide21.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5A0AC2-B1C8-4783-8AE3-BBD1F066CE05}"/>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578F1B64-E8D3-446C-B0EB-955C05723309}"/>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2027 proposals: controlled tools and agents</a:t>
            </a:r>
          </a:p>
        </p:txBody>
      </p:sp>
      <p:sp>
        <p:nvSpPr>
          <p:cNvPr id="3" name="">
            <a:extLst xmlns:a="http://schemas.openxmlformats.org/drawingml/2006/main">
              <a:ext uri="{FF2B5EF4-FFF2-40B4-BE49-F238E27FC236}">
                <a16:creationId xmlns:a16="http://schemas.microsoft.com/office/drawing/2014/main" id="{64FABB9F-EFE3-48B1-B1BA-984F8A404101}"/>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0277A683-653F-4DB4-A40E-9EB4FE19C22D}"/>
              </a:ext>
            </a:extLst>
          </p:cNvPr>
          <p:cNvSpPr>
            <a:spLocks xmlns:a="http://schemas.openxmlformats.org/drawingml/2006/main" noGrp="1"/>
          </p:cNvSpPr>
          <p:nvPr/>
        </p:nvSpPr>
        <p:spPr>
          <a:xfrm xmlns:a="http://schemas.openxmlformats.org/drawingml/2006/main">
            <a:off x="666750" y="17907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Hosted core and connectors</a:t>
            </a:r>
          </a:p>
        </p:txBody>
      </p:sp>
      <p:sp>
        <p:nvSpPr>
          <p:cNvPr id="5" name="">
            <a:extLst xmlns:a="http://schemas.openxmlformats.org/drawingml/2006/main">
              <a:ext uri="{FF2B5EF4-FFF2-40B4-BE49-F238E27FC236}">
                <a16:creationId xmlns:a16="http://schemas.microsoft.com/office/drawing/2014/main" id="{F7F7007E-E21E-40A3-BC2D-CF65D87B922B}"/>
              </a:ext>
            </a:extLst>
          </p:cNvPr>
          <p:cNvSpPr>
            <a:spLocks xmlns:a="http://schemas.openxmlformats.org/drawingml/2006/main" noGrp="1"/>
          </p:cNvSpPr>
          <p:nvPr/>
        </p:nvSpPr>
        <p:spPr>
          <a:xfrm xmlns:a="http://schemas.openxmlformats.org/drawingml/2006/main">
            <a:off x="666750" y="22002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Verified identity, signed events, schedules, safe egress, GitHub and Slack.</a:t>
            </a:r>
          </a:p>
        </p:txBody>
      </p:sp>
      <p:sp>
        <p:nvSpPr>
          <p:cNvPr id="6" name="">
            <a:extLst xmlns:a="http://schemas.openxmlformats.org/drawingml/2006/main">
              <a:ext uri="{FF2B5EF4-FFF2-40B4-BE49-F238E27FC236}">
                <a16:creationId xmlns:a16="http://schemas.microsoft.com/office/drawing/2014/main" id="{73E731B5-786A-4143-8C74-BAD9BC8184E5}"/>
              </a:ext>
            </a:extLst>
          </p:cNvPr>
          <p:cNvSpPr>
            <a:spLocks xmlns:a="http://schemas.openxmlformats.org/drawingml/2006/main" noGrp="1"/>
          </p:cNvSpPr>
          <p:nvPr/>
        </p:nvSpPr>
        <p:spPr>
          <a:xfrm xmlns:a="http://schemas.openxmlformats.org/drawingml/2006/main">
            <a:off x="666750" y="32956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Bounded agents</a:t>
            </a:r>
          </a:p>
        </p:txBody>
      </p:sp>
      <p:sp>
        <p:nvSpPr>
          <p:cNvPr id="7" name="">
            <a:extLst xmlns:a="http://schemas.openxmlformats.org/drawingml/2006/main">
              <a:ext uri="{FF2B5EF4-FFF2-40B4-BE49-F238E27FC236}">
                <a16:creationId xmlns:a16="http://schemas.microsoft.com/office/drawing/2014/main" id="{E0267861-3B7A-4E6B-B015-BD732B2252FD}"/>
              </a:ext>
            </a:extLst>
          </p:cNvPr>
          <p:cNvSpPr>
            <a:spLocks xmlns:a="http://schemas.openxmlformats.org/drawingml/2006/main" noGrp="1"/>
          </p:cNvSpPr>
          <p:nvPr/>
        </p:nvSpPr>
        <p:spPr>
          <a:xfrm xmlns:a="http://schemas.openxmlformats.org/drawingml/2006/main">
            <a:off x="666750" y="370522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Explicit tool scopes, approvals, iteration/time/token budgets, and evaluation datasets.</a:t>
            </a:r>
          </a:p>
        </p:txBody>
      </p:sp>
      <p:sp>
        <p:nvSpPr>
          <p:cNvPr id="8" name="">
            <a:extLst xmlns:a="http://schemas.openxmlformats.org/drawingml/2006/main">
              <a:ext uri="{FF2B5EF4-FFF2-40B4-BE49-F238E27FC236}">
                <a16:creationId xmlns:a16="http://schemas.microsoft.com/office/drawing/2014/main" id="{7AC6B494-39A4-42A4-B0D9-7D910D525CEB}"/>
              </a:ext>
            </a:extLst>
          </p:cNvPr>
          <p:cNvSpPr>
            <a:spLocks xmlns:a="http://schemas.openxmlformats.org/drawingml/2006/main" noGrp="1"/>
          </p:cNvSpPr>
          <p:nvPr/>
        </p:nvSpPr>
        <p:spPr>
          <a:xfrm xmlns:a="http://schemas.openxmlformats.org/drawingml/2006/main">
            <a:off x="666750" y="4800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78BFA"/>
                </a:solidFill>
                <a:latin typeface="Arial"/>
                <a:ea typeface="Arial"/>
                <a:cs typeface="Arial"/>
              </a:defRPr>
            </a:defPPr>
            <a:lvl1pPr>
              <a:defRPr sz="1800" b="1">
                <a:solidFill>
                  <a:srgbClr val="A78BFA"/>
                </a:solidFill>
                <a:latin typeface="Arial"/>
                <a:ea typeface="Arial"/>
                <a:cs typeface="Arial"/>
              </a:defRPr>
            </a:lvl1pPr>
            <a:lvl2pPr>
              <a:defRPr sz="1800" b="1">
                <a:solidFill>
                  <a:srgbClr val="A78BFA"/>
                </a:solidFill>
                <a:latin typeface="Arial"/>
                <a:ea typeface="Arial"/>
                <a:cs typeface="Arial"/>
              </a:defRPr>
            </a:lvl2pPr>
            <a:lvl3pPr>
              <a:defRPr sz="1800" b="1">
                <a:solidFill>
                  <a:srgbClr val="A78BFA"/>
                </a:solidFill>
                <a:latin typeface="Arial"/>
                <a:ea typeface="Arial"/>
                <a:cs typeface="Arial"/>
              </a:defRPr>
            </a:lvl3pPr>
            <a:lvl4pPr>
              <a:defRPr sz="1800" b="1">
                <a:solidFill>
                  <a:srgbClr val="A78BFA"/>
                </a:solidFill>
                <a:latin typeface="Arial"/>
                <a:ea typeface="Arial"/>
                <a:cs typeface="Arial"/>
              </a:defRPr>
            </a:lvl4pPr>
            <a:lvl5pPr>
              <a:defRPr sz="1800" b="1">
                <a:solidFill>
                  <a:srgbClr val="A78BFA"/>
                </a:solidFill>
                <a:latin typeface="Arial"/>
                <a:ea typeface="Arial"/>
                <a:cs typeface="Arial"/>
              </a:defRPr>
            </a:lvl5pPr>
            <a:lvl6pPr>
              <a:defRPr sz="1800" b="1">
                <a:solidFill>
                  <a:srgbClr val="A78BFA"/>
                </a:solidFill>
                <a:latin typeface="Arial"/>
                <a:ea typeface="Arial"/>
                <a:cs typeface="Arial"/>
              </a:defRPr>
            </a:lvl6pPr>
            <a:lvl7pPr>
              <a:defRPr sz="1800" b="1">
                <a:solidFill>
                  <a:srgbClr val="A78BFA"/>
                </a:solidFill>
                <a:latin typeface="Arial"/>
                <a:ea typeface="Arial"/>
                <a:cs typeface="Arial"/>
              </a:defRPr>
            </a:lvl7pPr>
            <a:lvl8pPr>
              <a:defRPr sz="1800" b="1">
                <a:solidFill>
                  <a:srgbClr val="A78BFA"/>
                </a:solidFill>
                <a:latin typeface="Arial"/>
                <a:ea typeface="Arial"/>
                <a:cs typeface="Arial"/>
              </a:defRPr>
            </a:lvl8pPr>
            <a:lvl9pPr>
              <a:defRPr sz="1800" b="1">
                <a:solidFill>
                  <a:srgbClr val="A78BFA"/>
                </a:solidFill>
                <a:latin typeface="Arial"/>
                <a:ea typeface="Arial"/>
                <a:cs typeface="Arial"/>
              </a:defRPr>
            </a:lvl9pPr>
          </a:lstStyle>
          <a:p xmlns:a="http://schemas.openxmlformats.org/drawingml/2006/main">
            <a:pPr>
              <a:defRPr sz="1800" b="1">
                <a:solidFill>
                  <a:srgbClr val="A78BFA"/>
                </a:solidFill>
                <a:latin typeface="Arial"/>
                <a:ea typeface="Arial"/>
                <a:cs typeface="Arial"/>
              </a:defRPr>
            </a:pPr>
            <a:r>
              <a:rPr sz="1800" b="1">
                <a:solidFill>
                  <a:srgbClr val="A78BFA"/>
                </a:solidFill>
                <a:latin typeface="Arial"/>
                <a:ea typeface="Arial"/>
                <a:cs typeface="Arial"/>
              </a:rPr>
              <a:t>Knowledge and governance</a:t>
            </a:r>
          </a:p>
        </p:txBody>
      </p:sp>
      <p:sp>
        <p:nvSpPr>
          <p:cNvPr id="9" name="">
            <a:extLst xmlns:a="http://schemas.openxmlformats.org/drawingml/2006/main">
              <a:ext uri="{FF2B5EF4-FFF2-40B4-BE49-F238E27FC236}">
                <a16:creationId xmlns:a16="http://schemas.microsoft.com/office/drawing/2014/main" id="{BCFA90EC-6249-46A1-B08A-AF715EFC92BE}"/>
              </a:ext>
            </a:extLst>
          </p:cNvPr>
          <p:cNvSpPr>
            <a:spLocks xmlns:a="http://schemas.openxmlformats.org/drawingml/2006/main" noGrp="1"/>
          </p:cNvSpPr>
          <p:nvPr/>
        </p:nvSpPr>
        <p:spPr>
          <a:xfrm xmlns:a="http://schemas.openxmlformats.org/drawingml/2006/main">
            <a:off x="666750" y="52101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5AFC6"/>
                </a:solidFill>
                <a:latin typeface="Arial"/>
                <a:ea typeface="Arial"/>
                <a:cs typeface="Arial"/>
              </a:defRPr>
            </a:defPPr>
            <a:lvl1pPr>
              <a:defRPr sz="1800" b="0">
                <a:solidFill>
                  <a:srgbClr val="A5AFC6"/>
                </a:solidFill>
                <a:latin typeface="Arial"/>
                <a:ea typeface="Arial"/>
                <a:cs typeface="Arial"/>
              </a:defRPr>
            </a:lvl1pPr>
            <a:lvl2pPr>
              <a:defRPr sz="1800" b="0">
                <a:solidFill>
                  <a:srgbClr val="A5AFC6"/>
                </a:solidFill>
                <a:latin typeface="Arial"/>
                <a:ea typeface="Arial"/>
                <a:cs typeface="Arial"/>
              </a:defRPr>
            </a:lvl2pPr>
            <a:lvl3pPr>
              <a:defRPr sz="1800" b="0">
                <a:solidFill>
                  <a:srgbClr val="A5AFC6"/>
                </a:solidFill>
                <a:latin typeface="Arial"/>
                <a:ea typeface="Arial"/>
                <a:cs typeface="Arial"/>
              </a:defRPr>
            </a:lvl3pPr>
            <a:lvl4pPr>
              <a:defRPr sz="1800" b="0">
                <a:solidFill>
                  <a:srgbClr val="A5AFC6"/>
                </a:solidFill>
                <a:latin typeface="Arial"/>
                <a:ea typeface="Arial"/>
                <a:cs typeface="Arial"/>
              </a:defRPr>
            </a:lvl4pPr>
            <a:lvl5pPr>
              <a:defRPr sz="1800" b="0">
                <a:solidFill>
                  <a:srgbClr val="A5AFC6"/>
                </a:solidFill>
                <a:latin typeface="Arial"/>
                <a:ea typeface="Arial"/>
                <a:cs typeface="Arial"/>
              </a:defRPr>
            </a:lvl5pPr>
            <a:lvl6pPr>
              <a:defRPr sz="1800" b="0">
                <a:solidFill>
                  <a:srgbClr val="A5AFC6"/>
                </a:solidFill>
                <a:latin typeface="Arial"/>
                <a:ea typeface="Arial"/>
                <a:cs typeface="Arial"/>
              </a:defRPr>
            </a:lvl6pPr>
            <a:lvl7pPr>
              <a:defRPr sz="1800" b="0">
                <a:solidFill>
                  <a:srgbClr val="A5AFC6"/>
                </a:solidFill>
                <a:latin typeface="Arial"/>
                <a:ea typeface="Arial"/>
                <a:cs typeface="Arial"/>
              </a:defRPr>
            </a:lvl7pPr>
            <a:lvl8pPr>
              <a:defRPr sz="1800" b="0">
                <a:solidFill>
                  <a:srgbClr val="A5AFC6"/>
                </a:solidFill>
                <a:latin typeface="Arial"/>
                <a:ea typeface="Arial"/>
                <a:cs typeface="Arial"/>
              </a:defRPr>
            </a:lvl8pPr>
            <a:lvl9pPr>
              <a:defRPr sz="1800" b="0">
                <a:solidFill>
                  <a:srgbClr val="A5AFC6"/>
                </a:solidFill>
                <a:latin typeface="Arial"/>
                <a:ea typeface="Arial"/>
                <a:cs typeface="Arial"/>
              </a:defRPr>
            </a:lvl9pPr>
          </a:lstStyle>
          <a:p xmlns:a="http://schemas.openxmlformats.org/drawingml/2006/main">
            <a:pPr>
              <a:defRPr sz="1800" b="0">
                <a:solidFill>
                  <a:srgbClr val="A5AFC6"/>
                </a:solidFill>
                <a:latin typeface="Arial"/>
                <a:ea typeface="Arial"/>
                <a:cs typeface="Arial"/>
              </a:defRPr>
            </a:pPr>
            <a:r>
              <a:rPr sz="1800" b="0">
                <a:solidFill>
                  <a:srgbClr val="A5AFC6"/>
                </a:solidFill>
                <a:latin typeface="Arial"/>
                <a:ea typeface="Arial"/>
                <a:cs typeface="Arial"/>
              </a:rPr>
              <a:t>Safe uploads, tenant retrieval, citations, deletion, audit retention, usage and billing.</a:t>
            </a:r>
          </a:p>
        </p:txBody>
      </p:sp>
    </p:spTree>
    <p:extLst>
      <p:ext uri="{BB962C8B-B14F-4D97-AF65-F5344CB8AC3E}">
        <p14:creationId xmlns:p14="http://schemas.microsoft.com/office/powerpoint/2010/main" val="825235468"/>
      </p:ext>
    </p:extLst>
  </p:cSld>
</p:sld>
</file>

<file path=ppt/slides/slide22.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2FF3308-BE12-4FC6-8A87-CA989EE7D5E9}"/>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D79A0237-013B-41C2-8C7D-A55841BCF237}"/>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A short live demonstration</a:t>
            </a:r>
          </a:p>
        </p:txBody>
      </p:sp>
      <p:sp>
        <p:nvSpPr>
          <p:cNvPr id="3" name="">
            <a:extLst xmlns:a="http://schemas.openxmlformats.org/drawingml/2006/main">
              <a:ext uri="{FF2B5EF4-FFF2-40B4-BE49-F238E27FC236}">
                <a16:creationId xmlns:a16="http://schemas.microsoft.com/office/drawing/2014/main" id="{79AD7073-3A31-4DB4-8798-6AC73DEB8E74}"/>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8E87F144-63C2-4D41-9B47-DB40E9D881DF}"/>
              </a:ext>
            </a:extLst>
          </p:cNvPr>
          <p:cNvSpPr>
            <a:spLocks xmlns:a="http://schemas.openxmlformats.org/drawingml/2006/main" noGrp="1"/>
          </p:cNvSpPr>
          <p:nvPr/>
        </p:nvSpPr>
        <p:spPr>
          <a:xfrm xmlns:a="http://schemas.openxmlformats.org/drawingml/2006/main">
            <a:off x="66675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5" name="">
            <a:extLst xmlns:a="http://schemas.openxmlformats.org/drawingml/2006/main">
              <a:ext uri="{FF2B5EF4-FFF2-40B4-BE49-F238E27FC236}">
                <a16:creationId xmlns:a16="http://schemas.microsoft.com/office/drawing/2014/main" id="{CFD0C8E3-9A30-4619-AF52-B922F397B92A}"/>
              </a:ext>
            </a:extLst>
          </p:cNvPr>
          <p:cNvSpPr>
            <a:spLocks xmlns:a="http://schemas.openxmlformats.org/drawingml/2006/main" noGrp="1"/>
          </p:cNvSpPr>
          <p:nvPr/>
        </p:nvSpPr>
        <p:spPr>
          <a:xfrm xmlns:a="http://schemas.openxmlformats.org/drawingml/2006/main">
            <a:off x="80962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Sign in</a:t>
            </a:r>
          </a:p>
        </p:txBody>
      </p:sp>
      <p:sp>
        <p:nvSpPr>
          <p:cNvPr id="6" name="">
            <a:extLst xmlns:a="http://schemas.openxmlformats.org/drawingml/2006/main">
              <a:ext uri="{FF2B5EF4-FFF2-40B4-BE49-F238E27FC236}">
                <a16:creationId xmlns:a16="http://schemas.microsoft.com/office/drawing/2014/main" id="{A70252EF-AEF4-4280-921F-4C8088928A7C}"/>
              </a:ext>
            </a:extLst>
          </p:cNvPr>
          <p:cNvSpPr>
            <a:spLocks xmlns:a="http://schemas.openxmlformats.org/drawingml/2006/main" noGrp="1"/>
          </p:cNvSpPr>
          <p:nvPr/>
        </p:nvSpPr>
        <p:spPr>
          <a:xfrm xmlns:a="http://schemas.openxmlformats.org/drawingml/2006/main">
            <a:off x="80962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demo / demo</a:t>
            </a:r>
          </a:p>
        </p:txBody>
      </p:sp>
      <p:sp>
        <p:nvSpPr>
          <p:cNvPr id="7" name="">
            <a:extLst xmlns:a="http://schemas.openxmlformats.org/drawingml/2006/main">
              <a:ext uri="{FF2B5EF4-FFF2-40B4-BE49-F238E27FC236}">
                <a16:creationId xmlns:a16="http://schemas.microsoft.com/office/drawing/2014/main" id="{E665C751-AFB9-40BA-806A-F1DBC97739C5}"/>
              </a:ext>
            </a:extLst>
          </p:cNvPr>
          <p:cNvSpPr>
            <a:spLocks xmlns:a="http://schemas.openxmlformats.org/drawingml/2006/main" noGrp="1"/>
          </p:cNvSpPr>
          <p:nvPr/>
        </p:nvSpPr>
        <p:spPr>
          <a:xfrm xmlns:a="http://schemas.openxmlformats.org/drawingml/2006/main">
            <a:off x="3143250" y="26003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8" name="">
            <a:extLst xmlns:a="http://schemas.openxmlformats.org/drawingml/2006/main">
              <a:ext uri="{FF2B5EF4-FFF2-40B4-BE49-F238E27FC236}">
                <a16:creationId xmlns:a16="http://schemas.microsoft.com/office/drawing/2014/main" id="{1D7F09F1-51BF-491A-A969-6C74C0EA8687}"/>
              </a:ext>
            </a:extLst>
          </p:cNvPr>
          <p:cNvSpPr>
            <a:spLocks xmlns:a="http://schemas.openxmlformats.org/drawingml/2006/main" noGrp="1"/>
          </p:cNvSpPr>
          <p:nvPr/>
        </p:nvSpPr>
        <p:spPr>
          <a:xfrm xmlns:a="http://schemas.openxmlformats.org/drawingml/2006/main">
            <a:off x="342900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9" name="">
            <a:extLst xmlns:a="http://schemas.openxmlformats.org/drawingml/2006/main">
              <a:ext uri="{FF2B5EF4-FFF2-40B4-BE49-F238E27FC236}">
                <a16:creationId xmlns:a16="http://schemas.microsoft.com/office/drawing/2014/main" id="{D140321A-D608-48FE-8AB6-72830E4A824B}"/>
              </a:ext>
            </a:extLst>
          </p:cNvPr>
          <p:cNvSpPr>
            <a:spLocks xmlns:a="http://schemas.openxmlformats.org/drawingml/2006/main" noGrp="1"/>
          </p:cNvSpPr>
          <p:nvPr/>
        </p:nvSpPr>
        <p:spPr>
          <a:xfrm xmlns:a="http://schemas.openxmlformats.org/drawingml/2006/main">
            <a:off x="357187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Create</a:t>
            </a:r>
          </a:p>
        </p:txBody>
      </p:sp>
      <p:sp>
        <p:nvSpPr>
          <p:cNvPr id="10" name="">
            <a:extLst xmlns:a="http://schemas.openxmlformats.org/drawingml/2006/main">
              <a:ext uri="{FF2B5EF4-FFF2-40B4-BE49-F238E27FC236}">
                <a16:creationId xmlns:a16="http://schemas.microsoft.com/office/drawing/2014/main" id="{862335B4-DD3D-41B4-BAA4-B23A22C68B2E}"/>
              </a:ext>
            </a:extLst>
          </p:cNvPr>
          <p:cNvSpPr>
            <a:spLocks xmlns:a="http://schemas.openxmlformats.org/drawingml/2006/main" noGrp="1"/>
          </p:cNvSpPr>
          <p:nvPr/>
        </p:nvSpPr>
        <p:spPr>
          <a:xfrm xmlns:a="http://schemas.openxmlformats.org/drawingml/2006/main">
            <a:off x="357187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Manual + mapping</a:t>
            </a:r>
          </a:p>
        </p:txBody>
      </p:sp>
      <p:sp>
        <p:nvSpPr>
          <p:cNvPr id="11" name="">
            <a:extLst xmlns:a="http://schemas.openxmlformats.org/drawingml/2006/main">
              <a:ext uri="{FF2B5EF4-FFF2-40B4-BE49-F238E27FC236}">
                <a16:creationId xmlns:a16="http://schemas.microsoft.com/office/drawing/2014/main" id="{87FCF9AA-398D-462F-994A-55528BDD6C1F}"/>
              </a:ext>
            </a:extLst>
          </p:cNvPr>
          <p:cNvSpPr>
            <a:spLocks xmlns:a="http://schemas.openxmlformats.org/drawingml/2006/main" noGrp="1"/>
          </p:cNvSpPr>
          <p:nvPr/>
        </p:nvSpPr>
        <p:spPr>
          <a:xfrm xmlns:a="http://schemas.openxmlformats.org/drawingml/2006/main">
            <a:off x="5905500" y="26003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2" name="">
            <a:extLst xmlns:a="http://schemas.openxmlformats.org/drawingml/2006/main">
              <a:ext uri="{FF2B5EF4-FFF2-40B4-BE49-F238E27FC236}">
                <a16:creationId xmlns:a16="http://schemas.microsoft.com/office/drawing/2014/main" id="{B7B54FD4-A59F-427A-81CB-59D4F915ED73}"/>
              </a:ext>
            </a:extLst>
          </p:cNvPr>
          <p:cNvSpPr>
            <a:spLocks xmlns:a="http://schemas.openxmlformats.org/drawingml/2006/main" noGrp="1"/>
          </p:cNvSpPr>
          <p:nvPr/>
        </p:nvSpPr>
        <p:spPr>
          <a:xfrm xmlns:a="http://schemas.openxmlformats.org/drawingml/2006/main">
            <a:off x="619125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3" name="">
            <a:extLst xmlns:a="http://schemas.openxmlformats.org/drawingml/2006/main">
              <a:ext uri="{FF2B5EF4-FFF2-40B4-BE49-F238E27FC236}">
                <a16:creationId xmlns:a16="http://schemas.microsoft.com/office/drawing/2014/main" id="{30382167-3240-41BE-B3B8-A57DA83FB17D}"/>
              </a:ext>
            </a:extLst>
          </p:cNvPr>
          <p:cNvSpPr>
            <a:spLocks xmlns:a="http://schemas.openxmlformats.org/drawingml/2006/main" noGrp="1"/>
          </p:cNvSpPr>
          <p:nvPr/>
        </p:nvSpPr>
        <p:spPr>
          <a:xfrm xmlns:a="http://schemas.openxmlformats.org/drawingml/2006/main">
            <a:off x="633412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Publish</a:t>
            </a:r>
          </a:p>
        </p:txBody>
      </p:sp>
      <p:sp>
        <p:nvSpPr>
          <p:cNvPr id="14" name="">
            <a:extLst xmlns:a="http://schemas.openxmlformats.org/drawingml/2006/main">
              <a:ext uri="{FF2B5EF4-FFF2-40B4-BE49-F238E27FC236}">
                <a16:creationId xmlns:a16="http://schemas.microsoft.com/office/drawing/2014/main" id="{8207D860-7D54-418D-AB33-BDB8C7B175AB}"/>
              </a:ext>
            </a:extLst>
          </p:cNvPr>
          <p:cNvSpPr>
            <a:spLocks xmlns:a="http://schemas.openxmlformats.org/drawingml/2006/main" noGrp="1"/>
          </p:cNvSpPr>
          <p:nvPr/>
        </p:nvSpPr>
        <p:spPr>
          <a:xfrm xmlns:a="http://schemas.openxmlformats.org/drawingml/2006/main">
            <a:off x="633412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Confirm version 1</a:t>
            </a:r>
          </a:p>
        </p:txBody>
      </p:sp>
      <p:sp>
        <p:nvSpPr>
          <p:cNvPr id="15" name="">
            <a:extLst xmlns:a="http://schemas.openxmlformats.org/drawingml/2006/main">
              <a:ext uri="{FF2B5EF4-FFF2-40B4-BE49-F238E27FC236}">
                <a16:creationId xmlns:a16="http://schemas.microsoft.com/office/drawing/2014/main" id="{C021AC3C-4930-414F-BEC9-311649BB4476}"/>
              </a:ext>
            </a:extLst>
          </p:cNvPr>
          <p:cNvSpPr>
            <a:spLocks xmlns:a="http://schemas.openxmlformats.org/drawingml/2006/main" noGrp="1"/>
          </p:cNvSpPr>
          <p:nvPr/>
        </p:nvSpPr>
        <p:spPr>
          <a:xfrm xmlns:a="http://schemas.openxmlformats.org/drawingml/2006/main">
            <a:off x="8667750" y="2600325"/>
            <a:ext cx="200025" cy="171450"/>
          </a:xfrm>
          <a:prstGeom xmlns:a="http://schemas.openxmlformats.org/drawingml/2006/main" prst="rightArrow">
            <a:avLst/>
          </a:prstGeom>
          <a:solidFill xmlns:a="http://schemas.openxmlformats.org/drawingml/2006/main">
            <a:srgbClr val="A78BFA"/>
          </a:solidFill>
          <a:ln xmlns:a="http://schemas.openxmlformats.org/drawingml/2006/main" w="9525">
            <a:solidFill>
              <a:srgbClr val="2A334A"/>
            </a:solidFill>
          </a:ln>
        </p:spPr>
      </p:sp>
      <p:sp>
        <p:nvSpPr>
          <p:cNvPr id="16" name="">
            <a:extLst xmlns:a="http://schemas.openxmlformats.org/drawingml/2006/main">
              <a:ext uri="{FF2B5EF4-FFF2-40B4-BE49-F238E27FC236}">
                <a16:creationId xmlns:a16="http://schemas.microsoft.com/office/drawing/2014/main" id="{3309F6C3-9322-4D7D-8389-44BEA099804A}"/>
              </a:ext>
            </a:extLst>
          </p:cNvPr>
          <p:cNvSpPr>
            <a:spLocks xmlns:a="http://schemas.openxmlformats.org/drawingml/2006/main" noGrp="1"/>
          </p:cNvSpPr>
          <p:nvPr/>
        </p:nvSpPr>
        <p:spPr>
          <a:xfrm xmlns:a="http://schemas.openxmlformats.org/drawingml/2006/main">
            <a:off x="8953500" y="2190750"/>
            <a:ext cx="2381250" cy="1047750"/>
          </a:xfrm>
          <a:prstGeom xmlns:a="http://schemas.openxmlformats.org/drawingml/2006/main" prst="rect">
            <a:avLst/>
          </a:prstGeom>
          <a:solidFill xmlns:a="http://schemas.openxmlformats.org/drawingml/2006/main">
            <a:srgbClr val="151B2B"/>
          </a:solidFill>
          <a:ln xmlns:a="http://schemas.openxmlformats.org/drawingml/2006/main" w="9525">
            <a:solidFill>
              <a:srgbClr val="2A334A"/>
            </a:solidFill>
          </a:ln>
        </p:spPr>
      </p:sp>
      <p:sp>
        <p:nvSpPr>
          <p:cNvPr id="17" name="">
            <a:extLst xmlns:a="http://schemas.openxmlformats.org/drawingml/2006/main">
              <a:ext uri="{FF2B5EF4-FFF2-40B4-BE49-F238E27FC236}">
                <a16:creationId xmlns:a16="http://schemas.microsoft.com/office/drawing/2014/main" id="{C619836B-053E-40B0-B4A5-FE21C1A3306B}"/>
              </a:ext>
            </a:extLst>
          </p:cNvPr>
          <p:cNvSpPr>
            <a:spLocks xmlns:a="http://schemas.openxmlformats.org/drawingml/2006/main" noGrp="1"/>
          </p:cNvSpPr>
          <p:nvPr/>
        </p:nvSpPr>
        <p:spPr>
          <a:xfrm xmlns:a="http://schemas.openxmlformats.org/drawingml/2006/main">
            <a:off x="9096375" y="23812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8FAFC"/>
                </a:solidFill>
                <a:latin typeface="Arial"/>
                <a:ea typeface="Arial"/>
                <a:cs typeface="Arial"/>
              </a:defRPr>
            </a:defPPr>
            <a:lvl1pPr>
              <a:defRPr sz="1875" b="1">
                <a:solidFill>
                  <a:srgbClr val="F8FAFC"/>
                </a:solidFill>
                <a:latin typeface="Arial"/>
                <a:ea typeface="Arial"/>
                <a:cs typeface="Arial"/>
              </a:defRPr>
            </a:lvl1pPr>
            <a:lvl2pPr>
              <a:defRPr sz="1875" b="1">
                <a:solidFill>
                  <a:srgbClr val="F8FAFC"/>
                </a:solidFill>
                <a:latin typeface="Arial"/>
                <a:ea typeface="Arial"/>
                <a:cs typeface="Arial"/>
              </a:defRPr>
            </a:lvl2pPr>
            <a:lvl3pPr>
              <a:defRPr sz="1875" b="1">
                <a:solidFill>
                  <a:srgbClr val="F8FAFC"/>
                </a:solidFill>
                <a:latin typeface="Arial"/>
                <a:ea typeface="Arial"/>
                <a:cs typeface="Arial"/>
              </a:defRPr>
            </a:lvl3pPr>
            <a:lvl4pPr>
              <a:defRPr sz="1875" b="1">
                <a:solidFill>
                  <a:srgbClr val="F8FAFC"/>
                </a:solidFill>
                <a:latin typeface="Arial"/>
                <a:ea typeface="Arial"/>
                <a:cs typeface="Arial"/>
              </a:defRPr>
            </a:lvl4pPr>
            <a:lvl5pPr>
              <a:defRPr sz="1875" b="1">
                <a:solidFill>
                  <a:srgbClr val="F8FAFC"/>
                </a:solidFill>
                <a:latin typeface="Arial"/>
                <a:ea typeface="Arial"/>
                <a:cs typeface="Arial"/>
              </a:defRPr>
            </a:lvl5pPr>
            <a:lvl6pPr>
              <a:defRPr sz="1875" b="1">
                <a:solidFill>
                  <a:srgbClr val="F8FAFC"/>
                </a:solidFill>
                <a:latin typeface="Arial"/>
                <a:ea typeface="Arial"/>
                <a:cs typeface="Arial"/>
              </a:defRPr>
            </a:lvl6pPr>
            <a:lvl7pPr>
              <a:defRPr sz="1875" b="1">
                <a:solidFill>
                  <a:srgbClr val="F8FAFC"/>
                </a:solidFill>
                <a:latin typeface="Arial"/>
                <a:ea typeface="Arial"/>
                <a:cs typeface="Arial"/>
              </a:defRPr>
            </a:lvl7pPr>
            <a:lvl8pPr>
              <a:defRPr sz="1875" b="1">
                <a:solidFill>
                  <a:srgbClr val="F8FAFC"/>
                </a:solidFill>
                <a:latin typeface="Arial"/>
                <a:ea typeface="Arial"/>
                <a:cs typeface="Arial"/>
              </a:defRPr>
            </a:lvl8pPr>
            <a:lvl9pPr>
              <a:defRPr sz="1875" b="1">
                <a:solidFill>
                  <a:srgbClr val="F8FAFC"/>
                </a:solidFill>
                <a:latin typeface="Arial"/>
                <a:ea typeface="Arial"/>
                <a:cs typeface="Arial"/>
              </a:defRPr>
            </a:lvl9pPr>
          </a:lstStyle>
          <a:p xmlns:a="http://schemas.openxmlformats.org/drawingml/2006/main">
            <a:pPr>
              <a:defRPr sz="1875" b="1">
                <a:solidFill>
                  <a:srgbClr val="F8FAFC"/>
                </a:solidFill>
                <a:latin typeface="Arial"/>
                <a:ea typeface="Arial"/>
                <a:cs typeface="Arial"/>
              </a:defRPr>
            </a:pPr>
            <a:r>
              <a:rPr sz="1875" b="1">
                <a:solidFill>
                  <a:srgbClr val="F8FAFC"/>
                </a:solidFill>
                <a:latin typeface="Arial"/>
                <a:ea typeface="Arial"/>
                <a:cs typeface="Arial"/>
              </a:rPr>
              <a:t>Execute</a:t>
            </a:r>
          </a:p>
        </p:txBody>
      </p:sp>
      <p:sp>
        <p:nvSpPr>
          <p:cNvPr id="18" name="">
            <a:extLst xmlns:a="http://schemas.openxmlformats.org/drawingml/2006/main">
              <a:ext uri="{FF2B5EF4-FFF2-40B4-BE49-F238E27FC236}">
                <a16:creationId xmlns:a16="http://schemas.microsoft.com/office/drawing/2014/main" id="{09CC43FA-76D7-427D-A64B-AC47E873BBA1}"/>
              </a:ext>
            </a:extLst>
          </p:cNvPr>
          <p:cNvSpPr>
            <a:spLocks xmlns:a="http://schemas.openxmlformats.org/drawingml/2006/main" noGrp="1"/>
          </p:cNvSpPr>
          <p:nvPr/>
        </p:nvSpPr>
        <p:spPr>
          <a:xfrm xmlns:a="http://schemas.openxmlformats.org/drawingml/2006/main">
            <a:off x="9096375" y="27908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5AFC6"/>
                </a:solidFill>
                <a:latin typeface="Arial"/>
                <a:ea typeface="Arial"/>
                <a:cs typeface="Arial"/>
              </a:defRPr>
            </a:defPPr>
            <a:lvl1pPr>
              <a:defRPr sz="1125" b="0">
                <a:solidFill>
                  <a:srgbClr val="A5AFC6"/>
                </a:solidFill>
                <a:latin typeface="Arial"/>
                <a:ea typeface="Arial"/>
                <a:cs typeface="Arial"/>
              </a:defRPr>
            </a:lvl1pPr>
            <a:lvl2pPr>
              <a:defRPr sz="1125" b="0">
                <a:solidFill>
                  <a:srgbClr val="A5AFC6"/>
                </a:solidFill>
                <a:latin typeface="Arial"/>
                <a:ea typeface="Arial"/>
                <a:cs typeface="Arial"/>
              </a:defRPr>
            </a:lvl2pPr>
            <a:lvl3pPr>
              <a:defRPr sz="1125" b="0">
                <a:solidFill>
                  <a:srgbClr val="A5AFC6"/>
                </a:solidFill>
                <a:latin typeface="Arial"/>
                <a:ea typeface="Arial"/>
                <a:cs typeface="Arial"/>
              </a:defRPr>
            </a:lvl3pPr>
            <a:lvl4pPr>
              <a:defRPr sz="1125" b="0">
                <a:solidFill>
                  <a:srgbClr val="A5AFC6"/>
                </a:solidFill>
                <a:latin typeface="Arial"/>
                <a:ea typeface="Arial"/>
                <a:cs typeface="Arial"/>
              </a:defRPr>
            </a:lvl4pPr>
            <a:lvl5pPr>
              <a:defRPr sz="1125" b="0">
                <a:solidFill>
                  <a:srgbClr val="A5AFC6"/>
                </a:solidFill>
                <a:latin typeface="Arial"/>
                <a:ea typeface="Arial"/>
                <a:cs typeface="Arial"/>
              </a:defRPr>
            </a:lvl5pPr>
            <a:lvl6pPr>
              <a:defRPr sz="1125" b="0">
                <a:solidFill>
                  <a:srgbClr val="A5AFC6"/>
                </a:solidFill>
                <a:latin typeface="Arial"/>
                <a:ea typeface="Arial"/>
                <a:cs typeface="Arial"/>
              </a:defRPr>
            </a:lvl6pPr>
            <a:lvl7pPr>
              <a:defRPr sz="1125" b="0">
                <a:solidFill>
                  <a:srgbClr val="A5AFC6"/>
                </a:solidFill>
                <a:latin typeface="Arial"/>
                <a:ea typeface="Arial"/>
                <a:cs typeface="Arial"/>
              </a:defRPr>
            </a:lvl7pPr>
            <a:lvl8pPr>
              <a:defRPr sz="1125" b="0">
                <a:solidFill>
                  <a:srgbClr val="A5AFC6"/>
                </a:solidFill>
                <a:latin typeface="Arial"/>
                <a:ea typeface="Arial"/>
                <a:cs typeface="Arial"/>
              </a:defRPr>
            </a:lvl8pPr>
            <a:lvl9pPr>
              <a:defRPr sz="1125" b="0">
                <a:solidFill>
                  <a:srgbClr val="A5AFC6"/>
                </a:solidFill>
                <a:latin typeface="Arial"/>
                <a:ea typeface="Arial"/>
                <a:cs typeface="Arial"/>
              </a:defRPr>
            </a:lvl9pPr>
          </a:lstStyle>
          <a:p xmlns:a="http://schemas.openxmlformats.org/drawingml/2006/main">
            <a:pPr>
              <a:defRPr sz="1125" b="0">
                <a:solidFill>
                  <a:srgbClr val="A5AFC6"/>
                </a:solidFill>
                <a:latin typeface="Arial"/>
                <a:ea typeface="Arial"/>
                <a:cs typeface="Arial"/>
              </a:defRPr>
            </a:pPr>
            <a:r>
              <a:rPr sz="1125" b="0">
                <a:solidFill>
                  <a:srgbClr val="A5AFC6"/>
                </a:solidFill>
                <a:latin typeface="Arial"/>
                <a:ea typeface="Arial"/>
                <a:cs typeface="Arial"/>
              </a:rPr>
              <a:t>Inspect JSON output</a:t>
            </a:r>
          </a:p>
        </p:txBody>
      </p:sp>
      <p:sp>
        <p:nvSpPr>
          <p:cNvPr id="19" name="">
            <a:extLst xmlns:a="http://schemas.openxmlformats.org/drawingml/2006/main">
              <a:ext uri="{FF2B5EF4-FFF2-40B4-BE49-F238E27FC236}">
                <a16:creationId xmlns:a16="http://schemas.microsoft.com/office/drawing/2014/main" id="{54BDC11B-20F8-4FA3-80E1-8F86D7CA8D2F}"/>
              </a:ext>
            </a:extLst>
          </p:cNvPr>
          <p:cNvSpPr>
            <a:spLocks xmlns:a="http://schemas.openxmlformats.org/drawingml/2006/main" noGrp="1"/>
          </p:cNvSpPr>
          <p:nvPr/>
        </p:nvSpPr>
        <p:spPr>
          <a:xfrm xmlns:a="http://schemas.openxmlformats.org/drawingml/2006/main">
            <a:off x="685800" y="4191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A78BFA"/>
                </a:solidFill>
                <a:latin typeface="Arial"/>
                <a:ea typeface="Arial"/>
                <a:cs typeface="Arial"/>
              </a:defRPr>
            </a:defPPr>
            <a:lvl1pPr>
              <a:defRPr sz="2850" b="1">
                <a:solidFill>
                  <a:srgbClr val="A78BFA"/>
                </a:solidFill>
                <a:latin typeface="Arial"/>
                <a:ea typeface="Arial"/>
                <a:cs typeface="Arial"/>
              </a:defRPr>
            </a:lvl1pPr>
            <a:lvl2pPr>
              <a:defRPr sz="2850" b="1">
                <a:solidFill>
                  <a:srgbClr val="A78BFA"/>
                </a:solidFill>
                <a:latin typeface="Arial"/>
                <a:ea typeface="Arial"/>
                <a:cs typeface="Arial"/>
              </a:defRPr>
            </a:lvl2pPr>
            <a:lvl3pPr>
              <a:defRPr sz="2850" b="1">
                <a:solidFill>
                  <a:srgbClr val="A78BFA"/>
                </a:solidFill>
                <a:latin typeface="Arial"/>
                <a:ea typeface="Arial"/>
                <a:cs typeface="Arial"/>
              </a:defRPr>
            </a:lvl3pPr>
            <a:lvl4pPr>
              <a:defRPr sz="2850" b="1">
                <a:solidFill>
                  <a:srgbClr val="A78BFA"/>
                </a:solidFill>
                <a:latin typeface="Arial"/>
                <a:ea typeface="Arial"/>
                <a:cs typeface="Arial"/>
              </a:defRPr>
            </a:lvl4pPr>
            <a:lvl5pPr>
              <a:defRPr sz="2850" b="1">
                <a:solidFill>
                  <a:srgbClr val="A78BFA"/>
                </a:solidFill>
                <a:latin typeface="Arial"/>
                <a:ea typeface="Arial"/>
                <a:cs typeface="Arial"/>
              </a:defRPr>
            </a:lvl5pPr>
            <a:lvl6pPr>
              <a:defRPr sz="2850" b="1">
                <a:solidFill>
                  <a:srgbClr val="A78BFA"/>
                </a:solidFill>
                <a:latin typeface="Arial"/>
                <a:ea typeface="Arial"/>
                <a:cs typeface="Arial"/>
              </a:defRPr>
            </a:lvl6pPr>
            <a:lvl7pPr>
              <a:defRPr sz="2850" b="1">
                <a:solidFill>
                  <a:srgbClr val="A78BFA"/>
                </a:solidFill>
                <a:latin typeface="Arial"/>
                <a:ea typeface="Arial"/>
                <a:cs typeface="Arial"/>
              </a:defRPr>
            </a:lvl7pPr>
            <a:lvl8pPr>
              <a:defRPr sz="2850" b="1">
                <a:solidFill>
                  <a:srgbClr val="A78BFA"/>
                </a:solidFill>
                <a:latin typeface="Arial"/>
                <a:ea typeface="Arial"/>
                <a:cs typeface="Arial"/>
              </a:defRPr>
            </a:lvl8pPr>
            <a:lvl9pPr>
              <a:defRPr sz="2850" b="1">
                <a:solidFill>
                  <a:srgbClr val="A78BFA"/>
                </a:solidFill>
                <a:latin typeface="Arial"/>
                <a:ea typeface="Arial"/>
                <a:cs typeface="Arial"/>
              </a:defRPr>
            </a:lvl9pPr>
          </a:lstStyle>
          <a:p xmlns:a="http://schemas.openxmlformats.org/drawingml/2006/main">
            <a:pPr>
              <a:defRPr sz="2850" b="1">
                <a:solidFill>
                  <a:srgbClr val="A78BFA"/>
                </a:solidFill>
                <a:latin typeface="Arial"/>
                <a:ea typeface="Arial"/>
                <a:cs typeface="Arial"/>
              </a:defRPr>
            </a:pPr>
            <a:r>
              <a:rPr sz="2850" b="1">
                <a:solidFill>
                  <a:srgbClr val="A78BFA"/>
                </a:solidFill>
                <a:latin typeface="Arial"/>
                <a:ea typeface="Arial"/>
                <a:cs typeface="Arial"/>
              </a:rPr>
              <a:t>https://flownova-ai.vercel.app</a:t>
            </a:r>
          </a:p>
        </p:txBody>
      </p:sp>
      <p:sp>
        <p:nvSpPr>
          <p:cNvPr id="20" name="">
            <a:extLst xmlns:a="http://schemas.openxmlformats.org/drawingml/2006/main">
              <a:ext uri="{FF2B5EF4-FFF2-40B4-BE49-F238E27FC236}">
                <a16:creationId xmlns:a16="http://schemas.microsoft.com/office/drawing/2014/main" id="{A7ADD4E2-57EF-4A73-9DDE-8BF98480FD1F}"/>
              </a:ext>
            </a:extLst>
          </p:cNvPr>
          <p:cNvSpPr>
            <a:spLocks xmlns:a="http://schemas.openxmlformats.org/drawingml/2006/main" noGrp="1"/>
          </p:cNvSpPr>
          <p:nvPr/>
        </p:nvSpPr>
        <p:spPr>
          <a:xfrm xmlns:a="http://schemas.openxmlformats.org/drawingml/2006/main">
            <a:off x="685800" y="5191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5AFC6"/>
                </a:solidFill>
                <a:latin typeface="Arial"/>
                <a:ea typeface="Arial"/>
                <a:cs typeface="Arial"/>
              </a:defRPr>
            </a:defPPr>
            <a:lvl1pPr>
              <a:defRPr sz="1725" b="0">
                <a:solidFill>
                  <a:srgbClr val="A5AFC6"/>
                </a:solidFill>
                <a:latin typeface="Arial"/>
                <a:ea typeface="Arial"/>
                <a:cs typeface="Arial"/>
              </a:defRPr>
            </a:lvl1pPr>
            <a:lvl2pPr>
              <a:defRPr sz="1725" b="0">
                <a:solidFill>
                  <a:srgbClr val="A5AFC6"/>
                </a:solidFill>
                <a:latin typeface="Arial"/>
                <a:ea typeface="Arial"/>
                <a:cs typeface="Arial"/>
              </a:defRPr>
            </a:lvl2pPr>
            <a:lvl3pPr>
              <a:defRPr sz="1725" b="0">
                <a:solidFill>
                  <a:srgbClr val="A5AFC6"/>
                </a:solidFill>
                <a:latin typeface="Arial"/>
                <a:ea typeface="Arial"/>
                <a:cs typeface="Arial"/>
              </a:defRPr>
            </a:lvl3pPr>
            <a:lvl4pPr>
              <a:defRPr sz="1725" b="0">
                <a:solidFill>
                  <a:srgbClr val="A5AFC6"/>
                </a:solidFill>
                <a:latin typeface="Arial"/>
                <a:ea typeface="Arial"/>
                <a:cs typeface="Arial"/>
              </a:defRPr>
            </a:lvl4pPr>
            <a:lvl5pPr>
              <a:defRPr sz="1725" b="0">
                <a:solidFill>
                  <a:srgbClr val="A5AFC6"/>
                </a:solidFill>
                <a:latin typeface="Arial"/>
                <a:ea typeface="Arial"/>
                <a:cs typeface="Arial"/>
              </a:defRPr>
            </a:lvl5pPr>
            <a:lvl6pPr>
              <a:defRPr sz="1725" b="0">
                <a:solidFill>
                  <a:srgbClr val="A5AFC6"/>
                </a:solidFill>
                <a:latin typeface="Arial"/>
                <a:ea typeface="Arial"/>
                <a:cs typeface="Arial"/>
              </a:defRPr>
            </a:lvl6pPr>
            <a:lvl7pPr>
              <a:defRPr sz="1725" b="0">
                <a:solidFill>
                  <a:srgbClr val="A5AFC6"/>
                </a:solidFill>
                <a:latin typeface="Arial"/>
                <a:ea typeface="Arial"/>
                <a:cs typeface="Arial"/>
              </a:defRPr>
            </a:lvl7pPr>
            <a:lvl8pPr>
              <a:defRPr sz="1725" b="0">
                <a:solidFill>
                  <a:srgbClr val="A5AFC6"/>
                </a:solidFill>
                <a:latin typeface="Arial"/>
                <a:ea typeface="Arial"/>
                <a:cs typeface="Arial"/>
              </a:defRPr>
            </a:lvl8pPr>
            <a:lvl9pPr>
              <a:defRPr sz="1725" b="0">
                <a:solidFill>
                  <a:srgbClr val="A5AFC6"/>
                </a:solidFill>
                <a:latin typeface="Arial"/>
                <a:ea typeface="Arial"/>
                <a:cs typeface="Arial"/>
              </a:defRPr>
            </a:lvl9pPr>
          </a:lstStyle>
          <a:p xmlns:a="http://schemas.openxmlformats.org/drawingml/2006/main">
            <a:pPr>
              <a:defRPr sz="1725" b="0">
                <a:solidFill>
                  <a:srgbClr val="A5AFC6"/>
                </a:solidFill>
                <a:latin typeface="Arial"/>
                <a:ea typeface="Arial"/>
                <a:cs typeface="Arial"/>
              </a:defRPr>
            </a:pPr>
            <a:r>
              <a:rPr sz="1725" b="0">
                <a:solidFill>
                  <a:srgbClr val="A5AFC6"/>
                </a:solidFill>
                <a:latin typeface="Arial"/>
                <a:ea typeface="Arial"/>
                <a:cs typeface="Arial"/>
              </a:rPr>
              <a:t>The repository contains architecture, startup, security, testing, and deployment references.</a:t>
            </a:r>
          </a:p>
        </p:txBody>
      </p:sp>
    </p:spTree>
    <p:extLst>
      <p:ext uri="{BB962C8B-B14F-4D97-AF65-F5344CB8AC3E}">
        <p14:creationId xmlns:p14="http://schemas.microsoft.com/office/powerpoint/2010/main" val="2009610409"/>
      </p:ext>
    </p:extLst>
  </p:cSld>
</p:sld>
</file>

<file path=ppt/slides/slide23.xml><?xml version="1.0" encoding="utf-8"?>
<p:sld xmlns:p="http://schemas.openxmlformats.org/presentationml/2006/main">
  <p:cSld>
    <p:bg>
      <p:bgPr>
        <a:solidFill xmlns:a="http://schemas.openxmlformats.org/drawingml/2006/main">
          <a:srgbClr val="080B1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E06A9A-4B3E-4AAB-A6A4-14ADEB0C83F0}"/>
              </a:ext>
            </a:extLst>
          </p:cNvPr>
          <p:cNvSpPr>
            <a:spLocks xmlns:a="http://schemas.openxmlformats.org/drawingml/2006/main" noGrp="1"/>
          </p:cNvSpPr>
          <p:nvPr/>
        </p:nvSpPr>
        <p:spPr>
          <a:xfrm xmlns:a="http://schemas.openxmlformats.org/drawingml/2006/main">
            <a:off x="647700" y="400050"/>
            <a:ext cx="323850" cy="38100"/>
          </a:xfrm>
          <a:prstGeom xmlns:a="http://schemas.openxmlformats.org/drawingml/2006/main" prst="rect">
            <a:avLst/>
          </a:prstGeom>
          <a:solidFill xmlns:a="http://schemas.openxmlformats.org/drawingml/2006/main">
            <a:srgbClr val="A78BFA"/>
          </a:solidFill>
          <a:ln xmlns:a="http://schemas.openxmlformats.org/drawingml/2006/main" w="9525">
            <a:solidFill>
              <a:srgbClr val="2A334A"/>
            </a:solidFill>
          </a:ln>
        </p:spPr>
      </p:sp>
      <p:sp>
        <p:nvSpPr>
          <p:cNvPr id="2" name="">
            <a:extLst xmlns:a="http://schemas.openxmlformats.org/drawingml/2006/main">
              <a:ext uri="{FF2B5EF4-FFF2-40B4-BE49-F238E27FC236}">
                <a16:creationId xmlns:a16="http://schemas.microsoft.com/office/drawing/2014/main" id="{93D88358-07B5-4F9A-9507-C4B5DF976E73}"/>
              </a:ext>
            </a:extLst>
          </p:cNvPr>
          <p:cNvSpPr>
            <a:spLocks xmlns:a="http://schemas.openxmlformats.org/drawingml/2006/main" noGrp="1"/>
          </p:cNvSpPr>
          <p:nvPr/>
        </p:nvSpPr>
        <p:spPr>
          <a:xfrm xmlns:a="http://schemas.openxmlformats.org/drawingml/2006/main">
            <a:off x="647700" y="6381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8FAFC"/>
                </a:solidFill>
                <a:latin typeface="Arial"/>
                <a:ea typeface="Arial"/>
                <a:cs typeface="Arial"/>
              </a:defRPr>
            </a:defPPr>
            <a:lvl1pPr>
              <a:defRPr sz="3225" b="1">
                <a:solidFill>
                  <a:srgbClr val="F8FAFC"/>
                </a:solidFill>
                <a:latin typeface="Arial"/>
                <a:ea typeface="Arial"/>
                <a:cs typeface="Arial"/>
              </a:defRPr>
            </a:lvl1pPr>
            <a:lvl2pPr>
              <a:defRPr sz="3225" b="1">
                <a:solidFill>
                  <a:srgbClr val="F8FAFC"/>
                </a:solidFill>
                <a:latin typeface="Arial"/>
                <a:ea typeface="Arial"/>
                <a:cs typeface="Arial"/>
              </a:defRPr>
            </a:lvl2pPr>
            <a:lvl3pPr>
              <a:defRPr sz="3225" b="1">
                <a:solidFill>
                  <a:srgbClr val="F8FAFC"/>
                </a:solidFill>
                <a:latin typeface="Arial"/>
                <a:ea typeface="Arial"/>
                <a:cs typeface="Arial"/>
              </a:defRPr>
            </a:lvl3pPr>
            <a:lvl4pPr>
              <a:defRPr sz="3225" b="1">
                <a:solidFill>
                  <a:srgbClr val="F8FAFC"/>
                </a:solidFill>
                <a:latin typeface="Arial"/>
                <a:ea typeface="Arial"/>
                <a:cs typeface="Arial"/>
              </a:defRPr>
            </a:lvl4pPr>
            <a:lvl5pPr>
              <a:defRPr sz="3225" b="1">
                <a:solidFill>
                  <a:srgbClr val="F8FAFC"/>
                </a:solidFill>
                <a:latin typeface="Arial"/>
                <a:ea typeface="Arial"/>
                <a:cs typeface="Arial"/>
              </a:defRPr>
            </a:lvl5pPr>
            <a:lvl6pPr>
              <a:defRPr sz="3225" b="1">
                <a:solidFill>
                  <a:srgbClr val="F8FAFC"/>
                </a:solidFill>
                <a:latin typeface="Arial"/>
                <a:ea typeface="Arial"/>
                <a:cs typeface="Arial"/>
              </a:defRPr>
            </a:lvl6pPr>
            <a:lvl7pPr>
              <a:defRPr sz="3225" b="1">
                <a:solidFill>
                  <a:srgbClr val="F8FAFC"/>
                </a:solidFill>
                <a:latin typeface="Arial"/>
                <a:ea typeface="Arial"/>
                <a:cs typeface="Arial"/>
              </a:defRPr>
            </a:lvl7pPr>
            <a:lvl8pPr>
              <a:defRPr sz="3225" b="1">
                <a:solidFill>
                  <a:srgbClr val="F8FAFC"/>
                </a:solidFill>
                <a:latin typeface="Arial"/>
                <a:ea typeface="Arial"/>
                <a:cs typeface="Arial"/>
              </a:defRPr>
            </a:lvl8pPr>
            <a:lvl9pPr>
              <a:defRPr sz="3225" b="1">
                <a:solidFill>
                  <a:srgbClr val="F8FAFC"/>
                </a:solidFill>
                <a:latin typeface="Arial"/>
                <a:ea typeface="Arial"/>
                <a:cs typeface="Arial"/>
              </a:defRPr>
            </a:lvl9pPr>
          </a:lstStyle>
          <a:p xmlns:a="http://schemas.openxmlformats.org/drawingml/2006/main">
            <a:pPr>
              <a:defRPr sz="3225" b="1">
                <a:solidFill>
                  <a:srgbClr val="F8FAFC"/>
                </a:solidFill>
                <a:latin typeface="Arial"/>
                <a:ea typeface="Arial"/>
                <a:cs typeface="Arial"/>
              </a:defRPr>
            </a:pPr>
            <a:r>
              <a:rPr sz="3225" b="1">
                <a:solidFill>
                  <a:srgbClr val="F8FAFC"/>
                </a:solidFill>
                <a:latin typeface="Arial"/>
                <a:ea typeface="Arial"/>
                <a:cs typeface="Arial"/>
              </a:rPr>
              <a:t>Source and further reading</a:t>
            </a:r>
          </a:p>
        </p:txBody>
      </p:sp>
      <p:sp>
        <p:nvSpPr>
          <p:cNvPr id="3" name="">
            <a:extLst xmlns:a="http://schemas.openxmlformats.org/drawingml/2006/main">
              <a:ext uri="{FF2B5EF4-FFF2-40B4-BE49-F238E27FC236}">
                <a16:creationId xmlns:a16="http://schemas.microsoft.com/office/drawing/2014/main" id="{39BD6F72-F0D0-45F7-9288-C4586CB03242}"/>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A5AFC6"/>
                </a:solidFill>
                <a:latin typeface="Arial"/>
                <a:ea typeface="Arial"/>
                <a:cs typeface="Arial"/>
              </a:defRPr>
            </a:defPPr>
            <a:lvl1pPr>
              <a:defRPr sz="900" b="0">
                <a:solidFill>
                  <a:srgbClr val="A5AFC6"/>
                </a:solidFill>
                <a:latin typeface="Arial"/>
                <a:ea typeface="Arial"/>
                <a:cs typeface="Arial"/>
              </a:defRPr>
            </a:lvl1pPr>
            <a:lvl2pPr>
              <a:defRPr sz="900" b="0">
                <a:solidFill>
                  <a:srgbClr val="A5AFC6"/>
                </a:solidFill>
                <a:latin typeface="Arial"/>
                <a:ea typeface="Arial"/>
                <a:cs typeface="Arial"/>
              </a:defRPr>
            </a:lvl2pPr>
            <a:lvl3pPr>
              <a:defRPr sz="900" b="0">
                <a:solidFill>
                  <a:srgbClr val="A5AFC6"/>
                </a:solidFill>
                <a:latin typeface="Arial"/>
                <a:ea typeface="Arial"/>
                <a:cs typeface="Arial"/>
              </a:defRPr>
            </a:lvl3pPr>
            <a:lvl4pPr>
              <a:defRPr sz="900" b="0">
                <a:solidFill>
                  <a:srgbClr val="A5AFC6"/>
                </a:solidFill>
                <a:latin typeface="Arial"/>
                <a:ea typeface="Arial"/>
                <a:cs typeface="Arial"/>
              </a:defRPr>
            </a:lvl4pPr>
            <a:lvl5pPr>
              <a:defRPr sz="900" b="0">
                <a:solidFill>
                  <a:srgbClr val="A5AFC6"/>
                </a:solidFill>
                <a:latin typeface="Arial"/>
                <a:ea typeface="Arial"/>
                <a:cs typeface="Arial"/>
              </a:defRPr>
            </a:lvl5pPr>
            <a:lvl6pPr>
              <a:defRPr sz="900" b="0">
                <a:solidFill>
                  <a:srgbClr val="A5AFC6"/>
                </a:solidFill>
                <a:latin typeface="Arial"/>
                <a:ea typeface="Arial"/>
                <a:cs typeface="Arial"/>
              </a:defRPr>
            </a:lvl6pPr>
            <a:lvl7pPr>
              <a:defRPr sz="900" b="0">
                <a:solidFill>
                  <a:srgbClr val="A5AFC6"/>
                </a:solidFill>
                <a:latin typeface="Arial"/>
                <a:ea typeface="Arial"/>
                <a:cs typeface="Arial"/>
              </a:defRPr>
            </a:lvl7pPr>
            <a:lvl8pPr>
              <a:defRPr sz="900" b="0">
                <a:solidFill>
                  <a:srgbClr val="A5AFC6"/>
                </a:solidFill>
                <a:latin typeface="Arial"/>
                <a:ea typeface="Arial"/>
                <a:cs typeface="Arial"/>
              </a:defRPr>
            </a:lvl8pPr>
            <a:lvl9pPr>
              <a:defRPr sz="900" b="0">
                <a:solidFill>
                  <a:srgbClr val="A5AFC6"/>
                </a:solidFill>
                <a:latin typeface="Arial"/>
                <a:ea typeface="Arial"/>
                <a:cs typeface="Arial"/>
              </a:defRPr>
            </a:lvl9pPr>
          </a:lstStyle>
          <a:p xmlns:a="http://schemas.openxmlformats.org/drawingml/2006/main">
            <a:pPr>
              <a:defRPr sz="900" b="0">
                <a:solidFill>
                  <a:srgbClr val="A5AFC6"/>
                </a:solidFill>
                <a:latin typeface="Arial"/>
                <a:ea typeface="Arial"/>
                <a:cs typeface="Arial"/>
              </a:defRPr>
            </a:pPr>
            <a:r>
              <a:rPr sz="900" b="0">
                <a:solidFill>
                  <a:srgbClr val="A5AFC6"/>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3CB6EBD2-3E52-4EE1-B31E-E95AFF483A12}"/>
              </a:ext>
            </a:extLst>
          </p:cNvPr>
          <p:cNvSpPr>
            <a:spLocks xmlns:a="http://schemas.openxmlformats.org/drawingml/2006/main" noGrp="1"/>
          </p:cNvSpPr>
          <p:nvPr/>
        </p:nvSpPr>
        <p:spPr>
          <a:xfrm xmlns:a="http://schemas.openxmlformats.org/drawingml/2006/main">
            <a:off x="685800" y="1905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A78BFA"/>
                </a:solidFill>
                <a:latin typeface="Arial"/>
                <a:ea typeface="Arial"/>
                <a:cs typeface="Arial"/>
              </a:defRPr>
            </a:defPPr>
            <a:lvl1pPr>
              <a:defRPr sz="2550" b="1">
                <a:solidFill>
                  <a:srgbClr val="A78BFA"/>
                </a:solidFill>
                <a:latin typeface="Arial"/>
                <a:ea typeface="Arial"/>
                <a:cs typeface="Arial"/>
              </a:defRPr>
            </a:lvl1pPr>
            <a:lvl2pPr>
              <a:defRPr sz="2550" b="1">
                <a:solidFill>
                  <a:srgbClr val="A78BFA"/>
                </a:solidFill>
                <a:latin typeface="Arial"/>
                <a:ea typeface="Arial"/>
                <a:cs typeface="Arial"/>
              </a:defRPr>
            </a:lvl2pPr>
            <a:lvl3pPr>
              <a:defRPr sz="2550" b="1">
                <a:solidFill>
                  <a:srgbClr val="A78BFA"/>
                </a:solidFill>
                <a:latin typeface="Arial"/>
                <a:ea typeface="Arial"/>
                <a:cs typeface="Arial"/>
              </a:defRPr>
            </a:lvl3pPr>
            <a:lvl4pPr>
              <a:defRPr sz="2550" b="1">
                <a:solidFill>
                  <a:srgbClr val="A78BFA"/>
                </a:solidFill>
                <a:latin typeface="Arial"/>
                <a:ea typeface="Arial"/>
                <a:cs typeface="Arial"/>
              </a:defRPr>
            </a:lvl4pPr>
            <a:lvl5pPr>
              <a:defRPr sz="2550" b="1">
                <a:solidFill>
                  <a:srgbClr val="A78BFA"/>
                </a:solidFill>
                <a:latin typeface="Arial"/>
                <a:ea typeface="Arial"/>
                <a:cs typeface="Arial"/>
              </a:defRPr>
            </a:lvl5pPr>
            <a:lvl6pPr>
              <a:defRPr sz="2550" b="1">
                <a:solidFill>
                  <a:srgbClr val="A78BFA"/>
                </a:solidFill>
                <a:latin typeface="Arial"/>
                <a:ea typeface="Arial"/>
                <a:cs typeface="Arial"/>
              </a:defRPr>
            </a:lvl6pPr>
            <a:lvl7pPr>
              <a:defRPr sz="2550" b="1">
                <a:solidFill>
                  <a:srgbClr val="A78BFA"/>
                </a:solidFill>
                <a:latin typeface="Arial"/>
                <a:ea typeface="Arial"/>
                <a:cs typeface="Arial"/>
              </a:defRPr>
            </a:lvl7pPr>
            <a:lvl8pPr>
              <a:defRPr sz="2550" b="1">
                <a:solidFill>
                  <a:srgbClr val="A78BFA"/>
                </a:solidFill>
                <a:latin typeface="Arial"/>
                <a:ea typeface="Arial"/>
                <a:cs typeface="Arial"/>
              </a:defRPr>
            </a:lvl8pPr>
            <a:lvl9pPr>
              <a:defRPr sz="2550" b="1">
                <a:solidFill>
                  <a:srgbClr val="A78BFA"/>
                </a:solidFill>
                <a:latin typeface="Arial"/>
                <a:ea typeface="Arial"/>
                <a:cs typeface="Arial"/>
              </a:defRPr>
            </a:lvl9pPr>
          </a:lstStyle>
          <a:p xmlns:a="http://schemas.openxmlformats.org/drawingml/2006/main">
            <a:pPr>
              <a:defRPr sz="2550" b="1">
                <a:solidFill>
                  <a:srgbClr val="A78BFA"/>
                </a:solidFill>
                <a:latin typeface="Arial"/>
                <a:ea typeface="Arial"/>
                <a:cs typeface="Arial"/>
              </a:defRPr>
            </a:pPr>
            <a:r>
              <a:rPr sz="2550" b="1">
                <a:solidFill>
                  <a:srgbClr val="A78BFA"/>
                </a:solidFill>
                <a:latin typeface="Arial"/>
                <a:ea typeface="Arial"/>
                <a:cs typeface="Arial"/>
              </a:rPr>
              <a:t>github.com/manikantbindass/FlowNovaAI</a:t>
            </a:r>
          </a:p>
        </p:txBody>
      </p:sp>
      <p:sp>
        <p:nvSpPr>
          <p:cNvPr id="5" name="">
            <a:extLst xmlns:a="http://schemas.openxmlformats.org/drawingml/2006/main">
              <a:ext uri="{FF2B5EF4-FFF2-40B4-BE49-F238E27FC236}">
                <a16:creationId xmlns:a16="http://schemas.microsoft.com/office/drawing/2014/main" id="{36A60FA2-C4E9-42B5-BBFC-D5094110DA8B}"/>
              </a:ext>
            </a:extLst>
          </p:cNvPr>
          <p:cNvSpPr>
            <a:spLocks xmlns:a="http://schemas.openxmlformats.org/drawingml/2006/main" noGrp="1"/>
          </p:cNvSpPr>
          <p:nvPr/>
        </p:nvSpPr>
        <p:spPr>
          <a:xfrm xmlns:a="http://schemas.openxmlformats.org/drawingml/2006/main">
            <a:off x="685800" y="2905125"/>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5AFC6"/>
                </a:solidFill>
                <a:latin typeface="Arial"/>
                <a:ea typeface="Arial"/>
                <a:cs typeface="Arial"/>
              </a:defRPr>
            </a:defPPr>
            <a:lvl1pPr>
              <a:defRPr sz="2100" b="0">
                <a:solidFill>
                  <a:srgbClr val="A5AFC6"/>
                </a:solidFill>
                <a:latin typeface="Arial"/>
                <a:ea typeface="Arial"/>
                <a:cs typeface="Arial"/>
              </a:defRPr>
            </a:lvl1pPr>
            <a:lvl2pPr>
              <a:defRPr sz="2100" b="0">
                <a:solidFill>
                  <a:srgbClr val="A5AFC6"/>
                </a:solidFill>
                <a:latin typeface="Arial"/>
                <a:ea typeface="Arial"/>
                <a:cs typeface="Arial"/>
              </a:defRPr>
            </a:lvl2pPr>
            <a:lvl3pPr>
              <a:defRPr sz="2100" b="0">
                <a:solidFill>
                  <a:srgbClr val="A5AFC6"/>
                </a:solidFill>
                <a:latin typeface="Arial"/>
                <a:ea typeface="Arial"/>
                <a:cs typeface="Arial"/>
              </a:defRPr>
            </a:lvl3pPr>
            <a:lvl4pPr>
              <a:defRPr sz="2100" b="0">
                <a:solidFill>
                  <a:srgbClr val="A5AFC6"/>
                </a:solidFill>
                <a:latin typeface="Arial"/>
                <a:ea typeface="Arial"/>
                <a:cs typeface="Arial"/>
              </a:defRPr>
            </a:lvl4pPr>
            <a:lvl5pPr>
              <a:defRPr sz="2100" b="0">
                <a:solidFill>
                  <a:srgbClr val="A5AFC6"/>
                </a:solidFill>
                <a:latin typeface="Arial"/>
                <a:ea typeface="Arial"/>
                <a:cs typeface="Arial"/>
              </a:defRPr>
            </a:lvl5pPr>
            <a:lvl6pPr>
              <a:defRPr sz="2100" b="0">
                <a:solidFill>
                  <a:srgbClr val="A5AFC6"/>
                </a:solidFill>
                <a:latin typeface="Arial"/>
                <a:ea typeface="Arial"/>
                <a:cs typeface="Arial"/>
              </a:defRPr>
            </a:lvl6pPr>
            <a:lvl7pPr>
              <a:defRPr sz="2100" b="0">
                <a:solidFill>
                  <a:srgbClr val="A5AFC6"/>
                </a:solidFill>
                <a:latin typeface="Arial"/>
                <a:ea typeface="Arial"/>
                <a:cs typeface="Arial"/>
              </a:defRPr>
            </a:lvl7pPr>
            <a:lvl8pPr>
              <a:defRPr sz="2100" b="0">
                <a:solidFill>
                  <a:srgbClr val="A5AFC6"/>
                </a:solidFill>
                <a:latin typeface="Arial"/>
                <a:ea typeface="Arial"/>
                <a:cs typeface="Arial"/>
              </a:defRPr>
            </a:lvl8pPr>
            <a:lvl9pPr>
              <a:defRPr sz="2100" b="0">
                <a:solidFill>
                  <a:srgbClr val="A5AFC6"/>
                </a:solidFill>
                <a:latin typeface="Arial"/>
                <a:ea typeface="Arial"/>
                <a:cs typeface="Arial"/>
              </a:defRPr>
            </a:lvl9pPr>
          </a:lstStyle>
          <a:p xmlns:a="http://schemas.openxmlformats.org/drawingml/2006/main">
            <a:pPr>
              <a:defRPr sz="2100" b="0">
                <a:solidFill>
                  <a:srgbClr val="A5AFC6"/>
                </a:solidFill>
                <a:latin typeface="Arial"/>
                <a:ea typeface="Arial"/>
                <a:cs typeface="Arial"/>
              </a:defRPr>
            </a:pPr>
            <a:r>
              <a:rPr sz="2100" b="0">
                <a:solidFill>
                  <a:srgbClr val="A5AFC6"/>
                </a:solidFill>
                <a:latin typeface="Arial"/>
                <a:ea typeface="Arial"/>
                <a:cs typeface="Arial"/>
              </a:rPr>
              <a:t>architecture.md</a:t>
            </a:r>
          </a:p>
          <a:p xmlns:a="http://schemas.openxmlformats.org/drawingml/2006/main">
            <a:pPr>
              <a:defRPr sz="2100" b="0">
                <a:solidFill>
                  <a:srgbClr val="A5AFC6"/>
                </a:solidFill>
                <a:latin typeface="Arial"/>
                <a:ea typeface="Arial"/>
                <a:cs typeface="Arial"/>
              </a:defRPr>
            </a:pPr>
            <a:r>
              <a:rPr sz="2100" b="0">
                <a:solidFill>
                  <a:srgbClr val="A5AFC6"/>
                </a:solidFill>
                <a:latin typeface="Arial"/>
                <a:ea typeface="Arial"/>
                <a:cs typeface="Arial"/>
              </a:rPr>
              <a:t>docs/DEPLOYMENT.md</a:t>
            </a:r>
          </a:p>
          <a:p xmlns:a="http://schemas.openxmlformats.org/drawingml/2006/main">
            <a:pPr>
              <a:defRPr sz="2100" b="0">
                <a:solidFill>
                  <a:srgbClr val="A5AFC6"/>
                </a:solidFill>
                <a:latin typeface="Arial"/>
                <a:ea typeface="Arial"/>
                <a:cs typeface="Arial"/>
              </a:defRPr>
            </a:pPr>
            <a:r>
              <a:rPr sz="2100" b="0">
                <a:solidFill>
                  <a:srgbClr val="A5AFC6"/>
                </a:solidFill>
                <a:latin typeface="Arial"/>
                <a:ea typeface="Arial"/>
                <a:cs typeface="Arial"/>
              </a:rPr>
              <a:t>docs/SECURITY.md</a:t>
            </a:r>
          </a:p>
          <a:p xmlns:a="http://schemas.openxmlformats.org/drawingml/2006/main">
            <a:pPr>
              <a:defRPr sz="2100" b="0">
                <a:solidFill>
                  <a:srgbClr val="A5AFC6"/>
                </a:solidFill>
                <a:latin typeface="Arial"/>
                <a:ea typeface="Arial"/>
                <a:cs typeface="Arial"/>
              </a:defRPr>
            </a:pPr>
            <a:r>
              <a:rPr sz="2100" b="0">
                <a:solidFill>
                  <a:srgbClr val="A5AFC6"/>
                </a:solidFill>
                <a:latin typeface="Arial"/>
                <a:ea typeface="Arial"/>
                <a:cs typeface="Arial"/>
              </a:rPr>
              <a:t>docs/TESTING.md</a:t>
            </a:r>
          </a:p>
          <a:p xmlns:a="http://schemas.openxmlformats.org/drawingml/2006/main">
            <a:pPr>
              <a:defRPr sz="2100" b="0">
                <a:solidFill>
                  <a:srgbClr val="A5AFC6"/>
                </a:solidFill>
                <a:latin typeface="Arial"/>
                <a:ea typeface="Arial"/>
                <a:cs typeface="Arial"/>
              </a:defRPr>
            </a:pPr>
            <a:r>
              <a:rPr sz="2100" b="0">
                <a:solidFill>
                  <a:srgbClr val="A5AFC6"/>
                </a:solidFill>
                <a:latin typeface="Arial"/>
                <a:ea typeface="Arial"/>
                <a:cs typeface="Arial"/>
              </a:rPr>
              <a:t>docs/ROADMAP_2027.md</a:t>
            </a:r>
          </a:p>
        </p:txBody>
      </p:sp>
      <p:sp>
        <p:nvSpPr>
          <p:cNvPr id="6" name="">
            <a:extLst xmlns:a="http://schemas.openxmlformats.org/drawingml/2006/main">
              <a:ext uri="{FF2B5EF4-FFF2-40B4-BE49-F238E27FC236}">
                <a16:creationId xmlns:a16="http://schemas.microsoft.com/office/drawing/2014/main" id="{5011E7B0-C353-4ACE-A61E-46A3F4708609}"/>
              </a:ext>
            </a:extLst>
          </p:cNvPr>
          <p:cNvSpPr>
            <a:spLocks xmlns:a="http://schemas.openxmlformats.org/drawingml/2006/main" noGrp="1"/>
          </p:cNvSpPr>
          <p:nvPr/>
        </p:nvSpPr>
        <p:spPr>
          <a:xfrm xmlns:a="http://schemas.openxmlformats.org/drawingml/2006/main">
            <a:off x="685800"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8FAFC"/>
                </a:solidFill>
                <a:latin typeface="Arial"/>
                <a:ea typeface="Arial"/>
                <a:cs typeface="Arial"/>
              </a:defRPr>
            </a:defPPr>
            <a:lvl1pPr>
              <a:defRPr sz="2025" b="1">
                <a:solidFill>
                  <a:srgbClr val="F8FAFC"/>
                </a:solidFill>
                <a:latin typeface="Arial"/>
                <a:ea typeface="Arial"/>
                <a:cs typeface="Arial"/>
              </a:defRPr>
            </a:lvl1pPr>
            <a:lvl2pPr>
              <a:defRPr sz="2025" b="1">
                <a:solidFill>
                  <a:srgbClr val="F8FAFC"/>
                </a:solidFill>
                <a:latin typeface="Arial"/>
                <a:ea typeface="Arial"/>
                <a:cs typeface="Arial"/>
              </a:defRPr>
            </a:lvl2pPr>
            <a:lvl3pPr>
              <a:defRPr sz="2025" b="1">
                <a:solidFill>
                  <a:srgbClr val="F8FAFC"/>
                </a:solidFill>
                <a:latin typeface="Arial"/>
                <a:ea typeface="Arial"/>
                <a:cs typeface="Arial"/>
              </a:defRPr>
            </a:lvl3pPr>
            <a:lvl4pPr>
              <a:defRPr sz="2025" b="1">
                <a:solidFill>
                  <a:srgbClr val="F8FAFC"/>
                </a:solidFill>
                <a:latin typeface="Arial"/>
                <a:ea typeface="Arial"/>
                <a:cs typeface="Arial"/>
              </a:defRPr>
            </a:lvl4pPr>
            <a:lvl5pPr>
              <a:defRPr sz="2025" b="1">
                <a:solidFill>
                  <a:srgbClr val="F8FAFC"/>
                </a:solidFill>
                <a:latin typeface="Arial"/>
                <a:ea typeface="Arial"/>
                <a:cs typeface="Arial"/>
              </a:defRPr>
            </a:lvl5pPr>
            <a:lvl6pPr>
              <a:defRPr sz="2025" b="1">
                <a:solidFill>
                  <a:srgbClr val="F8FAFC"/>
                </a:solidFill>
                <a:latin typeface="Arial"/>
                <a:ea typeface="Arial"/>
                <a:cs typeface="Arial"/>
              </a:defRPr>
            </a:lvl6pPr>
            <a:lvl7pPr>
              <a:defRPr sz="2025" b="1">
                <a:solidFill>
                  <a:srgbClr val="F8FAFC"/>
                </a:solidFill>
                <a:latin typeface="Arial"/>
                <a:ea typeface="Arial"/>
                <a:cs typeface="Arial"/>
              </a:defRPr>
            </a:lvl7pPr>
            <a:lvl8pPr>
              <a:defRPr sz="2025" b="1">
                <a:solidFill>
                  <a:srgbClr val="F8FAFC"/>
                </a:solidFill>
                <a:latin typeface="Arial"/>
                <a:ea typeface="Arial"/>
                <a:cs typeface="Arial"/>
              </a:defRPr>
            </a:lvl8pPr>
            <a:lvl9pPr>
              <a:defRPr sz="2025" b="1">
                <a:solidFill>
                  <a:srgbClr val="F8FAFC"/>
                </a:solidFill>
                <a:latin typeface="Arial"/>
                <a:ea typeface="Arial"/>
                <a:cs typeface="Arial"/>
              </a:defRPr>
            </a:lvl9pPr>
          </a:lstStyle>
          <a:p xmlns:a="http://schemas.openxmlformats.org/drawingml/2006/main">
            <a:pPr>
              <a:defRPr sz="2025" b="1">
                <a:solidFill>
                  <a:srgbClr val="F8FAFC"/>
                </a:solidFill>
                <a:latin typeface="Arial"/>
                <a:ea typeface="Arial"/>
                <a:cs typeface="Arial"/>
              </a:defRPr>
            </a:pPr>
            <a:r>
              <a:rPr sz="2025" b="1">
                <a:solidFill>
                  <a:srgbClr val="F8FAFC"/>
                </a:solidFill>
                <a:latin typeface="Arial"/>
                <a:ea typeface="Arial"/>
                <a:cs typeface="Arial"/>
              </a:rPr>
              <a:t>Build something that gives you time back.</a:t>
            </a:r>
          </a:p>
        </p:txBody>
      </p:sp>
    </p:spTree>
    <p:extLst>
      <p:ext uri="{BB962C8B-B14F-4D97-AF65-F5344CB8AC3E}">
        <p14:creationId xmlns:p14="http://schemas.microsoft.com/office/powerpoint/2010/main" val="13352642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2026-10-26T16:35:06.7260000Z</dcterms:created>
  <dcterms:modified xsi:type="dcterms:W3CDTF">2026-10-26T16:35:06.7260000Z</dcterms:modified>
</coreProperties>
</file>